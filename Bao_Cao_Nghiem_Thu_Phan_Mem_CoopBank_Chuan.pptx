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8"/>
    <p:sldId id="257" r:id="rId9"/>
    <p:sldId id="258" r:id="rId10"/>
    <p:sldId id="259" r:id="rId7"/>
    <p:sldId id="260" r:id="rId6"/>
    <p:sldId id="261" r:id="rId5"/>
    <p:sldId id="262" r:id="rId4"/>
    <p:sldId id="263" r:id="rId3"/>
    <p:sldId id="264" r:id="rId2"/>
    <p:sldId id="265" r:id="rId17"/>
    <p:sldId id="266" r:id="rId1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1525" initials="u" lastIdx="1" clrIdx="0">
    <p:extLst>
      <p:ext uri="{19B8F6BF-5375-455C-9EA6-DF929625EA0E}">
        <p15:presenceInfo xmlns:p15="http://schemas.microsoft.com/office/powerpoint/2012/main" userId="user152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7" autoAdjust="0"/>
    <p:restoredTop sz="98042" autoAdjust="0"/>
  </p:normalViewPr>
  <p:slideViewPr>
    <p:cSldViewPr snapToGrid="0">
      <p:cViewPr varScale="1">
        <p:scale>
          <a:sx n="110" d="100"/>
          <a:sy n="110" d="100"/>
        </p:scale>
        <p:origin x="75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6D743-E041-4C41-B35E-46E2D90914EE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EC74B-7235-4A46-A772-B0E6D9BBF7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64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BF2C-C3B4-4AA3-A101-70FFC20EA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0DADB-A969-49B5-9EC4-6E36AD767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5B4F2-CB1D-4FAD-B817-3F992218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20D9-DB3B-4880-87FF-99540937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0AF18-D542-44AF-B627-C1A195E7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379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7675A-28D7-468F-91E3-65AE7697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86B08-2001-4F82-BEF4-797614D2D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6C11C-0A7B-4045-87F7-0AC7F54E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8874-39E6-4AC0-94D7-70DC470AE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E9277-7BD6-4C37-B268-3D55155A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7974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2D67-14D4-4C1A-9F6A-C206DD1E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269A0-C3E0-4B2E-81B9-7E1B7B845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646B6-930E-426B-ADE9-60F7EAA7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086B0-68C0-449B-B9D7-0BBC3400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85D9A-F4E1-41ED-99D0-99A2D7F5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227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8FA1E-8434-475D-BD06-65406D46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DF063-E725-4AEA-96A6-7D9ACF84A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3B0C1-4988-456D-855B-106A209A0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BF1C3-15C3-4F21-B8DA-8CC1450E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71B7F-84F0-433A-9309-8CDCA396F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B5C69-75F2-4C23-A796-0266F1DC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60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89EC-6106-4958-B6A2-635BCF18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3C7B6-F668-4CCA-B1E4-334A0768C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9215E-90F8-41B9-955E-FE3624BC0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0A84A-ED63-48EE-A6BC-074797AC3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9EE87C-F37A-4A99-A8DE-B488AEE8C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5F835-2FBC-4A5C-8B01-D5B2B749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2AD349-FCEF-42F5-A06B-A77C368B5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11077-73BC-48B3-AE12-24041C3A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472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BEBD7-BA29-4895-A130-D04E91E7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2033E-0EB3-4DAE-80F5-D8779E64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7CA50-0920-4F63-8261-528CF139F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F6BF6-3977-4BA3-922B-1E32EFA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220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9E6A6-F076-4DA5-B215-F63AA4AD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DF5E2-EB9D-4C57-9E85-24E3B751D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68AE8-1D5A-4A1C-97A2-2AD75B0E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703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717E-8D7F-47EC-BEC6-937994DC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9A69F-52D8-446C-80F7-706EC9754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B5EF0-39F7-4798-B071-92ABBAFBB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3EEA8-8C23-4C7C-B9FF-9F77FC1C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7A7F2-4364-4C46-8569-BC401832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82292-515F-4608-81BE-EF62BCFD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51372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F812-8A2C-41DE-B4E7-F84C55C9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09DC4-3371-4A6D-A847-6CB920B1A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40FCA-083F-4310-ACDE-33DE16965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9F2CC-82DD-4E94-94F4-2B222BB77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ED6BF-F9EA-40CF-8413-0BE99D06A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4D675-B95D-4381-B5EA-BD637A90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9918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904B-DBD9-4F63-9B2A-15DCDACB6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31872-4FF4-4271-92F0-2FB2C869B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8A35A-FB48-4B9A-B626-9B66DF925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023BE-AB37-4073-AAEF-210EB7B7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A1214-CF49-40F6-960F-7EBC6CD2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4142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909B9-8AF9-4A0D-927B-DA67A7A5F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9AD71-1ED2-482F-BD3D-392020234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9661-4BDE-4F7B-97F6-BDA7569A5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95798-3E73-41C3-832C-1F64A14E4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A87D8-32F5-4452-A7C7-6FC35A7B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77716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1175A4-1D7A-4A66-B4ED-6648EA01C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75C40-AECD-4874-9624-C076A5AF7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3F31F-E757-458B-95F9-8F09C9F23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4346F-9B76-48AE-982F-961D1CF17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47CDC-8D88-418A-9044-1AE147EE1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198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77B"/>
                </a:solidFill>
                <a:latin typeface="Segoe UI"/>
              </a:defRPr>
            </a:pPr>
            <a:r>
              <a:t>BÁO CÁO NGHIỆM THU &amp; TRIỂN KHAI</a:t>
            </a:r>
            <a:br/>
            <a:r>
              <a:t>PHẦN MỀM QUẢN LÝ DỰ ÁN &amp; HỢP ĐỒNG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11B22"/>
                </a:solidFill>
                <a:latin typeface="Segoe UI"/>
              </a:defRPr>
            </a:pPr>
            <a:r>
              <a:t>TRUNG TÂM CÔNG NGHỆ THÔNG TIN</a:t>
            </a:r>
          </a:p>
          <a:p>
            <a:pPr algn="ctr">
              <a:defRPr sz="1500" b="1">
                <a:solidFill>
                  <a:srgbClr val="00377B"/>
                </a:solidFill>
                <a:latin typeface="Segoe UI"/>
              </a:defRPr>
            </a:pPr>
            <a:r>
              <a:t>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Segoe UI"/>
              </a:defRPr>
            </a:pPr>
            <a:r>
              <a:t>MỤC TIÊU &amp; ĐỊNH HƯỚNG TRIỂN KHAI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14884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77B"/>
                </a:solidFill>
                <a:latin typeface="Segoe UI"/>
              </a:defRPr>
            </a:pPr>
            <a:r>
              <a:t>01 — TẬP TRUNG HÓA DỮ LIỆU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Quản lý 100% Dự án, Gói thầu, Hợp đồng và Đối tác trên 1 hệ thống duy nhất, loại bỏ phân mảnh.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214884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55448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77B"/>
                </a:solidFill>
                <a:latin typeface="Segoe UI"/>
              </a:defRPr>
            </a:pPr>
            <a:r>
              <a:t>02 — KIỂM SOÁT DÒNG TIỀN VỐN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Giám sát tiến độ giải ngân theo đa nguồn vốn (Vốn ĐL, Quỹ ĐTPT, Chi phí), ngăn ngừa vượt dự toán.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40"/>
            <a:ext cx="5257800" cy="214884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77B"/>
                </a:solidFill>
                <a:latin typeface="Segoe UI"/>
              </a:defRPr>
            </a:pPr>
            <a:r>
              <a:t>03 — CẢNH BÁO HẠN TỰ ĐỘNG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Tự động nhắc hạn trước 30-60-90 ngày các hợp đồng và license bản quyền phần mềm.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49040"/>
            <a:ext cx="5257800" cy="214884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93192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77B"/>
                </a:solidFill>
                <a:latin typeface="Segoe UI"/>
              </a:defRPr>
            </a:pPr>
            <a:r>
              <a:t>04 — TỰ ĐỘNG HÓA BÁO CÁO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Xuất tức thì các biểu mẫu báo cáo thanh toán và biểu mẫu NHNN chỉ với 1 click, tiết kiệm 95% thời gian.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Segoe UI"/>
              </a:defRPr>
            </a:pPr>
            <a:r>
              <a:t>TỔNG QUAN HỆ THỐNG &amp; LUỒNG NGHIỆP VỤ XUYÊN SUỐT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84831" cy="475488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084831" cy="5943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01 — Quản lý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8653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Khởi tạo danh mục dự án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Phân bổ kế hoạch vốn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Lưu trữ quyết định phê duyệt dự toán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371600"/>
            <a:ext cx="2084831" cy="475488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07792" y="1371600"/>
            <a:ext cx="2084831" cy="5943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02 — Quản lý gói thầu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03120"/>
            <a:ext cx="18653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Lập kế hoạch mua sắm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Theo dõi quy trình lựa chọn nhà thầu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Quyết định phê duyệt KQLCNT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371600"/>
            <a:ext cx="2084831" cy="475488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4064" y="1371600"/>
            <a:ext cx="2084831" cy="5943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03 — Quản lý hợp đồng &amp; đối tác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2103120"/>
            <a:ext cx="18653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Ký kết hợp đồng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Quản lý phụ lục, nhà thầu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Quản lý License &amp; Cảnh báo hạn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371600"/>
            <a:ext cx="2084831" cy="475488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0336" y="1371600"/>
            <a:ext cx="2084831" cy="5943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04 — Giải ngân &amp; thanh toán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4" y="2103120"/>
            <a:ext cx="18653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Theo dõi tạm ứng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Thanh toán từng đợt theo nghiệm thu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Quyết toán đóng hợp đồng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371600"/>
            <a:ext cx="2084831" cy="475488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36608" y="1371600"/>
            <a:ext cx="2084831" cy="5943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05 — Báo cáo &amp; điều hành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336" y="2103120"/>
            <a:ext cx="18653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Tự động trích xuất báo cáo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Báo cáo tiến độ thanh toán &amp; TTCNTT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Xuất file Excel tức thì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Segoe UI"/>
              </a:defRPr>
            </a:pPr>
            <a:r>
              <a:t>PHÂN HỆ QUẢN LÝ DỰ 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858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0377B"/>
                </a:solidFill>
                <a:latin typeface="Segoe UI"/>
              </a:defRPr>
            </a:pPr>
            <a:r>
              <a:t>✔ Quản lý dự án trọng điểm (3 nhóm dự án):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   • Hạ tầng CNTT: Máy chủ, lưu trữ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   • An ninh bảo mật: Firewall, SOC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• Phần mềm nghiệp vụ: CoreBanking, E-Banking...</a:t>
            </a:r>
          </a:p>
          <a:p>
            <a:pPr>
              <a:spcAft>
                <a:spcPts val="200"/>
              </a:spcAft>
              <a:defRPr sz="1150" b="1">
                <a:solidFill>
                  <a:srgbClr val="00377B"/>
                </a:solidFill>
                <a:latin typeface="Segoe UI"/>
              </a:defRPr>
            </a:pPr>
            <a:r>
              <a:t>✔ Kiểm soát đa nguồn vốn: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• Vốn điều lệ &amp; Quỹ DTBS, Quỹ đầu tư phát triển, Chi phí hoạt động</a:t>
            </a:r>
          </a:p>
          <a:p>
            <a:pPr>
              <a:spcAft>
                <a:spcPts val="200"/>
              </a:spcAft>
              <a:defRPr sz="1150" b="1">
                <a:solidFill>
                  <a:srgbClr val="00377B"/>
                </a:solidFill>
                <a:latin typeface="Segoe UI"/>
              </a:defRPr>
            </a:pPr>
            <a:r>
              <a:t>✔ Quản lý quyết định pháp lý: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• Chủ trương đầu tư, Dự toán và Tổng mức đầu tư được duyệt</a:t>
            </a:r>
          </a:p>
          <a:p>
            <a:pPr>
              <a:spcAft>
                <a:spcPts val="200"/>
              </a:spcAft>
              <a:defRPr sz="1150" b="1">
                <a:solidFill>
                  <a:srgbClr val="00377B"/>
                </a:solidFill>
                <a:latin typeface="Segoe UI"/>
              </a:defRPr>
            </a:pPr>
            <a:r>
              <a:t>✔ Giám sát trạng thái dự án: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• Chuẩn bị đầu tư → Đang mời thầu → Đang thực hiện HĐ → Đã quyết toán hoàn thành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657600" cy="146304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087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77B"/>
                </a:solidFill>
                <a:latin typeface="Segoe UI"/>
              </a:defRPr>
            </a:pPr>
            <a:r>
              <a:t>PHÂN LOẠI ĐA NGUỒN VỐN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Theo dõi và kiểm soát chi phí theo từng nguồn vốn ngân sách.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971800"/>
            <a:ext cx="3657600" cy="146304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3108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77B"/>
                </a:solidFill>
                <a:latin typeface="Segoe UI"/>
              </a:defRPr>
            </a:pPr>
            <a:r>
              <a:t>LƯU VẾT QUYẾT ĐỊNH DỰ TOÁN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Quản lý và lưu trữ đầy đủ các quyết định phê duyệt dự toán.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572000"/>
            <a:ext cx="3657600" cy="146304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47091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77B"/>
                </a:solidFill>
                <a:latin typeface="Segoe UI"/>
              </a:defRPr>
            </a:pPr>
            <a:r>
              <a:t>LIÊN KẾT DỮ LIỆU XUYÊN SUỐT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Kết nối thông tin dự án, hợp đồng, thanh toán và quyết toán.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Segoe UI"/>
              </a:defRPr>
            </a:pPr>
            <a:r>
              <a:t>PHÂN HỆ QUẢN LÝ GÓI THẦU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5943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 — Kế hoạch &amp; Mời thầu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Thông tin gói thầu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Hình thức đấu thầu: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  - Rộng rãi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  - Chỉ định thầu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  - Chào hàng cạnh tranh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Giá gói thầu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Quyết định phê duyệt kế hoạch LCNT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74720" cy="475488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70832" y="1371600"/>
            <a:ext cx="3474720" cy="5943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 — Phê duyệt KQLCNT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Quyết định phê duyệt KQLCNT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Đơn vị trúng thầu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Giá trúng thầu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Mức độ tiết kiệm sau đấu thầu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Liên kết trực tiếp tới hợp đồng ký kết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74720" cy="475488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10144" y="1371600"/>
            <a:ext cx="3474720" cy="5943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 — Tiến độ công việc &amp; Phối hợp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4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Chia nhỏ gói thầu thành các hạng mục công việc (WBS)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Giao việc cho chuyên viên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Trao đổi, thảo luận trực tiếp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Đính kèm hồ sơ, biên bản xử lý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Segoe UI"/>
              </a:defRPr>
            </a:pPr>
            <a:r>
              <a:t>PHÂN HỆ QUẢN LÝ HỢP ĐỒNG &amp; ĐỐI TÁC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377B"/>
                </a:solidFill>
                <a:latin typeface="Segoe UI"/>
              </a:defRPr>
            </a:pPr>
            <a:r>
              <a:t>KHỐI 1 — HỒ SƠ HỢP ĐỒNG &amp; ĐỐI TÁC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✔ Thông tin hợp đồng: Số HĐ, Ngày ký, Ngày hiệu lực, Thời gian thực hiện, Giá trị hợp đồng.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✔ Phụ lục hợp đồng: Gia hạn thời gian, Phạm vi công việc, Điều chỉnh giá trị.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✔ Đối tác / Nhà thầu: Mã số thuế, Địa chỉ, Đại diện pháp luật, Lịch sử gói thầu.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✔ Hàng hóa / Dịch vụ: Số lượng, Đơn giá thiết bị / dịch vụ theo hợp đồng.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57800" cy="475488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377B"/>
                </a:solidFill>
                <a:latin typeface="Segoe UI"/>
              </a:defRPr>
            </a:pPr>
            <a:r>
              <a:t>KHỐI 2 — TÍNH NĂNG NHẮC HẠN &amp; CẢNH BÁO REAL-TIME</a:t>
            </a:r>
          </a:p>
          <a:p>
            <a:pPr>
              <a:spcAft>
                <a:spcPts val="500"/>
              </a:spcAft>
              <a:defRPr sz="1050">
                <a:solidFill>
                  <a:srgbClr val="00377B"/>
                </a:solidFill>
                <a:latin typeface="Segoe UI"/>
              </a:defRPr>
            </a:pPr>
            <a:r>
              <a:t>★ Cảnh báo hạn License: Tự động nhắc hạn bản quyền phần mềm trước 30 – 60 – 90 ngày và cảnh báo license đã hết hạn.</a:t>
            </a:r>
          </a:p>
          <a:p>
            <a:pPr>
              <a:spcAft>
                <a:spcPts val="500"/>
              </a:spcAft>
              <a:defRPr sz="1050">
                <a:solidFill>
                  <a:srgbClr val="00377B"/>
                </a:solidFill>
                <a:latin typeface="Segoe UI"/>
              </a:defRPr>
            </a:pPr>
            <a:r>
              <a:t>★ Cảnh báo hạn Hợp đồng: Nhắc hạn hợp đồng sắp hết hiệu lực trong 30 ngày và cảnh báo hợp đồng quá hạn chưa thanh lý.</a:t>
            </a:r>
          </a:p>
          <a:p>
            <a:pPr>
              <a:spcAft>
                <a:spcPts val="500"/>
              </a:spcAft>
              <a:defRPr sz="1050">
                <a:solidFill>
                  <a:srgbClr val="00377B"/>
                </a:solidFill>
                <a:latin typeface="Segoe UI"/>
              </a:defRPr>
            </a:pPr>
            <a:r>
              <a:t>★ Cảnh báo vượt ngân sách: Tự động phát hiện khi giá trị ký kết vượt hạn mức dự toán được phê duyệt.</a:t>
            </a:r>
          </a:p>
          <a:p>
            <a:pPr>
              <a:spcAft>
                <a:spcPts val="500"/>
              </a:spcAft>
              <a:defRPr sz="1050">
                <a:solidFill>
                  <a:srgbClr val="00377B"/>
                </a:solidFill>
                <a:latin typeface="Segoe UI"/>
              </a:defRPr>
            </a:pPr>
            <a:r>
              <a:t>★ Nhắc hạn công việc &amp; giải ngân: Cảnh báo mốc nghiệm thu, chậm tiến độ công việc gói thầu.</a:t>
            </a:r>
          </a:p>
          <a:p>
            <a:pPr>
              <a:spcAft>
                <a:spcPts val="500"/>
              </a:spcAft>
              <a:defRPr sz="1050">
                <a:solidFill>
                  <a:srgbClr val="00377B"/>
                </a:solidFill>
                <a:latin typeface="Segoe UI"/>
              </a:defRPr>
            </a:pPr>
            <a:r>
              <a:t>★ Thông báo tức thời: Đẩy thông báo trực tiếp trên thanh công cụ tới từng người phụ trách.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Segoe UI"/>
              </a:defRPr>
            </a:pPr>
            <a:r>
              <a:t>PHÂN HỆ GIẢI NGÂN &amp; THANH TOÁN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77B"/>
                </a:solidFill>
                <a:latin typeface="Segoe UI"/>
              </a:defRPr>
            </a:pPr>
            <a:r>
              <a:t>01 — Tổng giá trị HĐ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Cam kết chi theo hợp đồng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371600"/>
            <a:ext cx="25603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47872" y="14630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77B"/>
                </a:solidFill>
                <a:latin typeface="Segoe UI"/>
              </a:defRPr>
            </a:pPr>
            <a:r>
              <a:t>02 — Tạm ứng hợp đồng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Kiểm soát tạm ứng &amp; bảo lãnh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71600"/>
            <a:ext cx="25603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4630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77B"/>
                </a:solidFill>
                <a:latin typeface="Segoe UI"/>
              </a:defRPr>
            </a:pPr>
            <a:r>
              <a:t>03 — Thanh toán theo đợt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Theo mốc nghiệm thu Lần 1, 2, 3...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371600"/>
            <a:ext cx="25603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97696" y="14630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77B"/>
                </a:solidFill>
                <a:latin typeface="Segoe UI"/>
              </a:defRPr>
            </a:pPr>
            <a:r>
              <a:t>04 — Công nợ còn lại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Đối soát phục vụ quyết toán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698480" cy="320040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10149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77B"/>
                </a:solidFill>
                <a:latin typeface="Segoe UI"/>
              </a:defRPr>
            </a:pPr>
            <a:r>
              <a:t>CƠ CHẾ KIỂM SOÁT THANH TOÁN &amp; DÒNG TIỀN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✔ Không giới hạn số đợt thanh toán thực tế trên mỗi hợp đồng.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✔ Liên kết biên bản nghiệm thu, hóa đơn tài chính và chứng từ giải ngân.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✔ Theo dõi quyết định phê duyệt quyết toán hoàn thành.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✔ Đóng hợp đồng sau khi hoàn tất quyết toán tài chính.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Segoe UI"/>
              </a:defRPr>
            </a:pPr>
            <a:r>
              <a:t>PHÂN HỆ BÁO CÁO &amp; ĐIỀU HÀNH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377B"/>
                </a:solidFill>
                <a:latin typeface="Segoe UI"/>
              </a:defRPr>
            </a:pPr>
            <a:r>
              <a:t>01 — Báo cáo Tiến độ &amp; Giải ngân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Báo cáo Tiến độ thanh toán dự án thầu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Báo cáo theo dõi thanh toán hợp đồng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Báo cáo quản lý hợp đồng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377B"/>
                </a:solidFill>
                <a:latin typeface="Segoe UI"/>
              </a:defRPr>
            </a:pPr>
            <a:r>
              <a:t>02 — Báo cáo Kế hoạch Vốn &amp; Đầu tư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Biểu mẫu số 02.A TTCNTT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Báo cáo kế hoạch vốn mua sắm TSCĐ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Báo cáo phân kỳ vốn giai đoạn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40"/>
            <a:ext cx="5257800" cy="219456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377B"/>
                </a:solidFill>
                <a:latin typeface="Segoe UI"/>
              </a:defRPr>
            </a:pPr>
            <a:r>
              <a:t>03 — Báo cáo Mua sắm &amp; Bản quyền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Báo cáo kết quả lựa chọn nhà thầu (LCNT)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Báo cáo hạn License / Bảo trì &amp; SLA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49040"/>
            <a:ext cx="5257800" cy="219456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88620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377B"/>
                </a:solidFill>
                <a:latin typeface="Segoe UI"/>
              </a:defRPr>
            </a:pPr>
            <a:r>
              <a:t>04 — Tính năng Xuất dữ liệu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Xuất tự động file Excel (.xlsx)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Chuẩn mẫu ngân hàng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Định dạng số tiền (#,#0)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Tự động tính tổng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Segoe UI"/>
              </a:defRPr>
            </a:pPr>
            <a:r>
              <a:t>QUẢN TRỊ NGƯỜI DÙNG, PHÂN QUYỀN &amp; NHẬT KÝ KIỂM TOÁN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11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77B"/>
                </a:solidFill>
                <a:latin typeface="Segoe UI"/>
              </a:defRPr>
            </a:pPr>
            <a:r>
              <a:t>01 — ĐĂNG NHẬP MỘT LẦN (SSO)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Tích hợp với hệ thống định danh của Co-opBank.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Tuân thủ chính sách bảo mật xác thực ngân hàng.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257800" cy="411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77B"/>
                </a:solidFill>
                <a:latin typeface="Segoe UI"/>
              </a:defRPr>
            </a:pPr>
            <a:r>
              <a:t>02 — PHÂN QUYỀN THEO VAI TRÒ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7452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Phân quyền theo nhóm: Lãnh đạo, Quản lý, Chuyên viên.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Các quyền: Xem, Thêm, Sửa, Xóa, Duyệt.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749040"/>
            <a:ext cx="5257800" cy="411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77B"/>
                </a:solidFill>
                <a:latin typeface="Segoe UI"/>
              </a:defRPr>
            </a:pPr>
            <a:r>
              <a:t>03 — NHẬT KÝ KIỂM TOÁN / AUDIT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Theo dõi đầy đủ: Người thực hiện, Thời gian.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Ghi nhận chi tiết: Dữ liệu cũ, Dữ liệu mới.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3749040"/>
            <a:ext cx="5257800" cy="411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77B"/>
                </a:solidFill>
                <a:latin typeface="Segoe UI"/>
              </a:defRPr>
            </a:pPr>
            <a:r>
              <a:t>04 — AN TOÀN THÔNG 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25196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Quản lý phiên đăng nhập an toàn (HttpOnly Cookie).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Bảo vệ dữ liệu nhạy cảm theo chuẩn NHNN.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Segoe UI"/>
              </a:defRPr>
            </a:pPr>
            <a:r>
              <a:t>LỘ TRÌNH TRIỂN KHAI &amp; ĐƯA VÀO VẬN HÀNH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A5E9"/>
                </a:solidFill>
                <a:latin typeface="Segoe UI"/>
              </a:defRPr>
            </a:pPr>
            <a:r>
              <a:t>TIÊU CHÍ NGHIỆM THU ĐẠT CHUẨN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✔ 100% chức năng hoàn thành  •  0 lỗi nghiêm trọng  •  Thời gian phản hồi &lt; 200ms  •  100% biểu mẫu báo cáo đã kiểm thử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3474720" cy="352044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3474720" cy="685800"/>
          </a:xfrm>
          <a:prstGeom prst="rect">
            <a:avLst/>
          </a:prstGeom>
          <a:solidFill>
            <a:srgbClr val="F0F4FA"/>
          </a:solidFill>
          <a:ln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3347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77B"/>
                </a:solidFill>
                <a:latin typeface="Segoe UI"/>
              </a:defRPr>
            </a:pPr>
            <a:r>
              <a:t>GIAI ĐOẠN 1 — T+1</a:t>
            </a:r>
          </a:p>
          <a:p>
            <a:pPr>
              <a:defRPr sz="1050" b="1">
                <a:solidFill>
                  <a:srgbClr val="E11B22"/>
                </a:solidFill>
                <a:latin typeface="Segoe UI"/>
              </a:defRPr>
            </a:pPr>
            <a:r>
              <a:t>Đào tạo &amp; Bàn giao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Đào tạo người sử dụng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Bàn giao hệ thống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Hướng dẫn vận hành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606040"/>
            <a:ext cx="3474720" cy="352044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606040"/>
            <a:ext cx="3474720" cy="685800"/>
          </a:xfrm>
          <a:prstGeom prst="rect">
            <a:avLst/>
          </a:prstGeom>
          <a:solidFill>
            <a:srgbClr val="F0F4FA"/>
          </a:solidFill>
          <a:ln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63347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77B"/>
                </a:solidFill>
                <a:latin typeface="Segoe UI"/>
              </a:defRPr>
            </a:pPr>
            <a:r>
              <a:t>GIAI ĐOẠN 2 — T+1.5</a:t>
            </a:r>
          </a:p>
          <a:p>
            <a:pPr>
              <a:defRPr sz="1050" b="1">
                <a:solidFill>
                  <a:srgbClr val="E11B22"/>
                </a:solidFill>
                <a:latin typeface="Segoe UI"/>
              </a:defRPr>
            </a:pPr>
            <a:r>
              <a:t>Tập trung dữ liệu lịch sử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3832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Import dữ liệu dự án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Import dữ liệu gói thầu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Import dữ liệu hợp đồng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Dữ liệu giai đoạn 2024 –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606040"/>
            <a:ext cx="3474720" cy="3520440"/>
          </a:xfrm>
          <a:prstGeom prst="roundRect">
            <a:avLst/>
          </a:prstGeom>
          <a:solidFill>
            <a:srgbClr val="F0F4FA"/>
          </a:solidFill>
          <a:ln w="1524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2606040"/>
            <a:ext cx="3474720" cy="685800"/>
          </a:xfrm>
          <a:prstGeom prst="rect">
            <a:avLst/>
          </a:prstGeom>
          <a:solidFill>
            <a:srgbClr val="F0F4FA"/>
          </a:solidFill>
          <a:ln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4" y="263347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77B"/>
                </a:solidFill>
                <a:latin typeface="Segoe UI"/>
              </a:defRPr>
            </a:pPr>
            <a:r>
              <a:t>GIAI ĐOẠN 3 — T+2</a:t>
            </a:r>
          </a:p>
          <a:p>
            <a:pPr>
              <a:defRPr sz="1050" b="1">
                <a:solidFill>
                  <a:srgbClr val="E11B22"/>
                </a:solidFill>
                <a:latin typeface="Segoe UI"/>
              </a:defRPr>
            </a:pPr>
            <a:r>
              <a:t>Đưa vào vận hành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33832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Đưa hệ thống vào vận hành toàn ngân hàng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Bắt buộc cập nhật dữ liệu trên hệ thống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Chính thức vận hành quy trình quản lý tập trung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77B"/>
                </a:solidFill>
                <a:latin typeface="Segoe UI"/>
              </a:defRPr>
            </a:pPr>
            <a:r>
              <a:t>CẢM ƠN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3189</TotalTime>
  <Words>485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맑은 고딕</vt:lpstr>
      <vt:lpstr>SimSun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ĐỐI SOÁT, TRA SOÁT GIAO DỊCH  VỚI  TRUNG TÂM THẺ VÀ DỊCH VỤ NGÂN HÀNG SỐ</dc:title>
  <dc:creator>nguye</dc:creator>
  <cp:lastModifiedBy>nguyen minh duc</cp:lastModifiedBy>
  <cp:revision>276</cp:revision>
  <dcterms:created xsi:type="dcterms:W3CDTF">2021-10-28T07:33:24Z</dcterms:created>
  <dcterms:modified xsi:type="dcterms:W3CDTF">2026-10-08T09:43:52Z</dcterms:modified>
</cp:coreProperties>
</file>