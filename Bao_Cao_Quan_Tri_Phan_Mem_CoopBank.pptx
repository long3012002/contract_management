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Lãnh đạo, Trung tâm CNTT xin trình bày Báo cáo tổng thể về Hệ thống Phần mềm Quản lý Dự án &amp; Hợp đồng CNTT nhằm chuẩn hóa dữ liệu, quản trị dòng tiền vốn đầu tư và tự động hóa công tác báo cáo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nêu bật sự cần thiết chuyển từ quản lý file Excel thủ công sang nền tảng số tập trung, giúp giảm thiểu rủi ro quá hạn bản quyền và đối soát dòng tiền nhanh chóng.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xây dựng trên nền tảng .NET 8 và React hiện đại nhất, kết nối CSDL PostgreSQL với kiến trúc bảo mật nhiều lớp và cơ chế ghi log kiểm toán toàn diện.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lý kế hoạch vốn cho phép lãnh đạo nắm bắt được tổng số dự án CNTT theo từng nguồn vốn, các quyết định phê duyệt dự toán và tỷ lệ giải ngân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mua sắm gói thầu được khép kín từ khâu lập kế hoạch đến phê duyệt KQLCNT và giám sát các hạng mục công việc, giúp phối hợp liên phòng ban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đặc biệt nổi bật của phân hệ là khả năng cảnh báo tự động trước 30-60-90 ngày các hợp đồng bảo trì và bản quyền phần mềm, loại bỏ triệt để nguy cơ gián đoạn dịch vụ.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theo dõi thanh toán giúp quản lý dòng tiền minh bạch, kiểm soát công nợ từng đối tác và tổng hợp nhanh số liệu giải ngân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đáp ứng 100% mẫu báo cáo theo dõi tiến độ thanh toán chuẩn 18 cột và Biểu mẫu 02A của TTCNTT, cho phép xuất file Excel tự động chỉ trong vài giây.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đáp ứng các tiêu chuẩn bảo mật ngân hàng khắt khe nhất: Đăng nhập SSO, phân quyền chức năng chi tiết và ghi nhật ký kiểm toán 100% để phục vụ thanh tra,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so sánh khẳng định hiệu quả vượt trội: rút ngắn thời gian làm báo cáo từ 3 ngày xuống vài giây, giảm thiểu rủi ro quá hạn bản quyền và nâng cao tính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mềm đã sẵn sàng 100% để đưa vào khai thác. Chúng tôi đề xuất lộ trình 3 bước: Đào tạo người dùng, Import dữ liệu lịch sử và chính thức Go-Live sau 2 tháng.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Trân trọng cảm ơn Ban Lãnh đạo đã lắng nghe. Xin kính mời quý Lãnh đạo đưa ra các câu hỏi, góp ý và định hướng chỉ đạo tiếp theo.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188720"/>
            <a:ext cx="3840480" cy="411480"/>
          </a:xfrm>
          <a:prstGeom prst="roundRect">
            <a:avLst/>
          </a:prstGeom>
          <a:solidFill>
            <a:srgbClr val="E6EBF2"/>
          </a:solidFill>
          <a:ln>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377B"/>
                </a:solidFill>
                <a:latin typeface="Segoe UI"/>
              </a:defRPr>
            </a:pPr>
            <a:r>
              <a:t>NGÂN HÀNG HỢP TÁC XÃ VIỆT NAM (CO-OPBANK)</a:t>
            </a:r>
          </a:p>
        </p:txBody>
      </p:sp>
      <p:sp>
        <p:nvSpPr>
          <p:cNvPr id="5" name="TextBox 4"/>
          <p:cNvSpPr txBox="1"/>
          <p:nvPr/>
        </p:nvSpPr>
        <p:spPr>
          <a:xfrm>
            <a:off x="1280160" y="1828800"/>
            <a:ext cx="9601200" cy="1645920"/>
          </a:xfrm>
          <a:prstGeom prst="rect">
            <a:avLst/>
          </a:prstGeom>
          <a:noFill/>
        </p:spPr>
        <p:txBody>
          <a:bodyPr wrap="square">
            <a:spAutoFit/>
          </a:bodyPr>
          <a:lstStyle/>
          <a:p>
            <a:pPr>
              <a:defRPr sz="2800" b="1">
                <a:solidFill>
                  <a:srgbClr val="00377B"/>
                </a:solidFill>
                <a:latin typeface="Segoe UI"/>
              </a:defRPr>
            </a:pPr>
            <a:r>
              <a:t>BÁO CÁO NGHIỆM THU &amp; ĐÁNH GIÁ TRIỂN KHAI</a:t>
            </a:r>
            <a:br/>
            <a:r>
              <a:t>HỆ THỐNG QUẢN LÝ DỰ ÁN &amp; HỢP ĐỒNG CNTT</a:t>
            </a:r>
          </a:p>
        </p:txBody>
      </p:sp>
      <p:sp>
        <p:nvSpPr>
          <p:cNvPr id="6" name="TextBox 5"/>
          <p:cNvSpPr txBox="1"/>
          <p:nvPr/>
        </p:nvSpPr>
        <p:spPr>
          <a:xfrm>
            <a:off x="1280160" y="3566160"/>
            <a:ext cx="9601200" cy="822960"/>
          </a:xfrm>
          <a:prstGeom prst="rect">
            <a:avLst/>
          </a:prstGeom>
          <a:noFill/>
        </p:spPr>
        <p:txBody>
          <a:bodyPr wrap="square">
            <a:spAutoFit/>
          </a:bodyPr>
          <a:lstStyle/>
          <a:p>
            <a:pPr>
              <a:defRPr sz="1400">
                <a:solidFill>
                  <a:srgbClr val="64748B"/>
                </a:solidFill>
                <a:latin typeface="Segoe UI"/>
              </a:defRPr>
            </a:pPr>
            <a:r>
              <a:t>Số hóa toàn diện vòng đời Dự án – Kế hoạch vốn – Mua sắm gói thầu – Quản trị Hợp đồng – Tiến độ giải ngân và Báo cáo điều hành.</a:t>
            </a:r>
          </a:p>
        </p:txBody>
      </p:sp>
      <p:sp>
        <p:nvSpPr>
          <p:cNvPr id="7" name="Rounded Rectangle 6"/>
          <p:cNvSpPr/>
          <p:nvPr/>
        </p:nvSpPr>
        <p:spPr>
          <a:xfrm>
            <a:off x="1280160" y="4572000"/>
            <a:ext cx="9601200" cy="10972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4663440"/>
            <a:ext cx="9235440" cy="914400"/>
          </a:xfrm>
          <a:prstGeom prst="rect">
            <a:avLst/>
          </a:prstGeom>
          <a:noFill/>
        </p:spPr>
        <p:txBody>
          <a:bodyPr wrap="square">
            <a:spAutoFit/>
          </a:bodyPr>
          <a:lstStyle/>
          <a:p>
            <a:pPr>
              <a:defRPr sz="1200" b="1">
                <a:solidFill>
                  <a:srgbClr val="00377B"/>
                </a:solidFill>
                <a:latin typeface="Segoe UI"/>
              </a:defRPr>
            </a:pPr>
            <a:r>
              <a:t>• Đơn vị báo cáo: Trung tâm Công nghệ Thông tin Co-opBank</a:t>
            </a:r>
          </a:p>
          <a:p>
            <a:pPr>
              <a:defRPr sz="1200">
                <a:solidFill>
                  <a:srgbClr val="09090B"/>
                </a:solidFill>
                <a:latin typeface="Segoe UI"/>
              </a:defRPr>
            </a:pPr>
            <a:r>
              <a:t>• Đối tượng tiếp nhận: Ban Quản trị / Ban Giám đốc Ngân hàng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1. Bối Cảnh &amp; Mục Tiêu Chuyển Đổi Số Quản Trị</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45920"/>
            <a:ext cx="2926080" cy="3657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91C1C"/>
                </a:solidFill>
                <a:latin typeface="Segoe UI"/>
              </a:defRPr>
            </a:pPr>
            <a:r>
              <a:t>THÁCH THỨC QUẢN TRỊ TRƯỚC ĐÂY</a:t>
            </a:r>
          </a:p>
        </p:txBody>
      </p:sp>
      <p:sp>
        <p:nvSpPr>
          <p:cNvPr id="9" name="TextBox 8"/>
          <p:cNvSpPr txBox="1"/>
          <p:nvPr/>
        </p:nvSpPr>
        <p:spPr>
          <a:xfrm>
            <a:off x="1005840" y="2194560"/>
            <a:ext cx="4572000" cy="3657600"/>
          </a:xfrm>
          <a:prstGeom prst="rect">
            <a:avLst/>
          </a:prstGeom>
          <a:noFill/>
        </p:spPr>
        <p:txBody>
          <a:bodyPr wrap="square">
            <a:spAutoFit/>
          </a:bodyPr>
          <a:lstStyle/>
          <a:p>
            <a:pPr>
              <a:spcAft>
                <a:spcPts val="1000"/>
              </a:spcAft>
              <a:defRPr sz="1150">
                <a:solidFill>
                  <a:srgbClr val="09090B"/>
                </a:solidFill>
                <a:latin typeface="Segoe UI"/>
              </a:defRPr>
            </a:pPr>
            <a:r>
              <a:t>• Phân mảnh dữ liệu: Dữ liệu dự án, hợp đồng, đợt giải ngân lưu rời rạc tại nhiều file Excel, dễ thất lạc và sai lệch số liệu.</a:t>
            </a:r>
          </a:p>
          <a:p>
            <a:pPr>
              <a:spcAft>
                <a:spcPts val="1000"/>
              </a:spcAft>
              <a:defRPr sz="1150">
                <a:solidFill>
                  <a:srgbClr val="09090B"/>
                </a:solidFill>
                <a:latin typeface="Segoe UI"/>
              </a:defRPr>
            </a:pPr>
            <a:r>
              <a:t>• Theo dõi thủ công: Mất 2-3 ngày để đối soát số liệu khi cần lập báo cáo tổng hợp gửi Lãnh đạo và Ngân hàng Nhà nước.</a:t>
            </a:r>
          </a:p>
          <a:p>
            <a:pPr>
              <a:spcAft>
                <a:spcPts val="1000"/>
              </a:spcAft>
              <a:defRPr sz="1150">
                <a:solidFill>
                  <a:srgbClr val="09090B"/>
                </a:solidFill>
                <a:latin typeface="Segoe UI"/>
              </a:defRPr>
            </a:pPr>
            <a:r>
              <a:t>• Rủi ro quá hạn: Dễ bỏ sót kỳ gia hạn bản quyền (License), bảo trì phần mềm và các mốc nghiệm thu thanh toán.</a:t>
            </a:r>
          </a:p>
          <a:p>
            <a:pPr>
              <a:spcAft>
                <a:spcPts val="1000"/>
              </a:spcAft>
              <a:defRPr sz="1150">
                <a:solidFill>
                  <a:srgbClr val="09090B"/>
                </a:solidFill>
                <a:latin typeface="Segoe UI"/>
              </a:defRPr>
            </a:pPr>
            <a:r>
              <a:t>• Khó kiểm soát nguồn vốn: Phức tạp khi theo dõi song song nhiều nguồn vốn (Vốn điều lệ, Quỹ ĐTPT, Chi phí).</a:t>
            </a:r>
          </a:p>
        </p:txBody>
      </p:sp>
      <p:sp>
        <p:nvSpPr>
          <p:cNvPr id="10" name="Rounded Rectangle 9"/>
          <p:cNvSpPr/>
          <p:nvPr/>
        </p:nvSpPr>
        <p:spPr>
          <a:xfrm>
            <a:off x="6217920" y="1371600"/>
            <a:ext cx="5212080" cy="47548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645920"/>
            <a:ext cx="2926080" cy="365760"/>
          </a:xfrm>
          <a:prstGeom prst="round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MỤC TIÊU CHIẾN LƯỢC HỆ THỐNG</a:t>
            </a:r>
          </a:p>
        </p:txBody>
      </p:sp>
      <p:sp>
        <p:nvSpPr>
          <p:cNvPr id="12" name="TextBox 11"/>
          <p:cNvSpPr txBox="1"/>
          <p:nvPr/>
        </p:nvSpPr>
        <p:spPr>
          <a:xfrm>
            <a:off x="6492240" y="2194560"/>
            <a:ext cx="4663440" cy="3657600"/>
          </a:xfrm>
          <a:prstGeom prst="rect">
            <a:avLst/>
          </a:prstGeom>
          <a:noFill/>
        </p:spPr>
        <p:txBody>
          <a:bodyPr wrap="square">
            <a:spAutoFit/>
          </a:bodyPr>
          <a:lstStyle/>
          <a:p>
            <a:pPr>
              <a:spcAft>
                <a:spcPts val="1000"/>
              </a:spcAft>
              <a:defRPr sz="1150">
                <a:solidFill>
                  <a:srgbClr val="00377B"/>
                </a:solidFill>
                <a:latin typeface="Segoe UI"/>
              </a:defRPr>
            </a:pPr>
            <a:r>
              <a:t>✔ Tập trung hóa 100%: Toàn bộ thông tin Dự án, Gói thầu, Đối tác, Hợp đồng và Đợt thanh toán quản lý trên 1 hệ thống duy nhất.</a:t>
            </a:r>
          </a:p>
          <a:p>
            <a:pPr>
              <a:spcAft>
                <a:spcPts val="1000"/>
              </a:spcAft>
              <a:defRPr sz="1150">
                <a:solidFill>
                  <a:srgbClr val="00377B"/>
                </a:solidFill>
                <a:latin typeface="Segoe UI"/>
              </a:defRPr>
            </a:pPr>
            <a:r>
              <a:t>✔ Báo cáo tức thì (Real-time): Trích xuất báo cáo tiến độ thanh toán và biểu mẫu NHNN trong vài giây với độ chính xác tuyệt đối.</a:t>
            </a:r>
          </a:p>
          <a:p>
            <a:pPr>
              <a:spcAft>
                <a:spcPts val="1000"/>
              </a:spcAft>
              <a:defRPr sz="1150">
                <a:solidFill>
                  <a:srgbClr val="00377B"/>
                </a:solidFill>
                <a:latin typeface="Segoe UI"/>
              </a:defRPr>
            </a:pPr>
            <a:r>
              <a:t>✔ Cảnh báo thông minh: Tự động gửi thông báo trước 30-60-90 ngày đối với hợp đồng và license sắp hết hạn.</a:t>
            </a:r>
          </a:p>
          <a:p>
            <a:pPr>
              <a:spcAft>
                <a:spcPts val="1000"/>
              </a:spcAft>
              <a:defRPr sz="1150">
                <a:solidFill>
                  <a:srgbClr val="00377B"/>
                </a:solidFill>
                <a:latin typeface="Segoe UI"/>
              </a:defRPr>
            </a:pPr>
            <a:r>
              <a:t>✔ Minh bạch &amp; An toàn: Ghi nhận đầy đủ nhật ký kiểm toán (Audit Trail) và phân quyền chặt chẽ theo chức năng người dùng.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2. Kiến Trúc Kỹ Thuật &amp; Công Nghệ Hiện Đại</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17320"/>
            <a:ext cx="4937760" cy="411480"/>
          </a:xfrm>
          <a:prstGeom prst="rect">
            <a:avLst/>
          </a:prstGeom>
          <a:noFill/>
        </p:spPr>
        <p:txBody>
          <a:bodyPr wrap="none">
            <a:spAutoFit/>
          </a:bodyPr>
          <a:lstStyle/>
          <a:p>
            <a:pPr>
              <a:defRPr sz="1050" b="1">
                <a:solidFill>
                  <a:srgbClr val="00377B"/>
                </a:solidFill>
                <a:latin typeface="Segoe UI"/>
              </a:defRPr>
            </a:pPr>
            <a:r>
              <a:t>GIAO DIỆN FRONTEND  |  React • Tailwind CSS v4 • shadcn/ui</a:t>
            </a:r>
          </a:p>
        </p:txBody>
      </p:sp>
      <p:sp>
        <p:nvSpPr>
          <p:cNvPr id="10" name="TextBox 9"/>
          <p:cNvSpPr txBox="1"/>
          <p:nvPr/>
        </p:nvSpPr>
        <p:spPr>
          <a:xfrm>
            <a:off x="868680" y="1965960"/>
            <a:ext cx="4937760" cy="1645920"/>
          </a:xfrm>
          <a:prstGeom prst="rect">
            <a:avLst/>
          </a:prstGeom>
          <a:noFill/>
        </p:spPr>
        <p:txBody>
          <a:bodyPr wrap="square">
            <a:spAutoFit/>
          </a:bodyPr>
          <a:lstStyle/>
          <a:p>
            <a:pPr>
              <a:spcAft>
                <a:spcPts val="200"/>
              </a:spcAft>
              <a:defRPr sz="1050">
                <a:solidFill>
                  <a:srgbClr val="09090B"/>
                </a:solidFill>
                <a:latin typeface="Segoe UI"/>
              </a:defRPr>
            </a:pPr>
            <a:r>
              <a:t>• Thiết kế phong cách Monochrome &amp; CoopBank Accent (#00377B)</a:t>
            </a:r>
          </a:p>
          <a:p>
            <a:pPr>
              <a:spcAft>
                <a:spcPts val="200"/>
              </a:spcAft>
              <a:defRPr sz="1050">
                <a:solidFill>
                  <a:srgbClr val="09090B"/>
                </a:solidFill>
                <a:latin typeface="Segoe UI"/>
              </a:defRPr>
            </a:pPr>
            <a:r>
              <a:t>• Giao diện chuẩn Enterprise, phản hồi mượt mà &lt; 0.2s</a:t>
            </a:r>
          </a:p>
          <a:p>
            <a:pPr>
              <a:spcAft>
                <a:spcPts val="200"/>
              </a:spcAft>
              <a:defRPr sz="1050">
                <a:solidFill>
                  <a:srgbClr val="09090B"/>
                </a:solidFill>
                <a:latin typeface="Segoe UI"/>
              </a:defRPr>
            </a:pPr>
            <a:r>
              <a:t>• Tối ưu hiển thị bảng dữ liệu lớn (DataTable) và biểu đồ</a:t>
            </a:r>
          </a:p>
          <a:p>
            <a:pPr>
              <a:spcAft>
                <a:spcPts val="200"/>
              </a:spcAft>
              <a:defRPr sz="1050">
                <a:solidFill>
                  <a:srgbClr val="09090B"/>
                </a:solidFill>
                <a:latin typeface="Segoe UI"/>
              </a:defRPr>
            </a:pPr>
            <a:r>
              <a:t>• Thiết kế Responsive tương thích mọi kích thước màn hình</a:t>
            </a:r>
          </a:p>
        </p:txBody>
      </p:sp>
      <p:sp>
        <p:nvSpPr>
          <p:cNvPr id="11" name="Rounded Rectangle 10"/>
          <p:cNvSpPr/>
          <p:nvPr/>
        </p:nvSpPr>
        <p:spPr>
          <a:xfrm>
            <a:off x="62179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17320"/>
            <a:ext cx="4937760" cy="411480"/>
          </a:xfrm>
          <a:prstGeom prst="rect">
            <a:avLst/>
          </a:prstGeom>
          <a:noFill/>
        </p:spPr>
        <p:txBody>
          <a:bodyPr wrap="none">
            <a:spAutoFit/>
          </a:bodyPr>
          <a:lstStyle/>
          <a:p>
            <a:pPr>
              <a:defRPr sz="1050" b="1">
                <a:solidFill>
                  <a:srgbClr val="00377B"/>
                </a:solidFill>
                <a:latin typeface="Segoe UI"/>
              </a:defRPr>
            </a:pPr>
            <a:r>
              <a:t>XỬ LÝ TRUNG TÂM BACKEND  |  .NET 8 Core • RESTful Web API</a:t>
            </a:r>
          </a:p>
        </p:txBody>
      </p:sp>
      <p:sp>
        <p:nvSpPr>
          <p:cNvPr id="14" name="TextBox 13"/>
          <p:cNvSpPr txBox="1"/>
          <p:nvPr/>
        </p:nvSpPr>
        <p:spPr>
          <a:xfrm>
            <a:off x="6355080" y="1965960"/>
            <a:ext cx="4937760" cy="1645920"/>
          </a:xfrm>
          <a:prstGeom prst="rect">
            <a:avLst/>
          </a:prstGeom>
          <a:noFill/>
        </p:spPr>
        <p:txBody>
          <a:bodyPr wrap="square">
            <a:spAutoFit/>
          </a:bodyPr>
          <a:lstStyle/>
          <a:p>
            <a:pPr>
              <a:spcAft>
                <a:spcPts val="200"/>
              </a:spcAft>
              <a:defRPr sz="1050">
                <a:solidFill>
                  <a:srgbClr val="09090B"/>
                </a:solidFill>
                <a:latin typeface="Segoe UI"/>
              </a:defRPr>
            </a:pPr>
            <a:r>
              <a:t>• Kiến trúc phân lớp chuẩn Enterprise (Controller - Service - Repo)</a:t>
            </a:r>
          </a:p>
          <a:p>
            <a:pPr>
              <a:spcAft>
                <a:spcPts val="200"/>
              </a:spcAft>
              <a:defRPr sz="1050">
                <a:solidFill>
                  <a:srgbClr val="09090B"/>
                </a:solidFill>
                <a:latin typeface="Segoe UI"/>
              </a:defRPr>
            </a:pPr>
            <a:r>
              <a:t>• Tối ưu truy vấn dữ liệu lớn và xuất file báo cáo nhanh chóng</a:t>
            </a:r>
          </a:p>
          <a:p>
            <a:pPr>
              <a:spcAft>
                <a:spcPts val="200"/>
              </a:spcAft>
              <a:defRPr sz="1050">
                <a:solidFill>
                  <a:srgbClr val="09090B"/>
                </a:solidFill>
                <a:latin typeface="Segoe UI"/>
              </a:defRPr>
            </a:pPr>
            <a:r>
              <a:t>• Cơ chế Caching thông minh giảm tải CSDL</a:t>
            </a:r>
          </a:p>
          <a:p>
            <a:pPr>
              <a:spcAft>
                <a:spcPts val="200"/>
              </a:spcAft>
              <a:defRPr sz="1050">
                <a:solidFill>
                  <a:srgbClr val="09090B"/>
                </a:solidFill>
                <a:latin typeface="Segoe UI"/>
              </a:defRPr>
            </a:pPr>
            <a:r>
              <a:t>• Tích hợp Hangfire xử lý tác vụ ngầm &amp; quét cảnh báo tự động</a:t>
            </a:r>
          </a:p>
        </p:txBody>
      </p:sp>
      <p:sp>
        <p:nvSpPr>
          <p:cNvPr id="15" name="Rounded Rectangle 14"/>
          <p:cNvSpPr/>
          <p:nvPr/>
        </p:nvSpPr>
        <p:spPr>
          <a:xfrm>
            <a:off x="7315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86200"/>
            <a:ext cx="4937760" cy="411480"/>
          </a:xfrm>
          <a:prstGeom prst="rect">
            <a:avLst/>
          </a:prstGeom>
          <a:noFill/>
        </p:spPr>
        <p:txBody>
          <a:bodyPr wrap="none">
            <a:spAutoFit/>
          </a:bodyPr>
          <a:lstStyle/>
          <a:p>
            <a:pPr>
              <a:defRPr sz="1050" b="1">
                <a:solidFill>
                  <a:srgbClr val="00377B"/>
                </a:solidFill>
                <a:latin typeface="Segoe UI"/>
              </a:defRPr>
            </a:pPr>
            <a:r>
              <a:t>CƠ SỞ DỮ LIỆU &amp; LƯU TRỮ  |  PostgreSQL • EF Core Relational</a:t>
            </a:r>
          </a:p>
        </p:txBody>
      </p:sp>
      <p:sp>
        <p:nvSpPr>
          <p:cNvPr id="18" name="TextBox 17"/>
          <p:cNvSpPr txBox="1"/>
          <p:nvPr/>
        </p:nvSpPr>
        <p:spPr>
          <a:xfrm>
            <a:off x="868680" y="4434840"/>
            <a:ext cx="4937760" cy="1645920"/>
          </a:xfrm>
          <a:prstGeom prst="rect">
            <a:avLst/>
          </a:prstGeom>
          <a:noFill/>
        </p:spPr>
        <p:txBody>
          <a:bodyPr wrap="square">
            <a:spAutoFit/>
          </a:bodyPr>
          <a:lstStyle/>
          <a:p>
            <a:pPr>
              <a:spcAft>
                <a:spcPts val="200"/>
              </a:spcAft>
              <a:defRPr sz="1050">
                <a:solidFill>
                  <a:srgbClr val="09090B"/>
                </a:solidFill>
                <a:latin typeface="Segoe UI"/>
              </a:defRPr>
            </a:pPr>
            <a:r>
              <a:t>• Mô hình dữ liệu chuẩn hóa, ràng buộc toàn vẹn quan hệ</a:t>
            </a:r>
          </a:p>
          <a:p>
            <a:pPr>
              <a:spcAft>
                <a:spcPts val="200"/>
              </a:spcAft>
              <a:defRPr sz="1050">
                <a:solidFill>
                  <a:srgbClr val="09090B"/>
                </a:solidFill>
                <a:latin typeface="Segoe UI"/>
              </a:defRPr>
            </a:pPr>
            <a:r>
              <a:t>• Quản lý lưu trữ tài liệu, hợp đồng số hóa an toàn</a:t>
            </a:r>
          </a:p>
          <a:p>
            <a:pPr>
              <a:spcAft>
                <a:spcPts val="200"/>
              </a:spcAft>
              <a:defRPr sz="1050">
                <a:solidFill>
                  <a:srgbClr val="09090B"/>
                </a:solidFill>
                <a:latin typeface="Segoe UI"/>
              </a:defRPr>
            </a:pPr>
            <a:r>
              <a:t>• Cơ chế sao lưu định kỳ và sẵn sàng phục hồi nhanh chóng</a:t>
            </a:r>
          </a:p>
          <a:p>
            <a:pPr>
              <a:spcAft>
                <a:spcPts val="200"/>
              </a:spcAft>
              <a:defRPr sz="1050">
                <a:solidFill>
                  <a:srgbClr val="09090B"/>
                </a:solidFill>
                <a:latin typeface="Segoe UI"/>
              </a:defRPr>
            </a:pPr>
            <a:r>
              <a:t>• Tối ưu Indexing cho các báo cáo tài chính phức tạp</a:t>
            </a:r>
          </a:p>
        </p:txBody>
      </p:sp>
      <p:sp>
        <p:nvSpPr>
          <p:cNvPr id="19" name="Rounded Rectangle 18"/>
          <p:cNvSpPr/>
          <p:nvPr/>
        </p:nvSpPr>
        <p:spPr>
          <a:xfrm>
            <a:off x="62179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937760" cy="411480"/>
          </a:xfrm>
          <a:prstGeom prst="rect">
            <a:avLst/>
          </a:prstGeom>
          <a:noFill/>
        </p:spPr>
        <p:txBody>
          <a:bodyPr wrap="none">
            <a:spAutoFit/>
          </a:bodyPr>
          <a:lstStyle/>
          <a:p>
            <a:pPr>
              <a:defRPr sz="1050" b="1">
                <a:solidFill>
                  <a:srgbClr val="00377B"/>
                </a:solidFill>
                <a:latin typeface="Segoe UI"/>
              </a:defRPr>
            </a:pPr>
            <a:r>
              <a:t>BẢO MẬT &amp; TÍCH HỢP HỆ THỐNG  |  SSO • JWT • HttpOnly Cookies • Audit</a:t>
            </a:r>
          </a:p>
        </p:txBody>
      </p:sp>
      <p:sp>
        <p:nvSpPr>
          <p:cNvPr id="22" name="TextBox 21"/>
          <p:cNvSpPr txBox="1"/>
          <p:nvPr/>
        </p:nvSpPr>
        <p:spPr>
          <a:xfrm>
            <a:off x="6355080" y="4434840"/>
            <a:ext cx="4937760" cy="1645920"/>
          </a:xfrm>
          <a:prstGeom prst="rect">
            <a:avLst/>
          </a:prstGeom>
          <a:noFill/>
        </p:spPr>
        <p:txBody>
          <a:bodyPr wrap="square">
            <a:spAutoFit/>
          </a:bodyPr>
          <a:lstStyle/>
          <a:p>
            <a:pPr>
              <a:spcAft>
                <a:spcPts val="200"/>
              </a:spcAft>
              <a:defRPr sz="1050">
                <a:solidFill>
                  <a:srgbClr val="09090B"/>
                </a:solidFill>
                <a:latin typeface="Segoe UI"/>
              </a:defRPr>
            </a:pPr>
            <a:r>
              <a:t>• Tích hợp Đăng nhập tập trung (SSO) theo chuẩn Co-opBank</a:t>
            </a:r>
          </a:p>
          <a:p>
            <a:pPr>
              <a:spcAft>
                <a:spcPts val="200"/>
              </a:spcAft>
              <a:defRPr sz="1050">
                <a:solidFill>
                  <a:srgbClr val="09090B"/>
                </a:solidFill>
                <a:latin typeface="Segoe UI"/>
              </a:defRPr>
            </a:pPr>
            <a:r>
              <a:t>• Bảo mật Token với HttpOnly Cookie ngăn ngừa XSS/CSRF</a:t>
            </a:r>
          </a:p>
          <a:p>
            <a:pPr>
              <a:spcAft>
                <a:spcPts val="200"/>
              </a:spcAft>
              <a:defRPr sz="1050">
                <a:solidFill>
                  <a:srgbClr val="09090B"/>
                </a:solidFill>
                <a:latin typeface="Segoe UI"/>
              </a:defRPr>
            </a:pPr>
            <a:r>
              <a:t>• Phân quyền ma trận chặt chẽ (RBAC &amp; Feature Level)</a:t>
            </a:r>
          </a:p>
          <a:p>
            <a:pPr>
              <a:spcAft>
                <a:spcPts val="200"/>
              </a:spcAft>
              <a:defRPr sz="1050">
                <a:solidFill>
                  <a:srgbClr val="09090B"/>
                </a:solidFill>
                <a:latin typeface="Segoe UI"/>
              </a:defRPr>
            </a:pPr>
            <a:r>
              <a:t>• Ghi vết 100% nhật ký thay đổi dữ liệu (Audit Logging)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3.1. Phân Hệ Quản Lý Danh Mục Dự Án &amp; Kế Hoạch Vốn</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6858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6309360" cy="4297680"/>
          </a:xfrm>
          <a:prstGeom prst="rect">
            <a:avLst/>
          </a:prstGeom>
          <a:noFill/>
        </p:spPr>
        <p:txBody>
          <a:bodyPr wrap="square">
            <a:spAutoFit/>
          </a:bodyPr>
          <a:lstStyle/>
          <a:p>
            <a:pPr>
              <a:spcAft>
                <a:spcPts val="1200"/>
              </a:spcAft>
              <a:defRPr sz="1300" b="1">
                <a:solidFill>
                  <a:srgbClr val="00377B"/>
                </a:solidFill>
                <a:latin typeface="Segoe UI"/>
              </a:defRPr>
            </a:pPr>
            <a:r>
              <a:t>TẬP TRUNG HÓA TOÀN BỘ DANH MỤC ĐẦU TƯ CNTT NGÂN HÀNG</a:t>
            </a:r>
          </a:p>
          <a:p>
            <a:pPr>
              <a:spcAft>
                <a:spcPts val="800"/>
              </a:spcAft>
              <a:defRPr sz="1150">
                <a:solidFill>
                  <a:srgbClr val="09090B"/>
                </a:solidFill>
                <a:latin typeface="Segoe UI"/>
              </a:defRPr>
            </a:pPr>
            <a:r>
              <a:t>✔ Quản lý 3 Nhóm Dự án CNTT trọng điểm: Hạ tầng CNTT (Data Center, Máy chủ, Lưu trữ), An ninh bảo mật (Firewall, SOC, DLP), Hệ thống Phần mềm (CoreBanking, E-Banking, Khởi tạo dịch vụ...).</a:t>
            </a:r>
          </a:p>
          <a:p>
            <a:pPr>
              <a:spcAft>
                <a:spcPts val="800"/>
              </a:spcAft>
              <a:defRPr sz="1150">
                <a:solidFill>
                  <a:srgbClr val="09090B"/>
                </a:solidFill>
                <a:latin typeface="Segoe UI"/>
              </a:defRPr>
            </a:pPr>
            <a:r>
              <a:t>✔ Theo dõi Đa Nguồn Vốn: Phân bổ chi tiết ngân sách theo Vốn điều lệ &amp; Quỹ dự trữ bổ sung VĐL, Quỹ đầu tư phát triển và Chi phí hoạt động.</a:t>
            </a:r>
          </a:p>
          <a:p>
            <a:pPr>
              <a:spcAft>
                <a:spcPts val="800"/>
              </a:spcAft>
              <a:defRPr sz="1150">
                <a:solidFill>
                  <a:srgbClr val="09090B"/>
                </a:solidFill>
                <a:latin typeface="Segoe UI"/>
              </a:defRPr>
            </a:pPr>
            <a:r>
              <a:t>✔ Quản lý Pháp lý &amp; Quyết định: Lưu trữ số Quyết định phê duyệt chủ trương đầu tư, Quyết định phê duyệt dự toán, tổng mức đầu tư được duyệt.</a:t>
            </a:r>
          </a:p>
          <a:p>
            <a:pPr>
              <a:spcAft>
                <a:spcPts val="800"/>
              </a:spcAft>
              <a:defRPr sz="1150">
                <a:solidFill>
                  <a:srgbClr val="09090B"/>
                </a:solidFill>
                <a:latin typeface="Segoe UI"/>
              </a:defRPr>
            </a:pPr>
            <a:r>
              <a:t>✔ Giám sát Tiến độ &amp; Trạng thái: Trạng thái trực quan: Chuẩn bị đầu tư, Đang triển khai thầu, Đang thực hiện HĐ, Đã quyết toán hoàn thành.</a:t>
            </a:r>
          </a:p>
        </p:txBody>
      </p:sp>
      <p:sp>
        <p:nvSpPr>
          <p:cNvPr id="9" name="Rounded Rectangle 8"/>
          <p:cNvSpPr/>
          <p:nvPr/>
        </p:nvSpPr>
        <p:spPr>
          <a:xfrm>
            <a:off x="7863840" y="1371600"/>
            <a:ext cx="3566160" cy="14630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463040"/>
            <a:ext cx="3200400" cy="1280160"/>
          </a:xfrm>
          <a:prstGeom prst="rect">
            <a:avLst/>
          </a:prstGeom>
          <a:noFill/>
        </p:spPr>
        <p:txBody>
          <a:bodyPr wrap="square">
            <a:spAutoFit/>
          </a:bodyPr>
          <a:lstStyle/>
          <a:p>
            <a:pPr>
              <a:defRPr sz="1100" b="1">
                <a:solidFill>
                  <a:srgbClr val="00377B"/>
                </a:solidFill>
                <a:latin typeface="Segoe UI"/>
              </a:defRPr>
            </a:pPr>
            <a:r>
              <a:t>PHÂN BỔ KẾ HOẠCH VỐN</a:t>
            </a:r>
          </a:p>
          <a:p>
            <a:pPr>
              <a:defRPr sz="1100" b="1">
                <a:solidFill>
                  <a:srgbClr val="09090B"/>
                </a:solidFill>
                <a:latin typeface="Segoe UI"/>
              </a:defRPr>
            </a:pPr>
            <a:r>
              <a:t>Kiểm soát 100% ngân sách</a:t>
            </a:r>
          </a:p>
          <a:p>
            <a:pPr>
              <a:defRPr sz="950">
                <a:solidFill>
                  <a:srgbClr val="64748B"/>
                </a:solidFill>
                <a:latin typeface="Segoe UI"/>
              </a:defRPr>
            </a:pPr>
            <a:r>
              <a:t>Dễ dàng tra cứu hạn mức vốn được duyệt theo từng năm tài chính.</a:t>
            </a:r>
          </a:p>
        </p:txBody>
      </p:sp>
      <p:sp>
        <p:nvSpPr>
          <p:cNvPr id="11" name="Rounded Rectangle 10"/>
          <p:cNvSpPr/>
          <p:nvPr/>
        </p:nvSpPr>
        <p:spPr>
          <a:xfrm>
            <a:off x="7863840" y="2971800"/>
            <a:ext cx="3566160" cy="1463040"/>
          </a:xfrm>
          <a:prstGeom prst="roundRect">
            <a:avLst/>
          </a:prstGeom>
          <a:solidFill>
            <a:srgbClr val="E6EBF2"/>
          </a:solidFill>
          <a:ln w="19050">
            <a:solidFill>
              <a:srgbClr val="335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3063240"/>
            <a:ext cx="3200400" cy="1280160"/>
          </a:xfrm>
          <a:prstGeom prst="rect">
            <a:avLst/>
          </a:prstGeom>
          <a:noFill/>
        </p:spPr>
        <p:txBody>
          <a:bodyPr wrap="square">
            <a:spAutoFit/>
          </a:bodyPr>
          <a:lstStyle/>
          <a:p>
            <a:pPr>
              <a:defRPr sz="1100" b="1">
                <a:solidFill>
                  <a:srgbClr val="335F95"/>
                </a:solidFill>
                <a:latin typeface="Segoe UI"/>
              </a:defRPr>
            </a:pPr>
            <a:r>
              <a:t>LIÊN KẾT THỰC THỂ</a:t>
            </a:r>
          </a:p>
          <a:p>
            <a:pPr>
              <a:defRPr sz="1100" b="1">
                <a:solidFill>
                  <a:srgbClr val="09090B"/>
                </a:solidFill>
                <a:latin typeface="Segoe UI"/>
              </a:defRPr>
            </a:pPr>
            <a:r>
              <a:t>Dự án ➔ Gói thầu ➔ Hợp đồng</a:t>
            </a:r>
          </a:p>
          <a:p>
            <a:pPr>
              <a:defRPr sz="950">
                <a:solidFill>
                  <a:srgbClr val="64748B"/>
                </a:solidFill>
                <a:latin typeface="Segoe UI"/>
              </a:defRPr>
            </a:pPr>
            <a:r>
              <a:t>Đảm bảo tính kế thừa dữ liệu, không nhập lại thông tin nhiều lần.</a:t>
            </a:r>
          </a:p>
        </p:txBody>
      </p:sp>
      <p:sp>
        <p:nvSpPr>
          <p:cNvPr id="13" name="Rounded Rectangle 12"/>
          <p:cNvSpPr/>
          <p:nvPr/>
        </p:nvSpPr>
        <p:spPr>
          <a:xfrm>
            <a:off x="7863840" y="4572000"/>
            <a:ext cx="3566160" cy="1463040"/>
          </a:xfrm>
          <a:prstGeom prst="roundRect">
            <a:avLst/>
          </a:prstGeom>
          <a:solidFill>
            <a:srgbClr val="E6EBF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4663440"/>
            <a:ext cx="3200400" cy="1280160"/>
          </a:xfrm>
          <a:prstGeom prst="rect">
            <a:avLst/>
          </a:prstGeom>
          <a:noFill/>
        </p:spPr>
        <p:txBody>
          <a:bodyPr wrap="square">
            <a:spAutoFit/>
          </a:bodyPr>
          <a:lstStyle/>
          <a:p>
            <a:pPr>
              <a:defRPr sz="1100" b="1">
                <a:solidFill>
                  <a:srgbClr val="10B981"/>
                </a:solidFill>
                <a:latin typeface="Segoe UI"/>
              </a:defRPr>
            </a:pPr>
            <a:r>
              <a:t>CẢNH BÁO VƯỢT DỰ TOÁN</a:t>
            </a:r>
          </a:p>
          <a:p>
            <a:pPr>
              <a:defRPr sz="1100" b="1">
                <a:solidFill>
                  <a:srgbClr val="09090B"/>
                </a:solidFill>
                <a:latin typeface="Segoe UI"/>
              </a:defRPr>
            </a:pPr>
            <a:r>
              <a:t>Kiểm soát an toàn</a:t>
            </a:r>
          </a:p>
          <a:p>
            <a:pPr>
              <a:defRPr sz="950">
                <a:solidFill>
                  <a:srgbClr val="64748B"/>
                </a:solidFill>
                <a:latin typeface="Segoe UI"/>
              </a:defRPr>
            </a:pPr>
            <a:r>
              <a:t>Tự động cảnh báo nếu tổng giá trị các gói thầu vượt quá dự toán phê duyệt.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3.2. Phân Hệ Quản Lý Gói Thầu &amp; Tiến Độ Mua Sắm</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 Lập Kế Hoạch &amp; Phê Duyệt</a:t>
            </a:r>
          </a:p>
        </p:txBody>
      </p:sp>
      <p:sp>
        <p:nvSpPr>
          <p:cNvPr id="10" name="TextBox 9"/>
          <p:cNvSpPr txBox="1"/>
          <p:nvPr/>
        </p:nvSpPr>
        <p:spPr>
          <a:xfrm>
            <a:off x="114300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Quản lý thông tin gói thầu thuộc dự án</a:t>
            </a:r>
          </a:p>
          <a:p>
            <a:pPr>
              <a:spcAft>
                <a:spcPts val="800"/>
              </a:spcAft>
              <a:defRPr sz="1100">
                <a:solidFill>
                  <a:srgbClr val="09090B"/>
                </a:solidFill>
                <a:latin typeface="Segoe UI"/>
              </a:defRPr>
            </a:pPr>
            <a:r>
              <a:t>• Hình thức lựa chọn nhà thầu (Đấu thầu rộng rãi, Chỉ định thầu, Chào hàng cạnh tranh)</a:t>
            </a:r>
          </a:p>
          <a:p>
            <a:pPr>
              <a:spcAft>
                <a:spcPts val="800"/>
              </a:spcAft>
              <a:defRPr sz="1100">
                <a:solidFill>
                  <a:srgbClr val="09090B"/>
                </a:solidFill>
                <a:latin typeface="Segoe UI"/>
              </a:defRPr>
            </a:pPr>
            <a:r>
              <a:t>• Theo dõi giá gói thầu và thời gian tổ chức</a:t>
            </a:r>
          </a:p>
          <a:p>
            <a:pPr>
              <a:spcAft>
                <a:spcPts val="800"/>
              </a:spcAft>
              <a:defRPr sz="1100">
                <a:solidFill>
                  <a:srgbClr val="09090B"/>
                </a:solidFill>
                <a:latin typeface="Segoe UI"/>
              </a:defRPr>
            </a:pPr>
            <a:r>
              <a:t>• Lưu vết Quyết định phê duyệt Kế hoạch LCNT</a:t>
            </a:r>
          </a:p>
        </p:txBody>
      </p:sp>
      <p:sp>
        <p:nvSpPr>
          <p:cNvPr id="11" name="Rounded Rectangle 10"/>
          <p:cNvSpPr/>
          <p:nvPr/>
        </p:nvSpPr>
        <p:spPr>
          <a:xfrm>
            <a:off x="448056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 Kết Quả &amp; Lựa Chọn Nhà Thầu</a:t>
            </a:r>
          </a:p>
        </p:txBody>
      </p:sp>
      <p:sp>
        <p:nvSpPr>
          <p:cNvPr id="13" name="TextBox 12"/>
          <p:cNvSpPr txBox="1"/>
          <p:nvPr/>
        </p:nvSpPr>
        <p:spPr>
          <a:xfrm>
            <a:off x="461772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Quản lý Quyết định phê duyệt Kết quả Lựa chọn Nhà thầu (KQLCNT)</a:t>
            </a:r>
          </a:p>
          <a:p>
            <a:pPr>
              <a:spcAft>
                <a:spcPts val="800"/>
              </a:spcAft>
              <a:defRPr sz="1100">
                <a:solidFill>
                  <a:srgbClr val="09090B"/>
                </a:solidFill>
                <a:latin typeface="Segoe UI"/>
              </a:defRPr>
            </a:pPr>
            <a:r>
              <a:t>• Ghi nhận thông tin đơn vị trúng thầu và giá trúng thầu</a:t>
            </a:r>
          </a:p>
          <a:p>
            <a:pPr>
              <a:spcAft>
                <a:spcPts val="800"/>
              </a:spcAft>
              <a:defRPr sz="1100">
                <a:solidFill>
                  <a:srgbClr val="09090B"/>
                </a:solidFill>
                <a:latin typeface="Segoe UI"/>
              </a:defRPr>
            </a:pPr>
            <a:r>
              <a:t>• Đánh giá mức độ tiết kiệm sau đấu thầu</a:t>
            </a:r>
          </a:p>
          <a:p>
            <a:pPr>
              <a:spcAft>
                <a:spcPts val="800"/>
              </a:spcAft>
              <a:defRPr sz="1100">
                <a:solidFill>
                  <a:srgbClr val="09090B"/>
                </a:solidFill>
                <a:latin typeface="Segoe UI"/>
              </a:defRPr>
            </a:pPr>
            <a:r>
              <a:t>• Liên kết trực tiếp tới hồ sơ ký kết Hợp đồng</a:t>
            </a:r>
          </a:p>
        </p:txBody>
      </p:sp>
      <p:sp>
        <p:nvSpPr>
          <p:cNvPr id="14" name="Rounded Rectangle 13"/>
          <p:cNvSpPr/>
          <p:nvPr/>
        </p:nvSpPr>
        <p:spPr>
          <a:xfrm>
            <a:off x="7955280" y="1645920"/>
            <a:ext cx="3291840" cy="420624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645920"/>
            <a:ext cx="3291840" cy="54864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3. Giám Sát Công Việc &amp; Phối Hợp</a:t>
            </a:r>
          </a:p>
        </p:txBody>
      </p:sp>
      <p:sp>
        <p:nvSpPr>
          <p:cNvPr id="16" name="TextBox 15"/>
          <p:cNvSpPr txBox="1"/>
          <p:nvPr/>
        </p:nvSpPr>
        <p:spPr>
          <a:xfrm>
            <a:off x="8092440" y="2286000"/>
            <a:ext cx="3017520" cy="3383280"/>
          </a:xfrm>
          <a:prstGeom prst="rect">
            <a:avLst/>
          </a:prstGeom>
          <a:noFill/>
        </p:spPr>
        <p:txBody>
          <a:bodyPr wrap="square">
            <a:spAutoFit/>
          </a:bodyPr>
          <a:lstStyle/>
          <a:p>
            <a:pPr>
              <a:spcAft>
                <a:spcPts val="800"/>
              </a:spcAft>
              <a:defRPr sz="1100">
                <a:solidFill>
                  <a:srgbClr val="09090B"/>
                </a:solidFill>
                <a:latin typeface="Segoe UI"/>
              </a:defRPr>
            </a:pPr>
            <a:r>
              <a:t>• Chia nhỏ gói thầu thành các hạng mục công việc (WBS)</a:t>
            </a:r>
          </a:p>
          <a:p>
            <a:pPr>
              <a:spcAft>
                <a:spcPts val="800"/>
              </a:spcAft>
              <a:defRPr sz="1100">
                <a:solidFill>
                  <a:srgbClr val="09090B"/>
                </a:solidFill>
                <a:latin typeface="Segoe UI"/>
              </a:defRPr>
            </a:pPr>
            <a:r>
              <a:t>• Giao việc, phân công đầu mối phụ trách rõ ràng</a:t>
            </a:r>
          </a:p>
          <a:p>
            <a:pPr>
              <a:spcAft>
                <a:spcPts val="800"/>
              </a:spcAft>
              <a:defRPr sz="1100">
                <a:solidFill>
                  <a:srgbClr val="09090B"/>
                </a:solidFill>
                <a:latin typeface="Segoe UI"/>
              </a:defRPr>
            </a:pPr>
            <a:r>
              <a:t>• Cho phép thảo luận, ghi chú, đính kèm biên bản</a:t>
            </a:r>
          </a:p>
          <a:p>
            <a:pPr>
              <a:spcAft>
                <a:spcPts val="800"/>
              </a:spcAft>
              <a:defRPr sz="1100">
                <a:solidFill>
                  <a:srgbClr val="09090B"/>
                </a:solidFill>
                <a:latin typeface="Segoe UI"/>
              </a:defRPr>
            </a:pPr>
            <a:r>
              <a:t>• Cảnh báo chậm tiến độ từng mốc triển khai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3.3. Quản Lý Hợp Đồng, Đối Tác &amp; Bản Quyền (License)</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4663440" cy="4297680"/>
          </a:xfrm>
          <a:prstGeom prst="rect">
            <a:avLst/>
          </a:prstGeom>
          <a:noFill/>
        </p:spPr>
        <p:txBody>
          <a:bodyPr wrap="square">
            <a:spAutoFit/>
          </a:bodyPr>
          <a:lstStyle/>
          <a:p>
            <a:pPr>
              <a:spcAft>
                <a:spcPts val="1000"/>
              </a:spcAft>
              <a:defRPr sz="1250" b="1">
                <a:solidFill>
                  <a:srgbClr val="00377B"/>
                </a:solidFill>
                <a:latin typeface="Segoe UI"/>
              </a:defRPr>
            </a:pPr>
            <a:r>
              <a:t>QUẢN LÝ VÒNG ĐỜI HỢP ĐỒNG &amp; ĐỐI TÁC</a:t>
            </a:r>
          </a:p>
          <a:p>
            <a:pPr>
              <a:spcAft>
                <a:spcPts val="600"/>
              </a:spcAft>
              <a:defRPr sz="1100">
                <a:solidFill>
                  <a:srgbClr val="09090B"/>
                </a:solidFill>
                <a:latin typeface="Segoe UI"/>
              </a:defRPr>
            </a:pPr>
            <a:r>
              <a:t>✔ Hồ sơ Hợp đồng điện tử: Số HĐ, ngày ký, ngày hiệu lực, thời gian thực hiện (vd: 30 ngày, 12 tháng), giá trị HĐ.</a:t>
            </a:r>
          </a:p>
          <a:p>
            <a:pPr>
              <a:spcAft>
                <a:spcPts val="600"/>
              </a:spcAft>
              <a:defRPr sz="1100">
                <a:solidFill>
                  <a:srgbClr val="09090B"/>
                </a:solidFill>
                <a:latin typeface="Segoe UI"/>
              </a:defRPr>
            </a:pPr>
            <a:r>
              <a:t>✔ Quản lý Phụ lục hợp đồng: Lưu vết các lần gia hạn thời gian, bổ sung hạng mục hoặc điều chỉnh giá trị.</a:t>
            </a:r>
          </a:p>
          <a:p>
            <a:pPr>
              <a:spcAft>
                <a:spcPts val="600"/>
              </a:spcAft>
              <a:defRPr sz="1100">
                <a:solidFill>
                  <a:srgbClr val="09090B"/>
                </a:solidFill>
                <a:latin typeface="Segoe UI"/>
              </a:defRPr>
            </a:pPr>
            <a:r>
              <a:t>✔ Cơ sở dữ liệu Đối tác/Nhà thầu: Quản lý Mã số thuế, Địa chỉ, Đại diện pháp luật, Lịch sử thực hiện các gói thầu.</a:t>
            </a:r>
          </a:p>
          <a:p>
            <a:pPr>
              <a:spcAft>
                <a:spcPts val="600"/>
              </a:spcAft>
              <a:defRPr sz="1100">
                <a:solidFill>
                  <a:srgbClr val="09090B"/>
                </a:solidFill>
                <a:latin typeface="Segoe UI"/>
              </a:defRPr>
            </a:pPr>
            <a:r>
              <a:t>✔ Hàng hóa &amp; Dịch vụ chi tiết: Danh mục thiết bị, linh kiện, bản quyền kèm số lượng, đơn giá theo hợp đồng.</a:t>
            </a:r>
          </a:p>
        </p:txBody>
      </p:sp>
      <p:sp>
        <p:nvSpPr>
          <p:cNvPr id="9" name="Rounded Rectangle 8"/>
          <p:cNvSpPr/>
          <p:nvPr/>
        </p:nvSpPr>
        <p:spPr>
          <a:xfrm>
            <a:off x="6217920" y="1371600"/>
            <a:ext cx="5212080" cy="47548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663440" cy="4297680"/>
          </a:xfrm>
          <a:prstGeom prst="rect">
            <a:avLst/>
          </a:prstGeom>
          <a:noFill/>
        </p:spPr>
        <p:txBody>
          <a:bodyPr wrap="square">
            <a:spAutoFit/>
          </a:bodyPr>
          <a:lstStyle/>
          <a:p>
            <a:pPr>
              <a:spcAft>
                <a:spcPts val="1000"/>
              </a:spcAft>
              <a:defRPr sz="1250" b="1">
                <a:solidFill>
                  <a:srgbClr val="00377B"/>
                </a:solidFill>
                <a:latin typeface="Segoe UI"/>
              </a:defRPr>
            </a:pPr>
            <a:r>
              <a:t>HỆ THỐNG CẢNH BÁO HẠN LICENSE TỰ ĐỘNG</a:t>
            </a:r>
          </a:p>
          <a:p>
            <a:pPr>
              <a:spcAft>
                <a:spcPts val="600"/>
              </a:spcAft>
              <a:defRPr sz="1100">
                <a:solidFill>
                  <a:srgbClr val="00377B"/>
                </a:solidFill>
                <a:latin typeface="Segoe UI"/>
              </a:defRPr>
            </a:pPr>
            <a:r>
              <a:t>★ Quản lý Dòng Bản quyền (License Lines): Theo dõi chi tiết hạn bảo trì, bản quyền phần mềm (SOC, Backup, Core, DB...).</a:t>
            </a:r>
          </a:p>
          <a:p>
            <a:pPr>
              <a:spcAft>
                <a:spcPts val="600"/>
              </a:spcAft>
              <a:defRPr sz="1100">
                <a:solidFill>
                  <a:srgbClr val="00377B"/>
                </a:solidFill>
                <a:latin typeface="Segoe UI"/>
              </a:defRPr>
            </a:pPr>
            <a:r>
              <a:t>★ Cơ chế Cảnh báo 3 mức (30 - 60 - 90 ngày): Hệ thống tự động quét và gửi thông báo nhắc hạn trước khi bản quyền hết hiệu lực.</a:t>
            </a:r>
          </a:p>
          <a:p>
            <a:pPr>
              <a:spcAft>
                <a:spcPts val="600"/>
              </a:spcAft>
              <a:defRPr sz="1100">
                <a:solidFill>
                  <a:srgbClr val="00377B"/>
                </a:solidFill>
                <a:latin typeface="Segoe UI"/>
              </a:defRPr>
            </a:pPr>
            <a:r>
              <a:t>★ Cảnh báo Hạn Hợp đồng: Nhắc nhở thời hạn hoàn thành các mốc bàn giao, nghiệm thu tránh phát sinh tranh chấp hoặc chậm tiến độ.</a:t>
            </a:r>
          </a:p>
          <a:p>
            <a:pPr>
              <a:spcAft>
                <a:spcPts val="600"/>
              </a:spcAft>
              <a:defRPr sz="1100">
                <a:solidFill>
                  <a:srgbClr val="00377B"/>
                </a:solidFill>
                <a:latin typeface="Segoe UI"/>
              </a:defRPr>
            </a:pPr>
            <a:r>
              <a:t>★ Phòng ngừa rủi ro CNTT: Đảm bảo 100% các hệ thống trọng yếu của Ngân hàng luôn được duy trì bản quyền và hỗ trợ kỹ thuật liên tục.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3.4. Giám Sát Giải Ngân &amp; Tiến Độ Thanh Toán Thực Tế</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2560320" cy="1463040"/>
          </a:xfrm>
          <a:prstGeom prst="roundRect">
            <a:avLst/>
          </a:prstGeom>
          <a:solidFill>
            <a:srgbClr val="FFFFFF"/>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63040"/>
            <a:ext cx="2377440" cy="1280160"/>
          </a:xfrm>
          <a:prstGeom prst="rect">
            <a:avLst/>
          </a:prstGeom>
          <a:noFill/>
        </p:spPr>
        <p:txBody>
          <a:bodyPr wrap="square">
            <a:spAutoFit/>
          </a:bodyPr>
          <a:lstStyle/>
          <a:p>
            <a:pPr>
              <a:defRPr sz="950" b="1">
                <a:solidFill>
                  <a:srgbClr val="00377B"/>
                </a:solidFill>
                <a:latin typeface="Segoe UI"/>
              </a:defRPr>
            </a:pPr>
            <a:r>
              <a:t>TỔNG GIÁ TRỊ HỢP ĐỒNG</a:t>
            </a:r>
          </a:p>
          <a:p>
            <a:pPr>
              <a:defRPr sz="1600" b="1">
                <a:solidFill>
                  <a:srgbClr val="09090B"/>
                </a:solidFill>
                <a:latin typeface="Segoe UI"/>
              </a:defRPr>
            </a:pPr>
            <a:r>
              <a:t>100%</a:t>
            </a:r>
          </a:p>
          <a:p>
            <a:pPr>
              <a:defRPr sz="850">
                <a:solidFill>
                  <a:srgbClr val="64748B"/>
                </a:solidFill>
                <a:latin typeface="Segoe UI"/>
              </a:defRPr>
            </a:pPr>
            <a:r>
              <a:t>Tổng mức cam kết chi trả theo hợp đồng đã ký</a:t>
            </a:r>
          </a:p>
        </p:txBody>
      </p:sp>
      <p:sp>
        <p:nvSpPr>
          <p:cNvPr id="9" name="Rounded Rectangle 8"/>
          <p:cNvSpPr/>
          <p:nvPr/>
        </p:nvSpPr>
        <p:spPr>
          <a:xfrm>
            <a:off x="3456432" y="1371600"/>
            <a:ext cx="2560320" cy="1463040"/>
          </a:xfrm>
          <a:prstGeom prst="roundRect">
            <a:avLst/>
          </a:prstGeom>
          <a:solidFill>
            <a:srgbClr val="FFFFFF"/>
          </a:solidFill>
          <a:ln w="19050">
            <a:solidFill>
              <a:srgbClr val="335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463040"/>
            <a:ext cx="2377440" cy="1280160"/>
          </a:xfrm>
          <a:prstGeom prst="rect">
            <a:avLst/>
          </a:prstGeom>
          <a:noFill/>
        </p:spPr>
        <p:txBody>
          <a:bodyPr wrap="square">
            <a:spAutoFit/>
          </a:bodyPr>
          <a:lstStyle/>
          <a:p>
            <a:pPr>
              <a:defRPr sz="950" b="1">
                <a:solidFill>
                  <a:srgbClr val="335F95"/>
                </a:solidFill>
                <a:latin typeface="Segoe UI"/>
              </a:defRPr>
            </a:pPr>
            <a:r>
              <a:t>TẠM ỨNG HỢP ĐỒNG</a:t>
            </a:r>
          </a:p>
          <a:p>
            <a:pPr>
              <a:defRPr sz="1600" b="1">
                <a:solidFill>
                  <a:srgbClr val="09090B"/>
                </a:solidFill>
                <a:latin typeface="Segoe UI"/>
              </a:defRPr>
            </a:pPr>
            <a:r>
              <a:t>Theo quy định</a:t>
            </a:r>
          </a:p>
          <a:p>
            <a:pPr>
              <a:defRPr sz="850">
                <a:solidFill>
                  <a:srgbClr val="64748B"/>
                </a:solidFill>
                <a:latin typeface="Segoe UI"/>
              </a:defRPr>
            </a:pPr>
            <a:r>
              <a:t>Kiểm soát tỷ lệ tạm ứng &amp; điều kiện hoàn ứng</a:t>
            </a:r>
          </a:p>
        </p:txBody>
      </p:sp>
      <p:sp>
        <p:nvSpPr>
          <p:cNvPr id="11" name="Rounded Rectangle 10"/>
          <p:cNvSpPr/>
          <p:nvPr/>
        </p:nvSpPr>
        <p:spPr>
          <a:xfrm>
            <a:off x="6181344" y="1371600"/>
            <a:ext cx="2560320" cy="1463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4" y="1463040"/>
            <a:ext cx="2377440" cy="1280160"/>
          </a:xfrm>
          <a:prstGeom prst="rect">
            <a:avLst/>
          </a:prstGeom>
          <a:noFill/>
        </p:spPr>
        <p:txBody>
          <a:bodyPr wrap="square">
            <a:spAutoFit/>
          </a:bodyPr>
          <a:lstStyle/>
          <a:p>
            <a:pPr>
              <a:defRPr sz="950" b="1">
                <a:solidFill>
                  <a:srgbClr val="10B981"/>
                </a:solidFill>
                <a:latin typeface="Segoe UI"/>
              </a:defRPr>
            </a:pPr>
            <a:r>
              <a:t>THANH TOÁN THEO ĐỢT</a:t>
            </a:r>
          </a:p>
          <a:p>
            <a:pPr>
              <a:defRPr sz="1600" b="1">
                <a:solidFill>
                  <a:srgbClr val="09090B"/>
                </a:solidFill>
                <a:latin typeface="Segoe UI"/>
              </a:defRPr>
            </a:pPr>
            <a:r>
              <a:t>Lần 1, 2, 3...</a:t>
            </a:r>
          </a:p>
          <a:p>
            <a:pPr>
              <a:defRPr sz="850">
                <a:solidFill>
                  <a:srgbClr val="64748B"/>
                </a:solidFill>
                <a:latin typeface="Segoe UI"/>
              </a:defRPr>
            </a:pPr>
            <a:r>
              <a:t>Giải ngân gắn liền với mốc nghiệm thu thực tế</a:t>
            </a:r>
          </a:p>
        </p:txBody>
      </p:sp>
      <p:sp>
        <p:nvSpPr>
          <p:cNvPr id="13" name="Rounded Rectangle 12"/>
          <p:cNvSpPr/>
          <p:nvPr/>
        </p:nvSpPr>
        <p:spPr>
          <a:xfrm>
            <a:off x="8906256" y="1371600"/>
            <a:ext cx="2560320" cy="14630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1463040"/>
            <a:ext cx="2377440" cy="1280160"/>
          </a:xfrm>
          <a:prstGeom prst="rect">
            <a:avLst/>
          </a:prstGeom>
          <a:noFill/>
        </p:spPr>
        <p:txBody>
          <a:bodyPr wrap="square">
            <a:spAutoFit/>
          </a:bodyPr>
          <a:lstStyle/>
          <a:p>
            <a:pPr>
              <a:defRPr sz="950" b="1">
                <a:solidFill>
                  <a:srgbClr val="F59E0B"/>
                </a:solidFill>
                <a:latin typeface="Segoe UI"/>
              </a:defRPr>
            </a:pPr>
            <a:r>
              <a:t>CÔNG NỢ CÒN LẠI</a:t>
            </a:r>
          </a:p>
          <a:p>
            <a:pPr>
              <a:defRPr sz="1600" b="1">
                <a:solidFill>
                  <a:srgbClr val="09090B"/>
                </a:solidFill>
                <a:latin typeface="Segoe UI"/>
              </a:defRPr>
            </a:pPr>
            <a:r>
              <a:t>Tức thì</a:t>
            </a:r>
          </a:p>
          <a:p>
            <a:pPr>
              <a:defRPr sz="850">
                <a:solidFill>
                  <a:srgbClr val="64748B"/>
                </a:solidFill>
                <a:latin typeface="Segoe UI"/>
              </a:defRPr>
            </a:pPr>
            <a:r>
              <a:t>Đối soát số tiền còn phải trả phục vụ quyết toán</a:t>
            </a:r>
          </a:p>
        </p:txBody>
      </p:sp>
      <p:sp>
        <p:nvSpPr>
          <p:cNvPr id="15" name="Rounded Rectangle 14"/>
          <p:cNvSpPr/>
          <p:nvPr/>
        </p:nvSpPr>
        <p:spPr>
          <a:xfrm>
            <a:off x="731520" y="3017520"/>
            <a:ext cx="10698480" cy="310896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00400"/>
            <a:ext cx="10149840" cy="2743200"/>
          </a:xfrm>
          <a:prstGeom prst="rect">
            <a:avLst/>
          </a:prstGeom>
          <a:noFill/>
        </p:spPr>
        <p:txBody>
          <a:bodyPr wrap="square">
            <a:spAutoFit/>
          </a:bodyPr>
          <a:lstStyle/>
          <a:p>
            <a:pPr>
              <a:spcAft>
                <a:spcPts val="800"/>
              </a:spcAft>
              <a:defRPr sz="1200" b="1">
                <a:solidFill>
                  <a:srgbClr val="00377B"/>
                </a:solidFill>
                <a:latin typeface="Segoe UI"/>
              </a:defRPr>
            </a:pPr>
            <a:r>
              <a:t>CƠ CHẾ KIỂM SOÁT DÒNG TIỀN VỐN ĐẦU TƯ CHẶT CHẼ</a:t>
            </a:r>
          </a:p>
          <a:p>
            <a:pPr>
              <a:spcAft>
                <a:spcPts val="400"/>
              </a:spcAft>
              <a:defRPr sz="1100">
                <a:solidFill>
                  <a:srgbClr val="09090B"/>
                </a:solidFill>
                <a:latin typeface="Segoe UI"/>
              </a:defRPr>
            </a:pPr>
            <a:r>
              <a:t>✔ Theo dõi linh hoạt nhiều đợt thanh toán: Hỗ trợ cấu hình không giới hạn số đợt thanh toán (Tạm ứng, Đợt 1, Đợt 2... Đợt n) phù hợp thực tế từng hợp đồng.</a:t>
            </a:r>
          </a:p>
          <a:p>
            <a:pPr>
              <a:spcAft>
                <a:spcPts val="400"/>
              </a:spcAft>
              <a:defRPr sz="1100">
                <a:solidFill>
                  <a:srgbClr val="09090B"/>
                </a:solidFill>
                <a:latin typeface="Segoe UI"/>
              </a:defRPr>
            </a:pPr>
            <a:r>
              <a:t>✔ Liên kết chặt chẽ hồ sơ thanh toán: Ghi nhận ngày thanh toán, số chứng từ giải ngân, giá trị thanh toán thực tế và tỷ lệ giải ngân so với hợp đồng.</a:t>
            </a:r>
          </a:p>
          <a:p>
            <a:pPr>
              <a:spcAft>
                <a:spcPts val="400"/>
              </a:spcAft>
              <a:defRPr sz="1100">
                <a:solidFill>
                  <a:srgbClr val="09090B"/>
                </a:solidFill>
                <a:latin typeface="Segoe UI"/>
              </a:defRPr>
            </a:pPr>
            <a:r>
              <a:t>✔ Đối soát quyết toán minh bạch: Theo dõi số Quyết định phê duyệt quyết toán hoàn thành, đảm bảo đóng hợp đồng đầy đủ thủ tục tài chính.</a:t>
            </a:r>
          </a:p>
          <a:p>
            <a:pPr>
              <a:spcAft>
                <a:spcPts val="400"/>
              </a:spcAft>
              <a:defRPr sz="1100">
                <a:solidFill>
                  <a:srgbClr val="09090B"/>
                </a:solidFill>
                <a:latin typeface="Segoe UI"/>
              </a:defRPr>
            </a:pPr>
            <a:r>
              <a:t>✔ Báo cáo dòng tiền tức thì: Cung cấp bức tranh toàn cảnh về tiến độ giải ngân vốn đầu tư CNTT phục vụ kế hoạch cân đối tài chính của ngân hàng.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3.5. Trung Tâm Báo Cáo Điều Hành &amp; Xuất Dữ Liệu</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59436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5394960" cy="4297680"/>
          </a:xfrm>
          <a:prstGeom prst="rect">
            <a:avLst/>
          </a:prstGeom>
          <a:noFill/>
        </p:spPr>
        <p:txBody>
          <a:bodyPr wrap="square">
            <a:spAutoFit/>
          </a:bodyPr>
          <a:lstStyle/>
          <a:p>
            <a:pPr>
              <a:spcAft>
                <a:spcPts val="800"/>
              </a:spcAft>
              <a:defRPr sz="1200" b="1">
                <a:solidFill>
                  <a:srgbClr val="00377B"/>
                </a:solidFill>
                <a:latin typeface="Segoe UI"/>
              </a:defRPr>
            </a:pPr>
            <a:r>
              <a:t>BÁO CÁO TIẾN ĐỘ THANH TOÁN DỰ ÁN THẦU (CHUẨN 18 CỘT)</a:t>
            </a:r>
          </a:p>
          <a:p>
            <a:pPr>
              <a:spcAft>
                <a:spcPts val="300"/>
              </a:spcAft>
              <a:defRPr sz="1050">
                <a:solidFill>
                  <a:srgbClr val="09090B"/>
                </a:solidFill>
                <a:latin typeface="Segoe UI"/>
              </a:defRPr>
            </a:pPr>
            <a:r>
              <a:t>• Nguồn vốn hình thành: Tự động phân loại Chi phí, Vốn điều lệ, Quỹ ĐTPT.</a:t>
            </a:r>
          </a:p>
          <a:p>
            <a:pPr>
              <a:spcAft>
                <a:spcPts val="300"/>
              </a:spcAft>
              <a:defRPr sz="1050">
                <a:solidFill>
                  <a:srgbClr val="09090B"/>
                </a:solidFill>
                <a:latin typeface="Segoe UI"/>
              </a:defRPr>
            </a:pPr>
            <a:r>
              <a:t>• Dự án &amp; QĐ Phê duyệt dự toán: Tên dự án, số QĐ phê duyệt dự toán đầu tư.</a:t>
            </a:r>
          </a:p>
          <a:p>
            <a:pPr>
              <a:spcAft>
                <a:spcPts val="300"/>
              </a:spcAft>
              <a:defRPr sz="1050">
                <a:solidFill>
                  <a:srgbClr val="09090B"/>
                </a:solidFill>
                <a:latin typeface="Segoe UI"/>
              </a:defRPr>
            </a:pPr>
            <a:r>
              <a:t>• Gói thầu &amp; QĐ KQLCNT: Tên gói thầu, số Quyết định lựa chọn nhà thầu.</a:t>
            </a:r>
          </a:p>
          <a:p>
            <a:pPr>
              <a:spcAft>
                <a:spcPts val="300"/>
              </a:spcAft>
              <a:defRPr sz="1050">
                <a:solidFill>
                  <a:srgbClr val="09090B"/>
                </a:solidFill>
                <a:latin typeface="Segoe UI"/>
              </a:defRPr>
            </a:pPr>
            <a:r>
              <a:t>• Thông tin Nhà thầu: Tên công ty, Mã số thuế, Địa chỉ trụ sở chính.</a:t>
            </a:r>
          </a:p>
          <a:p>
            <a:pPr>
              <a:spcAft>
                <a:spcPts val="300"/>
              </a:spcAft>
              <a:defRPr sz="1050">
                <a:solidFill>
                  <a:srgbClr val="09090B"/>
                </a:solidFill>
                <a:latin typeface="Segoe UI"/>
              </a:defRPr>
            </a:pPr>
            <a:r>
              <a:t>• Hợp đồng &amp; Thời hạn: Số HĐ, ngày ký, thời gian thực hiện, giá trị HĐ.</a:t>
            </a:r>
          </a:p>
          <a:p>
            <a:pPr>
              <a:spcAft>
                <a:spcPts val="300"/>
              </a:spcAft>
              <a:defRPr sz="1050">
                <a:solidFill>
                  <a:srgbClr val="09090B"/>
                </a:solidFill>
                <a:latin typeface="Segoe UI"/>
              </a:defRPr>
            </a:pPr>
            <a:r>
              <a:t>• Tiến độ Giải ngân: Cột Tạm ứng và các cột Lần 1, 2, 3... sinh động theo số đợt thực tế.</a:t>
            </a:r>
          </a:p>
          <a:p>
            <a:pPr>
              <a:spcAft>
                <a:spcPts val="300"/>
              </a:spcAft>
              <a:defRPr sz="1050">
                <a:solidFill>
                  <a:srgbClr val="09090B"/>
                </a:solidFill>
                <a:latin typeface="Segoe UI"/>
              </a:defRPr>
            </a:pPr>
            <a:r>
              <a:t>• Ghi chú quyết toán: Theo dõi số QĐ phê duyệt quyết toán hoàn thành.</a:t>
            </a:r>
          </a:p>
        </p:txBody>
      </p:sp>
      <p:sp>
        <p:nvSpPr>
          <p:cNvPr id="9" name="Rounded Rectangle 8"/>
          <p:cNvSpPr/>
          <p:nvPr/>
        </p:nvSpPr>
        <p:spPr>
          <a:xfrm>
            <a:off x="6949440" y="1371600"/>
            <a:ext cx="4480560" cy="4754880"/>
          </a:xfrm>
          <a:prstGeom prst="roundRect">
            <a:avLst/>
          </a:prstGeom>
          <a:solidFill>
            <a:srgbClr val="E6EBF2"/>
          </a:solidFill>
          <a:ln w="19050">
            <a:solidFill>
              <a:srgbClr val="0037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554480"/>
            <a:ext cx="4114800" cy="4297680"/>
          </a:xfrm>
          <a:prstGeom prst="rect">
            <a:avLst/>
          </a:prstGeom>
          <a:noFill/>
        </p:spPr>
        <p:txBody>
          <a:bodyPr wrap="square">
            <a:spAutoFit/>
          </a:bodyPr>
          <a:lstStyle/>
          <a:p>
            <a:pPr>
              <a:spcAft>
                <a:spcPts val="800"/>
              </a:spcAft>
              <a:defRPr sz="1200" b="1">
                <a:solidFill>
                  <a:srgbClr val="00377B"/>
                </a:solidFill>
                <a:latin typeface="Segoe UI"/>
              </a:defRPr>
            </a:pPr>
            <a:r>
              <a:t>TÍCH HỢP 5 BIỂU MẪU BÁO CÁO &amp; XUẤT FILE</a:t>
            </a:r>
          </a:p>
          <a:p>
            <a:pPr>
              <a:spcAft>
                <a:spcPts val="400"/>
              </a:spcAft>
              <a:defRPr sz="1050">
                <a:solidFill>
                  <a:srgbClr val="00377B"/>
                </a:solidFill>
                <a:latin typeface="Segoe UI"/>
              </a:defRPr>
            </a:pPr>
            <a:r>
              <a:t>★ Biểu mẫu số 02A TTCNTT: Báo cáo tình hình thực hiện kế hoạch đầu tư CNTT định kỳ quý/năm theo quy định.</a:t>
            </a:r>
          </a:p>
          <a:p>
            <a:pPr>
              <a:spcAft>
                <a:spcPts val="400"/>
              </a:spcAft>
              <a:defRPr sz="1050">
                <a:solidFill>
                  <a:srgbClr val="00377B"/>
                </a:solidFill>
                <a:latin typeface="Segoe UI"/>
              </a:defRPr>
            </a:pPr>
            <a:r>
              <a:t>★ Bộ 5 Mẫu Báo cáo QLDA Chuẩn: Tự động trích xuất và ánh xạ dữ liệu từ CSDL vào đúng form mẫu quy định của ngân hàng.</a:t>
            </a:r>
          </a:p>
          <a:p>
            <a:pPr>
              <a:spcAft>
                <a:spcPts val="400"/>
              </a:spcAft>
              <a:defRPr sz="1050">
                <a:solidFill>
                  <a:srgbClr val="00377B"/>
                </a:solidFill>
                <a:latin typeface="Segoe UI"/>
              </a:defRPr>
            </a:pPr>
            <a:r>
              <a:t>★ Xuất Excel (.xlsx) Tự Động: File xuất ra giữ nguyên màu sắc nhận diện thương hiệu, canh lề chuẩn, định dạng số tiền #,#0 và tự động tính tổng.</a:t>
            </a:r>
          </a:p>
          <a:p>
            <a:pPr>
              <a:spcAft>
                <a:spcPts val="400"/>
              </a:spcAft>
              <a:defRPr sz="1050">
                <a:solidFill>
                  <a:srgbClr val="00377B"/>
                </a:solidFill>
                <a:latin typeface="Segoe UI"/>
              </a:defRPr>
            </a:pPr>
            <a:r>
              <a:t>★ Đa dạng định dạng trích xuất: Hỗ trợ xuất file Excel, CSV, HTML hoặc chuỗi Base64 phục vụ tích hợp 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4. Quản Trị Người Dùng, Bảo Mật &amp; Nhật Ký Kiểm Toán</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17320"/>
            <a:ext cx="4937760" cy="411480"/>
          </a:xfrm>
          <a:prstGeom prst="rect">
            <a:avLst/>
          </a:prstGeom>
          <a:noFill/>
        </p:spPr>
        <p:txBody>
          <a:bodyPr wrap="none">
            <a:spAutoFit/>
          </a:bodyPr>
          <a:lstStyle/>
          <a:p>
            <a:pPr>
              <a:defRPr sz="1100" b="1">
                <a:solidFill>
                  <a:srgbClr val="00377B"/>
                </a:solidFill>
                <a:latin typeface="Segoe UI"/>
              </a:defRPr>
            </a:pPr>
            <a:r>
              <a:t>TÍCH HỢP ĐĂNG NHẬP SSO  |  Đăng nhập một chạm an toàn</a:t>
            </a:r>
          </a:p>
        </p:txBody>
      </p:sp>
      <p:sp>
        <p:nvSpPr>
          <p:cNvPr id="10" name="TextBox 9"/>
          <p:cNvSpPr txBox="1"/>
          <p:nvPr/>
        </p:nvSpPr>
        <p:spPr>
          <a:xfrm>
            <a:off x="914400" y="2011680"/>
            <a:ext cx="4846320" cy="1554480"/>
          </a:xfrm>
          <a:prstGeom prst="rect">
            <a:avLst/>
          </a:prstGeom>
          <a:noFill/>
        </p:spPr>
        <p:txBody>
          <a:bodyPr wrap="square">
            <a:spAutoFit/>
          </a:bodyPr>
          <a:lstStyle/>
          <a:p>
            <a:pPr>
              <a:defRPr sz="1150">
                <a:solidFill>
                  <a:srgbClr val="09090B"/>
                </a:solidFill>
                <a:latin typeface="Segoe UI"/>
              </a:defRPr>
            </a:pPr>
            <a:r>
              <a:t>Tích hợp liền mạch với hệ thống Quản lý Danh tính tập trung (SSO) của Co-opBank, tuân thủ chính sách mật khẩu và xác thực 2 lớp.</a:t>
            </a:r>
          </a:p>
        </p:txBody>
      </p:sp>
      <p:sp>
        <p:nvSpPr>
          <p:cNvPr id="11" name="Rounded Rectangle 10"/>
          <p:cNvSpPr/>
          <p:nvPr/>
        </p:nvSpPr>
        <p:spPr>
          <a:xfrm>
            <a:off x="62179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17320"/>
            <a:ext cx="4937760" cy="411480"/>
          </a:xfrm>
          <a:prstGeom prst="rect">
            <a:avLst/>
          </a:prstGeom>
          <a:noFill/>
        </p:spPr>
        <p:txBody>
          <a:bodyPr wrap="none">
            <a:spAutoFit/>
          </a:bodyPr>
          <a:lstStyle/>
          <a:p>
            <a:pPr>
              <a:defRPr sz="1100" b="1">
                <a:solidFill>
                  <a:srgbClr val="00377B"/>
                </a:solidFill>
                <a:latin typeface="Segoe UI"/>
              </a:defRPr>
            </a:pPr>
            <a:r>
              <a:t>PHÂN QUYỀN MA TRẬN (RBAC)  |  Kiểm soát truy cập chi tiết</a:t>
            </a:r>
          </a:p>
        </p:txBody>
      </p:sp>
      <p:sp>
        <p:nvSpPr>
          <p:cNvPr id="14" name="TextBox 13"/>
          <p:cNvSpPr txBox="1"/>
          <p:nvPr/>
        </p:nvSpPr>
        <p:spPr>
          <a:xfrm>
            <a:off x="6400800" y="2011680"/>
            <a:ext cx="4846320" cy="1554480"/>
          </a:xfrm>
          <a:prstGeom prst="rect">
            <a:avLst/>
          </a:prstGeom>
          <a:noFill/>
        </p:spPr>
        <p:txBody>
          <a:bodyPr wrap="square">
            <a:spAutoFit/>
          </a:bodyPr>
          <a:lstStyle/>
          <a:p>
            <a:pPr>
              <a:defRPr sz="1150">
                <a:solidFill>
                  <a:srgbClr val="09090B"/>
                </a:solidFill>
                <a:latin typeface="Segoe UI"/>
              </a:defRPr>
            </a:pPr>
            <a:r>
              <a:t>Phân quyền đa cấp từ Ban Lãnh đạo, Trưởng phòng, Quản trị viên đến Chuyên viên. Kiểm soát quyền Xem, Thêm, Sửa, Xóa và Duyệt báo cáo.</a:t>
            </a:r>
          </a:p>
        </p:txBody>
      </p:sp>
      <p:sp>
        <p:nvSpPr>
          <p:cNvPr id="15" name="Rounded Rectangle 14"/>
          <p:cNvSpPr/>
          <p:nvPr/>
        </p:nvSpPr>
        <p:spPr>
          <a:xfrm>
            <a:off x="7315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86200"/>
            <a:ext cx="4937760" cy="411480"/>
          </a:xfrm>
          <a:prstGeom prst="rect">
            <a:avLst/>
          </a:prstGeom>
          <a:noFill/>
        </p:spPr>
        <p:txBody>
          <a:bodyPr wrap="none">
            <a:spAutoFit/>
          </a:bodyPr>
          <a:lstStyle/>
          <a:p>
            <a:pPr>
              <a:defRPr sz="1100" b="1">
                <a:solidFill>
                  <a:srgbClr val="00377B"/>
                </a:solidFill>
                <a:latin typeface="Segoe UI"/>
              </a:defRPr>
            </a:pPr>
            <a:r>
              <a:t>NHẬT KÝ KIỂM TOÁN (AUDIT TRAIL)  |  Ghi vết 100% thay đổi</a:t>
            </a:r>
          </a:p>
        </p:txBody>
      </p:sp>
      <p:sp>
        <p:nvSpPr>
          <p:cNvPr id="18" name="TextBox 17"/>
          <p:cNvSpPr txBox="1"/>
          <p:nvPr/>
        </p:nvSpPr>
        <p:spPr>
          <a:xfrm>
            <a:off x="914400" y="4480560"/>
            <a:ext cx="4846320" cy="1554480"/>
          </a:xfrm>
          <a:prstGeom prst="rect">
            <a:avLst/>
          </a:prstGeom>
          <a:noFill/>
        </p:spPr>
        <p:txBody>
          <a:bodyPr wrap="square">
            <a:spAutoFit/>
          </a:bodyPr>
          <a:lstStyle/>
          <a:p>
            <a:pPr>
              <a:defRPr sz="1150">
                <a:solidFill>
                  <a:srgbClr val="09090B"/>
                </a:solidFill>
                <a:latin typeface="Segoe UI"/>
              </a:defRPr>
            </a:pPr>
            <a:r>
              <a:t>Ghi nhận chi tiết mọi hành vi thêm, sửa, xóa dữ liệu: Ai thực hiện, thời gian nào, dữ liệu trước và sau khi sửa để phục vụ kiểm toán nội bộ.</a:t>
            </a:r>
          </a:p>
        </p:txBody>
      </p:sp>
      <p:sp>
        <p:nvSpPr>
          <p:cNvPr id="19" name="Rounded Rectangle 18"/>
          <p:cNvSpPr/>
          <p:nvPr/>
        </p:nvSpPr>
        <p:spPr>
          <a:xfrm>
            <a:off x="6217920" y="384048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840480"/>
            <a:ext cx="5212080" cy="5029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937760" cy="411480"/>
          </a:xfrm>
          <a:prstGeom prst="rect">
            <a:avLst/>
          </a:prstGeom>
          <a:noFill/>
        </p:spPr>
        <p:txBody>
          <a:bodyPr wrap="none">
            <a:spAutoFit/>
          </a:bodyPr>
          <a:lstStyle/>
          <a:p>
            <a:pPr>
              <a:defRPr sz="1100" b="1">
                <a:solidFill>
                  <a:srgbClr val="00377B"/>
                </a:solidFill>
                <a:latin typeface="Segoe UI"/>
              </a:defRPr>
            </a:pPr>
            <a:r>
              <a:t>AN TOÀN &amp; BẢO MẬT DỮ LIỆU  |  Tiêu chuẩn Ngân hàng</a:t>
            </a:r>
          </a:p>
        </p:txBody>
      </p:sp>
      <p:sp>
        <p:nvSpPr>
          <p:cNvPr id="22" name="TextBox 21"/>
          <p:cNvSpPr txBox="1"/>
          <p:nvPr/>
        </p:nvSpPr>
        <p:spPr>
          <a:xfrm>
            <a:off x="6400800" y="4480560"/>
            <a:ext cx="4846320" cy="1554480"/>
          </a:xfrm>
          <a:prstGeom prst="rect">
            <a:avLst/>
          </a:prstGeom>
          <a:noFill/>
        </p:spPr>
        <p:txBody>
          <a:bodyPr wrap="square">
            <a:spAutoFit/>
          </a:bodyPr>
          <a:lstStyle/>
          <a:p>
            <a:pPr>
              <a:defRPr sz="1150">
                <a:solidFill>
                  <a:srgbClr val="09090B"/>
                </a:solidFill>
                <a:latin typeface="Segoe UI"/>
              </a:defRPr>
            </a:pPr>
            <a:r>
              <a:t>Bảo vệ phiên làm việc bằng HttpOnly Cookie, mã hóa dữ liệu nhạy cảm, chống tấn công XSS, SQL Injection và CSRF theo quy chuẩn NHNN.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5. Hiệu Quả Đầu Tư &amp; Giá Trị Đem Lại (ROI)</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graphicFrame>
        <p:nvGraphicFramePr>
          <p:cNvPr id="7" name="Table 6"/>
          <p:cNvGraphicFramePr>
            <a:graphicFrameLocks noGrp="1"/>
          </p:cNvGraphicFramePr>
          <p:nvPr/>
        </p:nvGraphicFramePr>
        <p:xfrm>
          <a:off x="731520" y="1371600"/>
          <a:ext cx="10698480" cy="4754880"/>
        </p:xfrm>
        <a:graphic>
          <a:graphicData uri="http://schemas.openxmlformats.org/drawingml/2006/table">
            <a:tbl>
              <a:tblPr firstRow="1" bandRow="1">
                <a:tableStyleId>{5C22544A-7EE6-4342-B048-85BDC9FD1C3A}</a:tableStyleId>
              </a:tblPr>
              <a:tblGrid>
                <a:gridCol w="2926080"/>
                <a:gridCol w="3840480"/>
                <a:gridCol w="3931920"/>
              </a:tblGrid>
              <a:tr h="950976">
                <a:tc>
                  <a:txBody>
                    <a:bodyPr/>
                    <a:lstStyle/>
                    <a:p>
                      <a:pPr algn="ctr">
                        <a:defRPr sz="1150" b="1">
                          <a:solidFill>
                            <a:srgbClr val="FFFFFF"/>
                          </a:solidFill>
                          <a:latin typeface="Segoe UI"/>
                        </a:defRPr>
                      </a:pPr>
                      <a:r>
                        <a:t>TIÊU CHÍ ĐÁNH GIÁ</a:t>
                      </a:r>
                    </a:p>
                  </a:txBody>
                  <a:tcPr anchor="ctr">
                    <a:solidFill>
                      <a:srgbClr val="00377B"/>
                    </a:solidFill>
                  </a:tcPr>
                </a:tc>
                <a:tc>
                  <a:txBody>
                    <a:bodyPr/>
                    <a:lstStyle/>
                    <a:p>
                      <a:pPr algn="ctr">
                        <a:defRPr sz="1150" b="1">
                          <a:solidFill>
                            <a:srgbClr val="FFFFFF"/>
                          </a:solidFill>
                          <a:latin typeface="Segoe UI"/>
                        </a:defRPr>
                      </a:pPr>
                      <a:r>
                        <a:t>TRƯỚC KHI CÓ PHẦN MỀM</a:t>
                      </a:r>
                    </a:p>
                  </a:txBody>
                  <a:tcPr anchor="ctr">
                    <a:solidFill>
                      <a:srgbClr val="00377B"/>
                    </a:solidFill>
                  </a:tcPr>
                </a:tc>
                <a:tc>
                  <a:txBody>
                    <a:bodyPr/>
                    <a:lstStyle/>
                    <a:p>
                      <a:pPr algn="ctr">
                        <a:defRPr sz="1150" b="1">
                          <a:solidFill>
                            <a:srgbClr val="FFFFFF"/>
                          </a:solidFill>
                          <a:latin typeface="Segoe UI"/>
                        </a:defRPr>
                      </a:pPr>
                      <a:r>
                        <a:t>SAU KHI TRIỂN KHAI HỆ THỐNG</a:t>
                      </a:r>
                    </a:p>
                  </a:txBody>
                  <a:tcPr anchor="ctr">
                    <a:solidFill>
                      <a:srgbClr val="00377B"/>
                    </a:solidFill>
                  </a:tcPr>
                </a:tc>
              </a:tr>
              <a:tr h="950976">
                <a:tc>
                  <a:txBody>
                    <a:bodyPr/>
                    <a:lstStyle/>
                    <a:p>
                      <a:pPr>
                        <a:defRPr sz="1150">
                          <a:solidFill>
                            <a:srgbClr val="09090B"/>
                          </a:solidFill>
                          <a:latin typeface="Segoe UI"/>
                        </a:defRPr>
                      </a:pPr>
                      <a:r>
                        <a:t>Thời gian tổng hợp báo cáo</a:t>
                      </a:r>
                    </a:p>
                  </a:txBody>
                  <a:tcPr anchor="ctr">
                    <a:solidFill>
                      <a:srgbClr val="FFFFFF"/>
                    </a:solidFill>
                  </a:tcPr>
                </a:tc>
                <a:tc>
                  <a:txBody>
                    <a:bodyPr/>
                    <a:lstStyle/>
                    <a:p>
                      <a:pPr>
                        <a:defRPr sz="1150">
                          <a:solidFill>
                            <a:srgbClr val="09090B"/>
                          </a:solidFill>
                          <a:latin typeface="Segoe UI"/>
                        </a:defRPr>
                      </a:pPr>
                      <a:r>
                        <a:t>Mất 2 – 3 ngày tổng hợp từ nhiều file Excel rời rạc.</a:t>
                      </a:r>
                    </a:p>
                  </a:txBody>
                  <a:tcPr anchor="ctr">
                    <a:solidFill>
                      <a:srgbClr val="FFFFFF"/>
                    </a:solidFill>
                  </a:tcPr>
                </a:tc>
                <a:tc>
                  <a:txBody>
                    <a:bodyPr/>
                    <a:lstStyle/>
                    <a:p>
                      <a:pPr>
                        <a:defRPr sz="1150" b="1">
                          <a:solidFill>
                            <a:srgbClr val="00377B"/>
                          </a:solidFill>
                          <a:latin typeface="Segoe UI"/>
                        </a:defRPr>
                      </a:pPr>
                      <a:r>
                        <a:t>Xuất báo cáo tức thì trong vài giây (Real-time).</a:t>
                      </a:r>
                    </a:p>
                  </a:txBody>
                  <a:tcPr anchor="ctr">
                    <a:solidFill>
                      <a:srgbClr val="E6EBF2"/>
                    </a:solidFill>
                  </a:tcPr>
                </a:tc>
              </a:tr>
              <a:tr h="950976">
                <a:tc>
                  <a:txBody>
                    <a:bodyPr/>
                    <a:lstStyle/>
                    <a:p>
                      <a:pPr>
                        <a:defRPr sz="1150">
                          <a:solidFill>
                            <a:srgbClr val="09090B"/>
                          </a:solidFill>
                          <a:latin typeface="Segoe UI"/>
                        </a:defRPr>
                      </a:pPr>
                      <a:r>
                        <a:t>Kiểm soát hạn Hợp đồng &amp; License</a:t>
                      </a:r>
                    </a:p>
                  </a:txBody>
                  <a:tcPr anchor="ctr">
                    <a:solidFill>
                      <a:srgbClr val="F8FAFC"/>
                    </a:solidFill>
                  </a:tcPr>
                </a:tc>
                <a:tc>
                  <a:txBody>
                    <a:bodyPr/>
                    <a:lstStyle/>
                    <a:p>
                      <a:pPr>
                        <a:defRPr sz="1150">
                          <a:solidFill>
                            <a:srgbClr val="09090B"/>
                          </a:solidFill>
                          <a:latin typeface="Segoe UI"/>
                        </a:defRPr>
                      </a:pPr>
                      <a:r>
                        <a:t>Thủ công, dễ quên hoặc phát hiện muộn khi đã hết hạn.</a:t>
                      </a:r>
                    </a:p>
                  </a:txBody>
                  <a:tcPr anchor="ctr">
                    <a:solidFill>
                      <a:srgbClr val="F8FAFC"/>
                    </a:solidFill>
                  </a:tcPr>
                </a:tc>
                <a:tc>
                  <a:txBody>
                    <a:bodyPr/>
                    <a:lstStyle/>
                    <a:p>
                      <a:pPr>
                        <a:defRPr sz="1150" b="1">
                          <a:solidFill>
                            <a:srgbClr val="00377B"/>
                          </a:solidFill>
                          <a:latin typeface="Segoe UI"/>
                        </a:defRPr>
                      </a:pPr>
                      <a:r>
                        <a:t>Hệ thống tự động cảnh báo trước 30 - 60 - 90 ngày.</a:t>
                      </a:r>
                    </a:p>
                  </a:txBody>
                  <a:tcPr anchor="ctr">
                    <a:solidFill>
                      <a:srgbClr val="E6EBF2"/>
                    </a:solidFill>
                  </a:tcPr>
                </a:tc>
              </a:tr>
              <a:tr h="950976">
                <a:tc>
                  <a:txBody>
                    <a:bodyPr/>
                    <a:lstStyle/>
                    <a:p>
                      <a:pPr>
                        <a:defRPr sz="1150">
                          <a:solidFill>
                            <a:srgbClr val="09090B"/>
                          </a:solidFill>
                          <a:latin typeface="Segoe UI"/>
                        </a:defRPr>
                      </a:pPr>
                      <a:r>
                        <a:t>Độ chính xác &amp; Nhất quán số liệu</a:t>
                      </a:r>
                    </a:p>
                  </a:txBody>
                  <a:tcPr anchor="ctr">
                    <a:solidFill>
                      <a:srgbClr val="FFFFFF"/>
                    </a:solidFill>
                  </a:tcPr>
                </a:tc>
                <a:tc>
                  <a:txBody>
                    <a:bodyPr/>
                    <a:lstStyle/>
                    <a:p>
                      <a:pPr>
                        <a:defRPr sz="1150">
                          <a:solidFill>
                            <a:srgbClr val="09090B"/>
                          </a:solidFill>
                          <a:latin typeface="Segoe UI"/>
                        </a:defRPr>
                      </a:pPr>
                      <a:r>
                        <a:t>Có nguy cơ sai lệch công thức, trùng lặp số liệu.</a:t>
                      </a:r>
                    </a:p>
                  </a:txBody>
                  <a:tcPr anchor="ctr">
                    <a:solidFill>
                      <a:srgbClr val="FFFFFF"/>
                    </a:solidFill>
                  </a:tcPr>
                </a:tc>
                <a:tc>
                  <a:txBody>
                    <a:bodyPr/>
                    <a:lstStyle/>
                    <a:p>
                      <a:pPr>
                        <a:defRPr sz="1150" b="1">
                          <a:solidFill>
                            <a:srgbClr val="00377B"/>
                          </a:solidFill>
                          <a:latin typeface="Segoe UI"/>
                        </a:defRPr>
                      </a:pPr>
                      <a:r>
                        <a:t>Chính xác 100%, ràng buộc quan hệ dữ liệu chặt chẽ.</a:t>
                      </a:r>
                    </a:p>
                  </a:txBody>
                  <a:tcPr anchor="ctr">
                    <a:solidFill>
                      <a:srgbClr val="E6EBF2"/>
                    </a:solidFill>
                  </a:tcPr>
                </a:tc>
              </a:tr>
              <a:tr h="950976">
                <a:tc>
                  <a:txBody>
                    <a:bodyPr/>
                    <a:lstStyle/>
                    <a:p>
                      <a:pPr>
                        <a:defRPr sz="1150">
                          <a:solidFill>
                            <a:srgbClr val="09090B"/>
                          </a:solidFill>
                          <a:latin typeface="Segoe UI"/>
                        </a:defRPr>
                      </a:pPr>
                      <a:r>
                        <a:t>Minh bạch &amp; Truy vết kiểm toán</a:t>
                      </a:r>
                    </a:p>
                  </a:txBody>
                  <a:tcPr anchor="ctr">
                    <a:solidFill>
                      <a:srgbClr val="F8FAFC"/>
                    </a:solidFill>
                  </a:tcPr>
                </a:tc>
                <a:tc>
                  <a:txBody>
                    <a:bodyPr/>
                    <a:lstStyle/>
                    <a:p>
                      <a:pPr>
                        <a:defRPr sz="1150">
                          <a:solidFill>
                            <a:srgbClr val="09090B"/>
                          </a:solidFill>
                          <a:latin typeface="Segoe UI"/>
                        </a:defRPr>
                      </a:pPr>
                      <a:r>
                        <a:t>Khó xác định ai đã chỉnh sửa số liệu trong file Excel.</a:t>
                      </a:r>
                    </a:p>
                  </a:txBody>
                  <a:tcPr anchor="ctr">
                    <a:solidFill>
                      <a:srgbClr val="F8FAFC"/>
                    </a:solidFill>
                  </a:tcPr>
                </a:tc>
                <a:tc>
                  <a:txBody>
                    <a:bodyPr/>
                    <a:lstStyle/>
                    <a:p>
                      <a:pPr>
                        <a:defRPr sz="1150" b="1">
                          <a:solidFill>
                            <a:srgbClr val="00377B"/>
                          </a:solidFill>
                          <a:latin typeface="Segoe UI"/>
                        </a:defRPr>
                      </a:pPr>
                      <a:r>
                        <a:t>Ghi vết chi tiết 100% lịch sử sửa đổi trong Audit Log.</a:t>
                      </a:r>
                    </a:p>
                  </a:txBody>
                  <a:tcPr anchor="ctr">
                    <a:solidFill>
                      <a:srgbClr val="E6EB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6. Kết Quả Nghiệm Thu &amp; Kế Hoạch Đưa Vào Vận Hành</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10698480" cy="1188720"/>
          </a:xfrm>
          <a:prstGeom prst="round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1005840"/>
          </a:xfrm>
          <a:prstGeom prst="rect">
            <a:avLst/>
          </a:prstGeom>
          <a:noFill/>
        </p:spPr>
        <p:txBody>
          <a:bodyPr wrap="square">
            <a:spAutoFit/>
          </a:bodyPr>
          <a:lstStyle/>
          <a:p>
            <a:pPr>
              <a:defRPr sz="1200" b="1">
                <a:solidFill>
                  <a:srgbClr val="0EA5E9"/>
                </a:solidFill>
                <a:latin typeface="Segoe UI"/>
              </a:defRPr>
            </a:pPr>
            <a:r>
              <a:t>KẾT QUẢ KIỂM THỬ KỸ THUẬT &amp; NGHIỆP VỤ (UAT)</a:t>
            </a:r>
          </a:p>
          <a:p>
            <a:pPr>
              <a:defRPr sz="1100">
                <a:solidFill>
                  <a:srgbClr val="FFFFFF"/>
                </a:solidFill>
                <a:latin typeface="Segoe UI"/>
              </a:defRPr>
            </a:pPr>
            <a:r>
              <a:t>✔ Backend &amp; Frontend hoàn thiện 100% chức năng • 0 Lỗi nghiêm trọng (0 Critical Bugs) • Tốc độ phản hồi trung bình &lt; 200ms • Đã kiểm định toàn bộ các mẫu báo cáo tài chính và xuất Excel.</a:t>
            </a:r>
          </a:p>
        </p:txBody>
      </p:sp>
      <p:sp>
        <p:nvSpPr>
          <p:cNvPr id="9" name="Rounded Rectangle 8"/>
          <p:cNvSpPr/>
          <p:nvPr/>
        </p:nvSpPr>
        <p:spPr>
          <a:xfrm>
            <a:off x="731520"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291840" cy="640080"/>
          </a:xfrm>
          <a:prstGeom prst="rect">
            <a:avLst/>
          </a:prstGeom>
          <a:noFill/>
        </p:spPr>
        <p:txBody>
          <a:bodyPr wrap="square">
            <a:spAutoFit/>
          </a:bodyPr>
          <a:lstStyle/>
          <a:p>
            <a:pPr>
              <a:defRPr sz="1000" b="1">
                <a:solidFill>
                  <a:srgbClr val="00377B"/>
                </a:solidFill>
                <a:latin typeface="Segoe UI"/>
              </a:defRPr>
            </a:pPr>
            <a:r>
              <a:t>GIAI ĐOẠN 1: ĐÀO TẠO &amp; CHUYỂN GIAO</a:t>
            </a:r>
          </a:p>
          <a:p>
            <a:pPr>
              <a:defRPr sz="950">
                <a:solidFill>
                  <a:srgbClr val="335F95"/>
                </a:solidFill>
                <a:latin typeface="Segoe UI"/>
              </a:defRPr>
            </a:pPr>
            <a:r>
              <a:t>Thời gian thực hiện: Tháng T+1</a:t>
            </a:r>
          </a:p>
        </p:txBody>
      </p:sp>
      <p:sp>
        <p:nvSpPr>
          <p:cNvPr id="12" name="TextBox 11"/>
          <p:cNvSpPr txBox="1"/>
          <p:nvPr/>
        </p:nvSpPr>
        <p:spPr>
          <a:xfrm>
            <a:off x="868680"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Tổ chức các buổi đào tạo trực tiếp và trực tuyến cho cán bộ phụ trách.</a:t>
            </a:r>
          </a:p>
          <a:p>
            <a:pPr>
              <a:spcAft>
                <a:spcPts val="600"/>
              </a:spcAft>
              <a:defRPr sz="1050">
                <a:solidFill>
                  <a:srgbClr val="09090B"/>
                </a:solidFill>
                <a:latin typeface="Segoe UI"/>
              </a:defRPr>
            </a:pPr>
            <a:r>
              <a:t>• Ban hành Bộ tài liệu Hướng dẫn sử dụng (User Manual) và Video demo.</a:t>
            </a:r>
          </a:p>
          <a:p>
            <a:pPr>
              <a:spcAft>
                <a:spcPts val="600"/>
              </a:spcAft>
              <a:defRPr sz="1050">
                <a:solidFill>
                  <a:srgbClr val="09090B"/>
                </a:solidFill>
                <a:latin typeface="Segoe UI"/>
              </a:defRPr>
            </a:pPr>
            <a:r>
              <a:t>• Thiết lập kênh hỗ trợ kỹ thuật trực tiếp (Hotline/Chat).</a:t>
            </a:r>
          </a:p>
        </p:txBody>
      </p:sp>
      <p:sp>
        <p:nvSpPr>
          <p:cNvPr id="13" name="Rounded Rectangle 12"/>
          <p:cNvSpPr/>
          <p:nvPr/>
        </p:nvSpPr>
        <p:spPr>
          <a:xfrm>
            <a:off x="4370832"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788920"/>
            <a:ext cx="3291840" cy="640080"/>
          </a:xfrm>
          <a:prstGeom prst="rect">
            <a:avLst/>
          </a:prstGeom>
          <a:noFill/>
        </p:spPr>
        <p:txBody>
          <a:bodyPr wrap="square">
            <a:spAutoFit/>
          </a:bodyPr>
          <a:lstStyle/>
          <a:p>
            <a:pPr>
              <a:defRPr sz="1000" b="1">
                <a:solidFill>
                  <a:srgbClr val="00377B"/>
                </a:solidFill>
                <a:latin typeface="Segoe UI"/>
              </a:defRPr>
            </a:pPr>
            <a:r>
              <a:t>GIAI ĐOẠN 2: CHUYỂN ĐỔI DỮ LIỆU</a:t>
            </a:r>
          </a:p>
          <a:p>
            <a:pPr>
              <a:defRPr sz="950">
                <a:solidFill>
                  <a:srgbClr val="335F95"/>
                </a:solidFill>
                <a:latin typeface="Segoe UI"/>
              </a:defRPr>
            </a:pPr>
            <a:r>
              <a:t>Thời gian thực hiện: Tháng T+1.5</a:t>
            </a:r>
          </a:p>
        </p:txBody>
      </p:sp>
      <p:sp>
        <p:nvSpPr>
          <p:cNvPr id="16" name="TextBox 15"/>
          <p:cNvSpPr txBox="1"/>
          <p:nvPr/>
        </p:nvSpPr>
        <p:spPr>
          <a:xfrm>
            <a:off x="4507992"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Import toàn bộ dữ liệu lịch sử các dự án, gói thầu, hợp đồng năm 2024 - 2026.</a:t>
            </a:r>
          </a:p>
          <a:p>
            <a:pPr>
              <a:spcAft>
                <a:spcPts val="600"/>
              </a:spcAft>
              <a:defRPr sz="1050">
                <a:solidFill>
                  <a:srgbClr val="09090B"/>
                </a:solidFill>
                <a:latin typeface="Segoe UI"/>
              </a:defRPr>
            </a:pPr>
            <a:r>
              <a:t>• Rà soát, chuẩn hóa danh mục đối tác/nhà thầu và mã số thuế.</a:t>
            </a:r>
          </a:p>
          <a:p>
            <a:pPr>
              <a:spcAft>
                <a:spcPts val="600"/>
              </a:spcAft>
              <a:defRPr sz="1050">
                <a:solidFill>
                  <a:srgbClr val="09090B"/>
                </a:solidFill>
                <a:latin typeface="Segoe UI"/>
              </a:defRPr>
            </a:pPr>
            <a:r>
              <a:t>• Đối soát số liệu giải ngân thực tế với phòng Kế toán.</a:t>
            </a:r>
          </a:p>
        </p:txBody>
      </p:sp>
      <p:sp>
        <p:nvSpPr>
          <p:cNvPr id="17" name="Rounded Rectangle 16"/>
          <p:cNvSpPr/>
          <p:nvPr/>
        </p:nvSpPr>
        <p:spPr>
          <a:xfrm>
            <a:off x="8010144" y="2743200"/>
            <a:ext cx="3474720" cy="3383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2743200"/>
            <a:ext cx="3474720" cy="731520"/>
          </a:xfrm>
          <a:prstGeom prst="rect">
            <a:avLst/>
          </a:prstGeom>
          <a:solidFill>
            <a:srgbClr val="E6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2788920"/>
            <a:ext cx="3291840" cy="640080"/>
          </a:xfrm>
          <a:prstGeom prst="rect">
            <a:avLst/>
          </a:prstGeom>
          <a:noFill/>
        </p:spPr>
        <p:txBody>
          <a:bodyPr wrap="square">
            <a:spAutoFit/>
          </a:bodyPr>
          <a:lstStyle/>
          <a:p>
            <a:pPr>
              <a:defRPr sz="1000" b="1">
                <a:solidFill>
                  <a:srgbClr val="00377B"/>
                </a:solidFill>
                <a:latin typeface="Segoe UI"/>
              </a:defRPr>
            </a:pPr>
            <a:r>
              <a:t>GIAI ĐOẠN 3: GO-LIVE CHÍNH THỨC</a:t>
            </a:r>
          </a:p>
          <a:p>
            <a:pPr>
              <a:defRPr sz="950">
                <a:solidFill>
                  <a:srgbClr val="335F95"/>
                </a:solidFill>
                <a:latin typeface="Segoe UI"/>
              </a:defRPr>
            </a:pPr>
            <a:r>
              <a:t>Thời gian thực hiện: Tháng T+2</a:t>
            </a:r>
          </a:p>
        </p:txBody>
      </p:sp>
      <p:sp>
        <p:nvSpPr>
          <p:cNvPr id="20" name="TextBox 19"/>
          <p:cNvSpPr txBox="1"/>
          <p:nvPr/>
        </p:nvSpPr>
        <p:spPr>
          <a:xfrm>
            <a:off x="8147304" y="3566160"/>
            <a:ext cx="3200400" cy="2468880"/>
          </a:xfrm>
          <a:prstGeom prst="rect">
            <a:avLst/>
          </a:prstGeom>
          <a:noFill/>
        </p:spPr>
        <p:txBody>
          <a:bodyPr wrap="square">
            <a:spAutoFit/>
          </a:bodyPr>
          <a:lstStyle/>
          <a:p>
            <a:pPr>
              <a:spcAft>
                <a:spcPts val="600"/>
              </a:spcAft>
              <a:defRPr sz="1050">
                <a:solidFill>
                  <a:srgbClr val="09090B"/>
                </a:solidFill>
                <a:latin typeface="Segoe UI"/>
              </a:defRPr>
            </a:pPr>
            <a:r>
              <a:t>• Chính thức đưa phần mềm vào vận hành khai thác toàn ngân hàng.</a:t>
            </a:r>
          </a:p>
          <a:p>
            <a:pPr>
              <a:spcAft>
                <a:spcPts val="600"/>
              </a:spcAft>
              <a:defRPr sz="1050">
                <a:solidFill>
                  <a:srgbClr val="09090B"/>
                </a:solidFill>
                <a:latin typeface="Segoe UI"/>
              </a:defRPr>
            </a:pPr>
            <a:r>
              <a:t>• Bắt buộc cập nhật tiến độ hợp đồng &amp; thanh toán trên hệ thống.</a:t>
            </a:r>
          </a:p>
          <a:p>
            <a:pPr>
              <a:spcAft>
                <a:spcPts val="600"/>
              </a:spcAft>
              <a:defRPr sz="1050">
                <a:solidFill>
                  <a:srgbClr val="09090B"/>
                </a:solidFill>
                <a:latin typeface="Segoe UI"/>
              </a:defRPr>
            </a:pPr>
            <a:r>
              <a:t>• Định kỳ tổng hợp báo cáo tự động trình Ban Lãnh đạo.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0EA5E9"/>
                </a:solidFill>
                <a:latin typeface="Segoe UI"/>
              </a:defRPr>
            </a:pPr>
            <a:r>
              <a:t>HỆ THỐNG QUẢN LÝ DỰ ÁN &amp; HỢP ĐỒNG CNTT | CO-OPBANK</a:t>
            </a:r>
          </a:p>
        </p:txBody>
      </p:sp>
      <p:sp>
        <p:nvSpPr>
          <p:cNvPr id="4" name="TextBox 3"/>
          <p:cNvSpPr txBox="1"/>
          <p:nvPr/>
        </p:nvSpPr>
        <p:spPr>
          <a:xfrm>
            <a:off x="731520" y="384048"/>
            <a:ext cx="10698480" cy="548640"/>
          </a:xfrm>
          <a:prstGeom prst="rect">
            <a:avLst/>
          </a:prstGeom>
          <a:noFill/>
        </p:spPr>
        <p:txBody>
          <a:bodyPr wrap="square">
            <a:spAutoFit/>
          </a:bodyPr>
          <a:lstStyle/>
          <a:p>
            <a:pPr>
              <a:defRPr sz="2200" b="1">
                <a:solidFill>
                  <a:srgbClr val="FFFFFF"/>
                </a:solidFill>
                <a:latin typeface="Segoe UI"/>
              </a:defRPr>
            </a:pPr>
            <a:r>
              <a:t>7. Đề Xuất Kiến Nghị &amp; Q&amp;A</a:t>
            </a:r>
          </a:p>
        </p:txBody>
      </p:sp>
      <p:sp>
        <p:nvSpPr>
          <p:cNvPr id="5" name="Rectangle 4"/>
          <p:cNvSpPr/>
          <p:nvPr/>
        </p:nvSpPr>
        <p:spPr>
          <a:xfrm>
            <a:off x="0" y="1051560"/>
            <a:ext cx="12191695"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698480" cy="320040"/>
          </a:xfrm>
          <a:prstGeom prst="rect">
            <a:avLst/>
          </a:prstGeom>
          <a:noFill/>
        </p:spPr>
        <p:txBody>
          <a:bodyPr wrap="none">
            <a:spAutoFit/>
          </a:bodyPr>
          <a:lstStyle/>
          <a:p>
            <a:pPr>
              <a:defRPr sz="950">
                <a:solidFill>
                  <a:srgbClr val="64748B"/>
                </a:solidFill>
                <a:latin typeface="Segoe UI"/>
              </a:defRPr>
            </a:pPr>
            <a:r>
              <a:t>Ngân hàng Hợp tác xã Việt Nam (Co-opBank) • Trung tâm Công nghệ Thông tin • Báo cáo Quản trị</a:t>
            </a:r>
          </a:p>
        </p:txBody>
      </p:sp>
      <p:sp>
        <p:nvSpPr>
          <p:cNvPr id="7" name="Rounded Rectangle 6"/>
          <p:cNvSpPr/>
          <p:nvPr/>
        </p:nvSpPr>
        <p:spPr>
          <a:xfrm>
            <a:off x="731520" y="1371600"/>
            <a:ext cx="6858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6309360" cy="4297680"/>
          </a:xfrm>
          <a:prstGeom prst="rect">
            <a:avLst/>
          </a:prstGeom>
          <a:noFill/>
        </p:spPr>
        <p:txBody>
          <a:bodyPr wrap="square">
            <a:spAutoFit/>
          </a:bodyPr>
          <a:lstStyle/>
          <a:p>
            <a:pPr>
              <a:spcAft>
                <a:spcPts val="1200"/>
              </a:spcAft>
              <a:defRPr sz="1300" b="1">
                <a:solidFill>
                  <a:srgbClr val="00377B"/>
                </a:solidFill>
                <a:latin typeface="Segoe UI"/>
              </a:defRPr>
            </a:pPr>
            <a:r>
              <a:t>ĐỀ XUẤT KIẾN NGHỊ BAN QUẢN TRỊ &amp; BAN GIÁM ĐỐC</a:t>
            </a:r>
          </a:p>
          <a:p>
            <a:pPr>
              <a:spcAft>
                <a:spcPts val="1200"/>
              </a:spcAft>
              <a:defRPr sz="1150">
                <a:solidFill>
                  <a:srgbClr val="09090B"/>
                </a:solidFill>
                <a:latin typeface="Segoe UI"/>
              </a:defRPr>
            </a:pPr>
            <a:r>
              <a:t>✔ 1. Phê duyệt Nghiệm thu: Chính thức phê duyệt nghiệm thu giai đoạn phát triển phần mềm Quản lý Dự án &amp; Hợp đồng.</a:t>
            </a:r>
          </a:p>
          <a:p>
            <a:pPr>
              <a:spcAft>
                <a:spcPts val="1200"/>
              </a:spcAft>
              <a:defRPr sz="1150">
                <a:solidFill>
                  <a:srgbClr val="09090B"/>
                </a:solidFill>
                <a:latin typeface="Segoe UI"/>
              </a:defRPr>
            </a:pPr>
            <a:r>
              <a:t>✔ 2. Ban hành Quy định Vận hành: Ban hành văn bản quy định trách nhiệm cập nhật và khai thác dữ liệu trên hệ thống đối với các phòng ban chuyên môn kể từ ngày Go-Live.</a:t>
            </a:r>
          </a:p>
          <a:p>
            <a:pPr>
              <a:spcAft>
                <a:spcPts val="1200"/>
              </a:spcAft>
              <a:defRPr sz="1150">
                <a:solidFill>
                  <a:srgbClr val="09090B"/>
                </a:solidFill>
                <a:latin typeface="Segoe UI"/>
              </a:defRPr>
            </a:pPr>
            <a:r>
              <a:t>✔ 3. Mở rộng Tích hợp Giai đoạn 2: Cho phép Trung tâm CNTT tiếp tục nghiên cứu mở rộng tích hợp thanh toán tự động với hệ thống Kế toán Tài chính / CoreBanking trong giai đoạn tiếp theo.</a:t>
            </a:r>
          </a:p>
        </p:txBody>
      </p:sp>
      <p:sp>
        <p:nvSpPr>
          <p:cNvPr id="9" name="Rounded Rectangle 8"/>
          <p:cNvSpPr/>
          <p:nvPr/>
        </p:nvSpPr>
        <p:spPr>
          <a:xfrm>
            <a:off x="7863840" y="1371600"/>
            <a:ext cx="3566160" cy="4754880"/>
          </a:xfrm>
          <a:prstGeom prst="roundRect">
            <a:avLst/>
          </a:prstGeom>
          <a:solidFill>
            <a:srgbClr val="003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474720"/>
          </a:xfrm>
          <a:prstGeom prst="rect">
            <a:avLst/>
          </a:prstGeom>
          <a:noFill/>
        </p:spPr>
        <p:txBody>
          <a:bodyPr wrap="square">
            <a:spAutoFit/>
          </a:bodyPr>
          <a:lstStyle/>
          <a:p>
            <a:pPr algn="ctr">
              <a:spcAft>
                <a:spcPts val="1400"/>
              </a:spcAft>
              <a:defRPr sz="1800" b="1">
                <a:solidFill>
                  <a:srgbClr val="0EA5E9"/>
                </a:solidFill>
                <a:latin typeface="Segoe UI"/>
              </a:defRPr>
            </a:pPr>
            <a:r>
              <a:t>XIN TRÂN TRỌNG CẢM ƠN!</a:t>
            </a:r>
          </a:p>
          <a:p>
            <a:pPr algn="ctr">
              <a:spcAft>
                <a:spcPts val="2000"/>
              </a:spcAft>
              <a:defRPr sz="1200">
                <a:solidFill>
                  <a:srgbClr val="FFFFFF"/>
                </a:solidFill>
                <a:latin typeface="Segoe UI"/>
              </a:defRPr>
            </a:pPr>
            <a:r>
              <a:t>Kính mong nhận được ý kiến chỉ đạo và đóng góp từ Ban Lãnh đạo!</a:t>
            </a:r>
          </a:p>
          <a:p>
            <a:pPr algn="ctr">
              <a:defRPr sz="1100" b="1">
                <a:solidFill>
                  <a:srgbClr val="E6EBF2"/>
                </a:solidFill>
                <a:latin typeface="Segoe UI"/>
              </a:defRPr>
            </a:pPr>
            <a:r>
              <a:t>--- PHIÊN HỎI &amp; ĐÁP (Q&amp;A)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