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_Picture_2_0.png"/>
          <p:cNvPicPr>
            <a:picLocks noChangeAspect="1"/>
          </p:cNvPicPr>
          <p:nvPr/>
        </p:nvPicPr>
        <p:blipFill>
          <a:blip r:embed="rId2"/>
          <a:stretch>
            <a:fillRect/>
          </a:stretch>
        </p:blipFill>
        <p:spPr>
          <a:xfrm>
            <a:off x="0" y="0"/>
            <a:ext cx="12191695" cy="6858000"/>
          </a:xfrm>
          <a:prstGeom prst="rect">
            <a:avLst/>
          </a:prstGeom>
        </p:spPr>
      </p:pic>
      <p:pic>
        <p:nvPicPr>
          <p:cNvPr id="3" name="Picture 2" descr="slide_1_Picture_11_1.jpg"/>
          <p:cNvPicPr>
            <a:picLocks noChangeAspect="1"/>
          </p:cNvPicPr>
          <p:nvPr/>
        </p:nvPicPr>
        <p:blipFill>
          <a:blip r:embed="rId3"/>
          <a:stretch>
            <a:fillRect/>
          </a:stretch>
        </p:blipFill>
        <p:spPr>
          <a:xfrm>
            <a:off x="4297680" y="777240"/>
            <a:ext cx="3593592" cy="749808"/>
          </a:xfrm>
          <a:prstGeom prst="rect">
            <a:avLst/>
          </a:prstGeom>
        </p:spPr>
      </p:pic>
      <p:sp>
        <p:nvSpPr>
          <p:cNvPr id="4" name="TextBox 3"/>
          <p:cNvSpPr txBox="1"/>
          <p:nvPr/>
        </p:nvSpPr>
        <p:spPr>
          <a:xfrm>
            <a:off x="731520" y="2011680"/>
            <a:ext cx="10728655" cy="2560320"/>
          </a:xfrm>
          <a:prstGeom prst="rect">
            <a:avLst/>
          </a:prstGeom>
          <a:noFill/>
        </p:spPr>
        <p:txBody>
          <a:bodyPr wrap="square">
            <a:spAutoFit/>
          </a:bodyPr>
          <a:lstStyle/>
          <a:p>
            <a:pPr algn="ctr">
              <a:defRPr sz="2800" b="1">
                <a:solidFill>
                  <a:srgbClr val="E5A118"/>
                </a:solidFill>
                <a:latin typeface="Segoe UI"/>
              </a:defRPr>
            </a:pPr>
            <a:r>
              <a:t>BÁO CÁO TIẾN ĐỘ</a:t>
            </a:r>
          </a:p>
          <a:p>
            <a:pPr algn="ctr">
              <a:spcBef>
                <a:spcPts val="800"/>
              </a:spcBef>
              <a:defRPr sz="3600" b="1">
                <a:solidFill>
                  <a:srgbClr val="006838"/>
                </a:solidFill>
                <a:latin typeface="Segoe UI"/>
              </a:defRPr>
            </a:pPr>
            <a:r>
              <a:t>WEBSITE QUẢN LÝ DỰ ÁN &amp; HỢP ĐỒNG</a:t>
            </a:r>
          </a:p>
          <a:p>
            <a:pPr algn="ctr">
              <a:spcBef>
                <a:spcPts val="1400"/>
              </a:spcBef>
              <a:defRPr sz="1800" b="1">
                <a:solidFill>
                  <a:srgbClr val="14281E"/>
                </a:solidFill>
                <a:latin typeface="Segoe UI"/>
              </a:defRPr>
            </a:pPr>
            <a:r>
              <a:t>Phòng Ứng Dụng Nội Bộ Và Kế Hoạch</a:t>
            </a:r>
          </a:p>
        </p:txBody>
      </p:sp>
      <p:sp>
        <p:nvSpPr>
          <p:cNvPr id="5" name="Rounded Rectangle 4"/>
          <p:cNvSpPr/>
          <p:nvPr/>
        </p:nvSpPr>
        <p:spPr>
          <a:xfrm>
            <a:off x="5175504" y="5212080"/>
            <a:ext cx="1828800" cy="50292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FFFFFF"/>
                </a:solidFill>
                <a:latin typeface="Segoe UI"/>
              </a:defRPr>
            </a:pPr>
            <a:r>
              <a:t>10 - 2026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NỘI DUNG TRÌNH BÀY (AGENDA)</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02</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188720"/>
            <a:ext cx="10728655" cy="86868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353312"/>
            <a:ext cx="777240" cy="530352"/>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01</a:t>
            </a:r>
          </a:p>
        </p:txBody>
      </p:sp>
      <p:sp>
        <p:nvSpPr>
          <p:cNvPr id="8" name="TextBox 7"/>
          <p:cNvSpPr txBox="1"/>
          <p:nvPr/>
        </p:nvSpPr>
        <p:spPr>
          <a:xfrm>
            <a:off x="1920240" y="1280160"/>
            <a:ext cx="9326880" cy="685800"/>
          </a:xfrm>
          <a:prstGeom prst="rect">
            <a:avLst/>
          </a:prstGeom>
          <a:noFill/>
        </p:spPr>
        <p:txBody>
          <a:bodyPr wrap="square" tIns="0" bIns="0" lIns="0" rIns="0">
            <a:spAutoFit/>
          </a:bodyPr>
          <a:lstStyle/>
          <a:p>
            <a:pPr>
              <a:defRPr sz="1400" b="1">
                <a:solidFill>
                  <a:srgbClr val="006838"/>
                </a:solidFill>
                <a:latin typeface="Segoe UI"/>
              </a:defRPr>
            </a:pPr>
            <a:r>
              <a:t>ĐẶT VẤN ĐỀ &amp; MỤC TIÊU HỆ THỐNG</a:t>
            </a:r>
          </a:p>
          <a:p>
            <a:pPr>
              <a:spcBef>
                <a:spcPts val="300"/>
              </a:spcBef>
              <a:defRPr sz="1150">
                <a:solidFill>
                  <a:srgbClr val="505F58"/>
                </a:solidFill>
                <a:latin typeface="Segoe UI"/>
              </a:defRPr>
            </a:pPr>
            <a:r>
              <a:t>Thực trạng quản lý dữ liệu rải rác &amp; mục tiêu chuẩn hoá tập trung</a:t>
            </a:r>
          </a:p>
        </p:txBody>
      </p:sp>
      <p:sp>
        <p:nvSpPr>
          <p:cNvPr id="9" name="Rounded Rectangle 8"/>
          <p:cNvSpPr/>
          <p:nvPr/>
        </p:nvSpPr>
        <p:spPr>
          <a:xfrm>
            <a:off x="731520" y="2194560"/>
            <a:ext cx="10728655" cy="86868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960120" y="2359152"/>
            <a:ext cx="777240" cy="530352"/>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02</a:t>
            </a:r>
          </a:p>
        </p:txBody>
      </p:sp>
      <p:sp>
        <p:nvSpPr>
          <p:cNvPr id="11" name="TextBox 10"/>
          <p:cNvSpPr txBox="1"/>
          <p:nvPr/>
        </p:nvSpPr>
        <p:spPr>
          <a:xfrm>
            <a:off x="1920240" y="2286000"/>
            <a:ext cx="9326880" cy="685800"/>
          </a:xfrm>
          <a:prstGeom prst="rect">
            <a:avLst/>
          </a:prstGeom>
          <a:noFill/>
        </p:spPr>
        <p:txBody>
          <a:bodyPr wrap="square" tIns="0" bIns="0" lIns="0" rIns="0">
            <a:spAutoFit/>
          </a:bodyPr>
          <a:lstStyle/>
          <a:p>
            <a:pPr>
              <a:defRPr sz="1400" b="1">
                <a:solidFill>
                  <a:srgbClr val="006838"/>
                </a:solidFill>
                <a:latin typeface="Segoe UI"/>
              </a:defRPr>
            </a:pPr>
            <a:r>
              <a:t>ĐĂNG NHẬP &amp; XÁC THỰC SSO TẬP TRUNG</a:t>
            </a:r>
          </a:p>
          <a:p>
            <a:pPr>
              <a:spcBef>
                <a:spcPts val="300"/>
              </a:spcBef>
              <a:defRPr sz="1150">
                <a:solidFill>
                  <a:srgbClr val="505F58"/>
                </a:solidFill>
                <a:latin typeface="Segoe UI"/>
              </a:defRPr>
            </a:pPr>
            <a:r>
              <a:t>Chuyển đổi phương án Radius sang cơ chế Single Sign-On bảo mật cao</a:t>
            </a:r>
          </a:p>
        </p:txBody>
      </p:sp>
      <p:sp>
        <p:nvSpPr>
          <p:cNvPr id="12" name="Rounded Rectangle 11"/>
          <p:cNvSpPr/>
          <p:nvPr/>
        </p:nvSpPr>
        <p:spPr>
          <a:xfrm>
            <a:off x="731520" y="3200400"/>
            <a:ext cx="10728655" cy="86868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0120" y="3364992"/>
            <a:ext cx="777240" cy="530352"/>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03</a:t>
            </a:r>
          </a:p>
        </p:txBody>
      </p:sp>
      <p:sp>
        <p:nvSpPr>
          <p:cNvPr id="14" name="TextBox 13"/>
          <p:cNvSpPr txBox="1"/>
          <p:nvPr/>
        </p:nvSpPr>
        <p:spPr>
          <a:xfrm>
            <a:off x="1920240" y="3291840"/>
            <a:ext cx="9326880" cy="685800"/>
          </a:xfrm>
          <a:prstGeom prst="rect">
            <a:avLst/>
          </a:prstGeom>
          <a:noFill/>
        </p:spPr>
        <p:txBody>
          <a:bodyPr wrap="square" tIns="0" bIns="0" lIns="0" rIns="0">
            <a:spAutoFit/>
          </a:bodyPr>
          <a:lstStyle/>
          <a:p>
            <a:pPr>
              <a:defRPr sz="1400" b="1">
                <a:solidFill>
                  <a:srgbClr val="006838"/>
                </a:solidFill>
                <a:latin typeface="Segoe UI"/>
              </a:defRPr>
            </a:pPr>
            <a:r>
              <a:t>CÁC PHÂN HỆ NGHIỆP VỤ CỐT LÕI</a:t>
            </a:r>
          </a:p>
          <a:p>
            <a:pPr>
              <a:spcBef>
                <a:spcPts val="300"/>
              </a:spcBef>
              <a:defRPr sz="1150">
                <a:solidFill>
                  <a:srgbClr val="505F58"/>
                </a:solidFill>
                <a:latin typeface="Segoe UI"/>
              </a:defRPr>
            </a:pPr>
            <a:r>
              <a:t>Kế hoạch vốn, Hồ sơ Dự án, Gói thầu, Hợp đồng &amp; Giám sát giải ngân</a:t>
            </a:r>
          </a:p>
        </p:txBody>
      </p:sp>
      <p:sp>
        <p:nvSpPr>
          <p:cNvPr id="15" name="Rounded Rectangle 14"/>
          <p:cNvSpPr/>
          <p:nvPr/>
        </p:nvSpPr>
        <p:spPr>
          <a:xfrm>
            <a:off x="731520" y="4206240"/>
            <a:ext cx="10728655" cy="86868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60120" y="4370832"/>
            <a:ext cx="777240" cy="530352"/>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04</a:t>
            </a:r>
          </a:p>
        </p:txBody>
      </p:sp>
      <p:sp>
        <p:nvSpPr>
          <p:cNvPr id="17" name="TextBox 16"/>
          <p:cNvSpPr txBox="1"/>
          <p:nvPr/>
        </p:nvSpPr>
        <p:spPr>
          <a:xfrm>
            <a:off x="1920240" y="4297680"/>
            <a:ext cx="9326880" cy="685800"/>
          </a:xfrm>
          <a:prstGeom prst="rect">
            <a:avLst/>
          </a:prstGeom>
          <a:noFill/>
        </p:spPr>
        <p:txBody>
          <a:bodyPr wrap="square" tIns="0" bIns="0" lIns="0" rIns="0">
            <a:spAutoFit/>
          </a:bodyPr>
          <a:lstStyle/>
          <a:p>
            <a:pPr>
              <a:defRPr sz="1400" b="1">
                <a:solidFill>
                  <a:srgbClr val="006838"/>
                </a:solidFill>
                <a:latin typeface="Segoe UI"/>
              </a:defRPr>
            </a:pPr>
            <a:r>
              <a:t>TRUNG TÂM CẢNH BÁO NHẮC HẠN TỰ ĐỘNG</a:t>
            </a:r>
          </a:p>
          <a:p>
            <a:pPr>
              <a:spcBef>
                <a:spcPts val="300"/>
              </a:spcBef>
              <a:defRPr sz="1150">
                <a:solidFill>
                  <a:srgbClr val="505F58"/>
                </a:solidFill>
                <a:latin typeface="Segoe UI"/>
              </a:defRPr>
            </a:pPr>
            <a:r>
              <a:t>Theo dõi hạn hiệu lực hợp đồng, bảo lãnh thực hiện HĐ &amp; mốc thanh toán</a:t>
            </a:r>
          </a:p>
        </p:txBody>
      </p:sp>
      <p:sp>
        <p:nvSpPr>
          <p:cNvPr id="18" name="Rounded Rectangle 17"/>
          <p:cNvSpPr/>
          <p:nvPr/>
        </p:nvSpPr>
        <p:spPr>
          <a:xfrm>
            <a:off x="731520" y="5212080"/>
            <a:ext cx="10728655" cy="86868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 y="5376672"/>
            <a:ext cx="777240" cy="530352"/>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FFFFFF"/>
                </a:solidFill>
                <a:latin typeface="Segoe UI"/>
              </a:defRPr>
            </a:pPr>
            <a:r>
              <a:t>05</a:t>
            </a:r>
          </a:p>
        </p:txBody>
      </p:sp>
      <p:sp>
        <p:nvSpPr>
          <p:cNvPr id="20" name="TextBox 19"/>
          <p:cNvSpPr txBox="1"/>
          <p:nvPr/>
        </p:nvSpPr>
        <p:spPr>
          <a:xfrm>
            <a:off x="1920240" y="5303520"/>
            <a:ext cx="9326880" cy="685800"/>
          </a:xfrm>
          <a:prstGeom prst="rect">
            <a:avLst/>
          </a:prstGeom>
          <a:noFill/>
        </p:spPr>
        <p:txBody>
          <a:bodyPr wrap="square" tIns="0" bIns="0" lIns="0" rIns="0">
            <a:spAutoFit/>
          </a:bodyPr>
          <a:lstStyle/>
          <a:p>
            <a:pPr>
              <a:defRPr sz="1400" b="1">
                <a:solidFill>
                  <a:srgbClr val="006838"/>
                </a:solidFill>
                <a:latin typeface="Segoe UI"/>
              </a:defRPr>
            </a:pPr>
            <a:r>
              <a:t>HỆ THỐNG BÁO CÁO &amp; XUẤT DỮ LIỆU</a:t>
            </a:r>
          </a:p>
          <a:p>
            <a:pPr>
              <a:spcBef>
                <a:spcPts val="300"/>
              </a:spcBef>
              <a:defRPr sz="1150">
                <a:solidFill>
                  <a:srgbClr val="505F58"/>
                </a:solidFill>
                <a:latin typeface="Segoe UI"/>
              </a:defRPr>
            </a:pPr>
            <a:r>
              <a:t>Danh mục 6 mẫu báo cáo phân bổ vốn, tiến độ, giải ngân và đối soát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ĐẶT VẤN ĐỀ: THỰC TRẠNG &amp; MỤC TIÊU</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03</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188720"/>
            <a:ext cx="5166360" cy="5166360"/>
          </a:xfrm>
          <a:prstGeom prst="roundRect">
            <a:avLst/>
          </a:prstGeom>
          <a:solidFill>
            <a:srgbClr val="FFFFFF"/>
          </a:solidFill>
          <a:ln w="19050">
            <a:solidFill>
              <a:srgbClr val="FECAC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371600"/>
            <a:ext cx="4709160" cy="502920"/>
          </a:xfrm>
          <a:prstGeom prst="roundRect">
            <a:avLst/>
          </a:prstGeom>
          <a:solidFill>
            <a:srgbClr val="FEF2F2"/>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B91C1C"/>
                </a:solidFill>
                <a:latin typeface="Segoe UI"/>
              </a:defRPr>
            </a:pPr>
            <a:r>
              <a:t>⚠️  THỰC TRẠNG QUẢN LÝ</a:t>
            </a:r>
          </a:p>
        </p:txBody>
      </p:sp>
      <p:sp>
        <p:nvSpPr>
          <p:cNvPr id="8" name="TextBox 7"/>
          <p:cNvSpPr txBox="1"/>
          <p:nvPr/>
        </p:nvSpPr>
        <p:spPr>
          <a:xfrm>
            <a:off x="960120" y="2011680"/>
            <a:ext cx="4709160" cy="4114800"/>
          </a:xfrm>
          <a:prstGeom prst="rect">
            <a:avLst/>
          </a:prstGeom>
          <a:noFill/>
        </p:spPr>
        <p:txBody>
          <a:bodyPr wrap="square">
            <a:spAutoFit/>
          </a:bodyPr>
          <a:lstStyle/>
          <a:p>
            <a:pPr>
              <a:defRPr sz="1150">
                <a:solidFill>
                  <a:srgbClr val="14281E"/>
                </a:solidFill>
                <a:latin typeface="Segoe UI"/>
              </a:defRPr>
            </a:pPr>
            <a:r>
              <a:t>• Dữ liệu phân mảnh: Thông tin dự án, gói thầu và hợp đồng lưu trữ rải rác ở văn bản giấy và thư mục riêng của từng cán bộ.</a:t>
            </a:r>
          </a:p>
          <a:p>
            <a:pPr>
              <a:spcBef>
                <a:spcPts val="1200"/>
              </a:spcBef>
              <a:defRPr sz="1150">
                <a:solidFill>
                  <a:srgbClr val="14281E"/>
                </a:solidFill>
                <a:latin typeface="Segoe UI"/>
              </a:defRPr>
            </a:pPr>
            <a:r>
              <a:t>• Khó kiểm soát mốc trọng yếu: Khó kiểm soát tức thời các mốc thời gian trọng yếu (thời hạn hiệu lực, hạn bảo lãnh thực hiện hợp đồng, hạn bảo hành, các mốc nghiệm thu).</a:t>
            </a:r>
          </a:p>
          <a:p>
            <a:pPr>
              <a:spcBef>
                <a:spcPts val="1200"/>
              </a:spcBef>
              <a:defRPr sz="1150">
                <a:solidFill>
                  <a:srgbClr val="14281E"/>
                </a:solidFill>
                <a:latin typeface="Segoe UI"/>
              </a:defRPr>
            </a:pPr>
            <a:r>
              <a:t>• Thiếu liên kết dòng tiền: Dữ liệu về giá trị hợp đồng, số tiền tạm ứng, giải ngân và nghĩa vụ thanh toán chưa được liên kết trực tiếp theo thời gian thực với từng gói thầu/dự án.</a:t>
            </a:r>
          </a:p>
        </p:txBody>
      </p:sp>
      <p:sp>
        <p:nvSpPr>
          <p:cNvPr id="9" name="Rounded Rectangle 8"/>
          <p:cNvSpPr/>
          <p:nvPr/>
        </p:nvSpPr>
        <p:spPr>
          <a:xfrm>
            <a:off x="6291072" y="1188720"/>
            <a:ext cx="5166360" cy="5166360"/>
          </a:xfrm>
          <a:prstGeom prst="roundRect">
            <a:avLst/>
          </a:prstGeom>
          <a:solidFill>
            <a:srgbClr val="FFFFFF"/>
          </a:solidFill>
          <a:ln w="1905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19672" y="1371600"/>
            <a:ext cx="4709160" cy="5029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006838"/>
                </a:solidFill>
                <a:latin typeface="Segoe UI"/>
              </a:defRPr>
            </a:pPr>
            <a:r>
              <a:t>🎯  MỤC TIÊU HỆ THỐNG</a:t>
            </a:r>
          </a:p>
        </p:txBody>
      </p:sp>
      <p:sp>
        <p:nvSpPr>
          <p:cNvPr id="11" name="TextBox 10"/>
          <p:cNvSpPr txBox="1"/>
          <p:nvPr/>
        </p:nvSpPr>
        <p:spPr>
          <a:xfrm>
            <a:off x="6519672" y="2011680"/>
            <a:ext cx="4709160" cy="4114800"/>
          </a:xfrm>
          <a:prstGeom prst="rect">
            <a:avLst/>
          </a:prstGeom>
          <a:noFill/>
        </p:spPr>
        <p:txBody>
          <a:bodyPr wrap="square">
            <a:spAutoFit/>
          </a:bodyPr>
          <a:lstStyle/>
          <a:p>
            <a:pPr>
              <a:defRPr sz="1150">
                <a:solidFill>
                  <a:srgbClr val="006838"/>
                </a:solidFill>
                <a:latin typeface="Segoe UI"/>
              </a:defRPr>
            </a:pPr>
            <a:r>
              <a:t>✔ Tập trung dữ liệu: Gom toàn bộ dữ liệu của dự án về một nơi duy nhất.</a:t>
            </a:r>
          </a:p>
          <a:p>
            <a:pPr>
              <a:spcBef>
                <a:spcPts val="1200"/>
              </a:spcBef>
              <a:defRPr sz="1150">
                <a:solidFill>
                  <a:srgbClr val="006838"/>
                </a:solidFill>
                <a:latin typeface="Segoe UI"/>
              </a:defRPr>
            </a:pPr>
            <a:r>
              <a:t>✔ Vòng đời trọn vẹn: Theo dõi toàn diện vòng đời của một dự án từ đầu tư đến thanh quyết toán.</a:t>
            </a:r>
          </a:p>
          <a:p>
            <a:pPr>
              <a:spcBef>
                <a:spcPts val="1200"/>
              </a:spcBef>
              <a:defRPr sz="1150">
                <a:solidFill>
                  <a:srgbClr val="006838"/>
                </a:solidFill>
                <a:latin typeface="Segoe UI"/>
              </a:defRPr>
            </a:pPr>
            <a:r>
              <a:t>✔ Nhắc nhở tự động: Nhắc nhở tự động về các thời hạn của hợp đồng, đợt thanh toán, hàng hoá dịch vụ.</a:t>
            </a:r>
          </a:p>
          <a:p>
            <a:pPr>
              <a:spcBef>
                <a:spcPts val="1200"/>
              </a:spcBef>
              <a:defRPr sz="1150">
                <a:solidFill>
                  <a:srgbClr val="006838"/>
                </a:solidFill>
                <a:latin typeface="Segoe UI"/>
              </a:defRPr>
            </a:pPr>
            <a:r>
              <a:t>✔ Đối soát tức thời: Giúp tra cứu dữ liệu và đối soát nhanh chóng, chính xác.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CÁC PHÂN HỆ CHÍNH CỦA PHẦN MỀM</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04</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1993392" cy="5029200"/>
          </a:xfrm>
          <a:prstGeom prst="roundRect">
            <a:avLst/>
          </a:prstGeom>
          <a:solidFill>
            <a:srgbClr val="FFFFFF"/>
          </a:solidFill>
          <a:ln w="1905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96112" y="1508760"/>
            <a:ext cx="1664208" cy="502920"/>
          </a:xfrm>
          <a:prstGeom prst="roundRect">
            <a:avLst/>
          </a:prstGeom>
          <a:solidFill>
            <a:srgbClr val="006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PHÂN HỆ 1</a:t>
            </a:r>
          </a:p>
        </p:txBody>
      </p:sp>
      <p:sp>
        <p:nvSpPr>
          <p:cNvPr id="8" name="TextBox 7"/>
          <p:cNvSpPr txBox="1"/>
          <p:nvPr/>
        </p:nvSpPr>
        <p:spPr>
          <a:xfrm>
            <a:off x="841248" y="2148840"/>
            <a:ext cx="1773936" cy="1463040"/>
          </a:xfrm>
          <a:prstGeom prst="rect">
            <a:avLst/>
          </a:prstGeom>
          <a:noFill/>
        </p:spPr>
        <p:txBody>
          <a:bodyPr wrap="square">
            <a:spAutoFit/>
          </a:bodyPr>
          <a:lstStyle/>
          <a:p>
            <a:pPr algn="ctr">
              <a:defRPr sz="1200" b="1">
                <a:solidFill>
                  <a:srgbClr val="006838"/>
                </a:solidFill>
                <a:latin typeface="Segoe UI"/>
              </a:defRPr>
            </a:pPr>
            <a:r>
              <a:t>QUẢN LÝ KẾ HOẠCH VỐN &amp; DỰ ÁN</a:t>
            </a:r>
          </a:p>
        </p:txBody>
      </p:sp>
      <p:sp>
        <p:nvSpPr>
          <p:cNvPr id="9" name="TextBox 8"/>
          <p:cNvSpPr txBox="1"/>
          <p:nvPr/>
        </p:nvSpPr>
        <p:spPr>
          <a:xfrm>
            <a:off x="868680" y="3749039"/>
            <a:ext cx="1719072" cy="2286000"/>
          </a:xfrm>
          <a:prstGeom prst="rect">
            <a:avLst/>
          </a:prstGeom>
          <a:noFill/>
        </p:spPr>
        <p:txBody>
          <a:bodyPr wrap="square">
            <a:spAutoFit/>
          </a:bodyPr>
          <a:lstStyle/>
          <a:p>
            <a:pPr algn="ctr">
              <a:defRPr sz="1100">
                <a:solidFill>
                  <a:srgbClr val="505F58"/>
                </a:solidFill>
                <a:latin typeface="Segoe UI"/>
              </a:defRPr>
            </a:pPr>
            <a:r>
              <a:t>Lập, phân bổ hạn mức và số hoá toàn diện hồ sơ dự án</a:t>
            </a:r>
          </a:p>
        </p:txBody>
      </p:sp>
      <p:sp>
        <p:nvSpPr>
          <p:cNvPr id="10" name="Rounded Rectangle 9"/>
          <p:cNvSpPr/>
          <p:nvPr/>
        </p:nvSpPr>
        <p:spPr>
          <a:xfrm>
            <a:off x="2907792" y="1280160"/>
            <a:ext cx="1993392" cy="5029200"/>
          </a:xfrm>
          <a:prstGeom prst="roundRect">
            <a:avLst/>
          </a:prstGeom>
          <a:solidFill>
            <a:srgbClr val="FFFFFF"/>
          </a:solidFill>
          <a:ln w="1270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72384" y="1508760"/>
            <a:ext cx="1664208" cy="50292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PHÂN HỆ 2</a:t>
            </a:r>
          </a:p>
        </p:txBody>
      </p:sp>
      <p:sp>
        <p:nvSpPr>
          <p:cNvPr id="12" name="TextBox 11"/>
          <p:cNvSpPr txBox="1"/>
          <p:nvPr/>
        </p:nvSpPr>
        <p:spPr>
          <a:xfrm>
            <a:off x="3017520" y="2148840"/>
            <a:ext cx="1773936" cy="1463040"/>
          </a:xfrm>
          <a:prstGeom prst="rect">
            <a:avLst/>
          </a:prstGeom>
          <a:noFill/>
        </p:spPr>
        <p:txBody>
          <a:bodyPr wrap="square">
            <a:spAutoFit/>
          </a:bodyPr>
          <a:lstStyle/>
          <a:p>
            <a:pPr algn="ctr">
              <a:defRPr sz="1200" b="1">
                <a:solidFill>
                  <a:srgbClr val="006838"/>
                </a:solidFill>
                <a:latin typeface="Segoe UI"/>
              </a:defRPr>
            </a:pPr>
            <a:r>
              <a:t>QUẢN LÝ GÓI THẦU &amp; HỢP ĐỒNG</a:t>
            </a:r>
          </a:p>
        </p:txBody>
      </p:sp>
      <p:sp>
        <p:nvSpPr>
          <p:cNvPr id="13" name="TextBox 12"/>
          <p:cNvSpPr txBox="1"/>
          <p:nvPr/>
        </p:nvSpPr>
        <p:spPr>
          <a:xfrm>
            <a:off x="3044952" y="3749039"/>
            <a:ext cx="1719072" cy="2286000"/>
          </a:xfrm>
          <a:prstGeom prst="rect">
            <a:avLst/>
          </a:prstGeom>
          <a:noFill/>
        </p:spPr>
        <p:txBody>
          <a:bodyPr wrap="square">
            <a:spAutoFit/>
          </a:bodyPr>
          <a:lstStyle/>
          <a:p>
            <a:pPr algn="ctr">
              <a:defRPr sz="1100">
                <a:solidFill>
                  <a:srgbClr val="505F58"/>
                </a:solidFill>
                <a:latin typeface="Segoe UI"/>
              </a:defRPr>
            </a:pPr>
            <a:r>
              <a:t>Quản lý LCNT, giá trị ký kết, tiến độ thực hiện và hàng hoá dịch vụ</a:t>
            </a:r>
          </a:p>
        </p:txBody>
      </p:sp>
      <p:sp>
        <p:nvSpPr>
          <p:cNvPr id="14" name="Rounded Rectangle 13"/>
          <p:cNvSpPr/>
          <p:nvPr/>
        </p:nvSpPr>
        <p:spPr>
          <a:xfrm>
            <a:off x="5084064" y="1280160"/>
            <a:ext cx="1993392" cy="5029200"/>
          </a:xfrm>
          <a:prstGeom prst="roundRect">
            <a:avLst/>
          </a:prstGeom>
          <a:solidFill>
            <a:srgbClr val="FFFFFF"/>
          </a:solidFill>
          <a:ln w="1270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248656" y="1508760"/>
            <a:ext cx="1664208" cy="502920"/>
          </a:xfrm>
          <a:prstGeom prst="roundRect">
            <a:avLst/>
          </a:prstGeom>
          <a:solidFill>
            <a:srgbClr val="006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PHÂN HỆ 3</a:t>
            </a:r>
          </a:p>
        </p:txBody>
      </p:sp>
      <p:sp>
        <p:nvSpPr>
          <p:cNvPr id="16" name="TextBox 15"/>
          <p:cNvSpPr txBox="1"/>
          <p:nvPr/>
        </p:nvSpPr>
        <p:spPr>
          <a:xfrm>
            <a:off x="5193792" y="2148840"/>
            <a:ext cx="1773936" cy="1463040"/>
          </a:xfrm>
          <a:prstGeom prst="rect">
            <a:avLst/>
          </a:prstGeom>
          <a:noFill/>
        </p:spPr>
        <p:txBody>
          <a:bodyPr wrap="square">
            <a:spAutoFit/>
          </a:bodyPr>
          <a:lstStyle/>
          <a:p>
            <a:pPr algn="ctr">
              <a:defRPr sz="1200" b="1">
                <a:solidFill>
                  <a:srgbClr val="006838"/>
                </a:solidFill>
                <a:latin typeface="Segoe UI"/>
              </a:defRPr>
            </a:pPr>
            <a:r>
              <a:t>GIẢI NGÂN &amp; TIẾN ĐỘ THANH TOÁN</a:t>
            </a:r>
          </a:p>
        </p:txBody>
      </p:sp>
      <p:sp>
        <p:nvSpPr>
          <p:cNvPr id="17" name="TextBox 16"/>
          <p:cNvSpPr txBox="1"/>
          <p:nvPr/>
        </p:nvSpPr>
        <p:spPr>
          <a:xfrm>
            <a:off x="5221224" y="3749039"/>
            <a:ext cx="1719072" cy="2286000"/>
          </a:xfrm>
          <a:prstGeom prst="rect">
            <a:avLst/>
          </a:prstGeom>
          <a:noFill/>
        </p:spPr>
        <p:txBody>
          <a:bodyPr wrap="square">
            <a:spAutoFit/>
          </a:bodyPr>
          <a:lstStyle/>
          <a:p>
            <a:pPr algn="ctr">
              <a:defRPr sz="1100">
                <a:solidFill>
                  <a:srgbClr val="505F58"/>
                </a:solidFill>
                <a:latin typeface="Segoe UI"/>
              </a:defRPr>
            </a:pPr>
            <a:r>
              <a:t>Lập lịch trình thanh toán, theo dõi giá trị thực chi và đối soát 3 chiều</a:t>
            </a:r>
          </a:p>
        </p:txBody>
      </p:sp>
      <p:sp>
        <p:nvSpPr>
          <p:cNvPr id="18" name="Rounded Rectangle 17"/>
          <p:cNvSpPr/>
          <p:nvPr/>
        </p:nvSpPr>
        <p:spPr>
          <a:xfrm>
            <a:off x="7260336" y="1280160"/>
            <a:ext cx="1993392" cy="5029200"/>
          </a:xfrm>
          <a:prstGeom prst="roundRect">
            <a:avLst/>
          </a:prstGeom>
          <a:solidFill>
            <a:srgbClr val="FFFFFF"/>
          </a:solidFill>
          <a:ln w="1270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424928" y="1508760"/>
            <a:ext cx="1664208" cy="50292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PHÂN HỆ 4</a:t>
            </a:r>
          </a:p>
        </p:txBody>
      </p:sp>
      <p:sp>
        <p:nvSpPr>
          <p:cNvPr id="20" name="TextBox 19"/>
          <p:cNvSpPr txBox="1"/>
          <p:nvPr/>
        </p:nvSpPr>
        <p:spPr>
          <a:xfrm>
            <a:off x="7370064" y="2148840"/>
            <a:ext cx="1773936" cy="1463040"/>
          </a:xfrm>
          <a:prstGeom prst="rect">
            <a:avLst/>
          </a:prstGeom>
          <a:noFill/>
        </p:spPr>
        <p:txBody>
          <a:bodyPr wrap="square">
            <a:spAutoFit/>
          </a:bodyPr>
          <a:lstStyle/>
          <a:p>
            <a:pPr algn="ctr">
              <a:defRPr sz="1200" b="1">
                <a:solidFill>
                  <a:srgbClr val="006838"/>
                </a:solidFill>
                <a:latin typeface="Segoe UI"/>
              </a:defRPr>
            </a:pPr>
            <a:r>
              <a:t>CẢNH BÁO NHẮC HẠN TỰ ĐỘNG</a:t>
            </a:r>
          </a:p>
        </p:txBody>
      </p:sp>
      <p:sp>
        <p:nvSpPr>
          <p:cNvPr id="21" name="TextBox 20"/>
          <p:cNvSpPr txBox="1"/>
          <p:nvPr/>
        </p:nvSpPr>
        <p:spPr>
          <a:xfrm>
            <a:off x="7397496" y="3749039"/>
            <a:ext cx="1719072" cy="2286000"/>
          </a:xfrm>
          <a:prstGeom prst="rect">
            <a:avLst/>
          </a:prstGeom>
          <a:noFill/>
        </p:spPr>
        <p:txBody>
          <a:bodyPr wrap="square">
            <a:spAutoFit/>
          </a:bodyPr>
          <a:lstStyle/>
          <a:p>
            <a:pPr algn="ctr">
              <a:defRPr sz="1100">
                <a:solidFill>
                  <a:srgbClr val="505F58"/>
                </a:solidFill>
                <a:latin typeface="Segoe UI"/>
              </a:defRPr>
            </a:pPr>
            <a:r>
              <a:t>Chủ động gửi cảnh báo hợp đồng, đợt thanh toán và tiến độ chậm</a:t>
            </a:r>
          </a:p>
        </p:txBody>
      </p:sp>
      <p:sp>
        <p:nvSpPr>
          <p:cNvPr id="22" name="Rounded Rectangle 21"/>
          <p:cNvSpPr/>
          <p:nvPr/>
        </p:nvSpPr>
        <p:spPr>
          <a:xfrm>
            <a:off x="9436608" y="1280160"/>
            <a:ext cx="1993392" cy="5029200"/>
          </a:xfrm>
          <a:prstGeom prst="roundRect">
            <a:avLst/>
          </a:prstGeom>
          <a:solidFill>
            <a:srgbClr val="FFFFFF"/>
          </a:solidFill>
          <a:ln w="1270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601200" y="1508760"/>
            <a:ext cx="1664208" cy="502920"/>
          </a:xfrm>
          <a:prstGeom prst="roundRect">
            <a:avLst/>
          </a:prstGeom>
          <a:solidFill>
            <a:srgbClr val="006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Segoe UI"/>
              </a:defRPr>
            </a:pPr>
            <a:r>
              <a:t>PHÂN HỆ 5</a:t>
            </a:r>
          </a:p>
        </p:txBody>
      </p:sp>
      <p:sp>
        <p:nvSpPr>
          <p:cNvPr id="24" name="TextBox 23"/>
          <p:cNvSpPr txBox="1"/>
          <p:nvPr/>
        </p:nvSpPr>
        <p:spPr>
          <a:xfrm>
            <a:off x="9546336" y="2148840"/>
            <a:ext cx="1773936" cy="1463040"/>
          </a:xfrm>
          <a:prstGeom prst="rect">
            <a:avLst/>
          </a:prstGeom>
          <a:noFill/>
        </p:spPr>
        <p:txBody>
          <a:bodyPr wrap="square">
            <a:spAutoFit/>
          </a:bodyPr>
          <a:lstStyle/>
          <a:p>
            <a:pPr algn="ctr">
              <a:defRPr sz="1200" b="1">
                <a:solidFill>
                  <a:srgbClr val="006838"/>
                </a:solidFill>
                <a:latin typeface="Segoe UI"/>
              </a:defRPr>
            </a:pPr>
            <a:r>
              <a:t>TỔNG HỢP &amp; BÁO CÁO DỮ LIỆU</a:t>
            </a:r>
          </a:p>
        </p:txBody>
      </p:sp>
      <p:sp>
        <p:nvSpPr>
          <p:cNvPr id="25" name="TextBox 24"/>
          <p:cNvSpPr txBox="1"/>
          <p:nvPr/>
        </p:nvSpPr>
        <p:spPr>
          <a:xfrm>
            <a:off x="9573768" y="3749039"/>
            <a:ext cx="1719072" cy="2286000"/>
          </a:xfrm>
          <a:prstGeom prst="rect">
            <a:avLst/>
          </a:prstGeom>
          <a:noFill/>
        </p:spPr>
        <p:txBody>
          <a:bodyPr wrap="square">
            <a:spAutoFit/>
          </a:bodyPr>
          <a:lstStyle/>
          <a:p>
            <a:pPr algn="ctr">
              <a:defRPr sz="1100">
                <a:solidFill>
                  <a:srgbClr val="505F58"/>
                </a:solidFill>
                <a:latin typeface="Segoe UI"/>
              </a:defRPr>
            </a:pPr>
            <a:r>
              <a:t>Hệ thống 6 mẫu báo cáo phân tích, trích xuất dữ liệu đa chiều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ĐĂNG NHẬP HỆ THỐNG</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05</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5166360" cy="502920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554480"/>
            <a:ext cx="4617720" cy="502920"/>
          </a:xfrm>
          <a:prstGeom prst="round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505F58"/>
                </a:solidFill>
                <a:latin typeface="Segoe UI"/>
              </a:defRPr>
            </a:pPr>
            <a:r>
              <a:t>PHƯƠNG ÁN CŨ: ĐĂNG NHẬP QUA RADIUS</a:t>
            </a:r>
          </a:p>
        </p:txBody>
      </p:sp>
      <p:sp>
        <p:nvSpPr>
          <p:cNvPr id="8" name="TextBox 7"/>
          <p:cNvSpPr txBox="1"/>
          <p:nvPr/>
        </p:nvSpPr>
        <p:spPr>
          <a:xfrm>
            <a:off x="1005840" y="2377440"/>
            <a:ext cx="4617720" cy="3657600"/>
          </a:xfrm>
          <a:prstGeom prst="rect">
            <a:avLst/>
          </a:prstGeom>
          <a:noFill/>
        </p:spPr>
        <p:txBody>
          <a:bodyPr wrap="square">
            <a:spAutoFit/>
          </a:bodyPr>
          <a:lstStyle/>
          <a:p>
            <a:pPr>
              <a:defRPr sz="1200">
                <a:solidFill>
                  <a:srgbClr val="505F58"/>
                </a:solidFill>
                <a:latin typeface="Segoe UI"/>
              </a:defRPr>
            </a:pPr>
            <a:r>
              <a:t>• Xác thực riêng lẻ theo cơ chế Radius truyền thống.</a:t>
            </a:r>
          </a:p>
          <a:p>
            <a:pPr>
              <a:spcBef>
                <a:spcPts val="1400"/>
              </a:spcBef>
              <a:defRPr sz="1200">
                <a:solidFill>
                  <a:srgbClr val="505F58"/>
                </a:solidFill>
                <a:latin typeface="Segoe UI"/>
              </a:defRPr>
            </a:pPr>
            <a:r>
              <a:t>• Phân mảnh tài khoản và phiên làm việc của người dùng.</a:t>
            </a:r>
          </a:p>
          <a:p>
            <a:pPr>
              <a:spcBef>
                <a:spcPts val="1400"/>
              </a:spcBef>
              <a:defRPr sz="1200">
                <a:solidFill>
                  <a:srgbClr val="505F58"/>
                </a:solidFill>
                <a:latin typeface="Segoe UI"/>
              </a:defRPr>
            </a:pPr>
            <a:r>
              <a:t>• Chưa tích hợp đồng bộ với cổng danh bạ tập trung của ngân hàng.</a:t>
            </a:r>
          </a:p>
          <a:p>
            <a:pPr>
              <a:spcBef>
                <a:spcPts val="1400"/>
              </a:spcBef>
              <a:defRPr sz="1200">
                <a:solidFill>
                  <a:srgbClr val="505F58"/>
                </a:solidFill>
                <a:latin typeface="Segoe UI"/>
              </a:defRPr>
            </a:pPr>
            <a:r>
              <a:t>• Khó khăn trong việc kiểm soát phiên và đồng bộ chính sách bảo mật.</a:t>
            </a:r>
          </a:p>
        </p:txBody>
      </p:sp>
      <p:sp>
        <p:nvSpPr>
          <p:cNvPr id="9" name="Rounded Rectangle 8"/>
          <p:cNvSpPr/>
          <p:nvPr/>
        </p:nvSpPr>
        <p:spPr>
          <a:xfrm>
            <a:off x="6291072" y="1280160"/>
            <a:ext cx="5166360" cy="5029200"/>
          </a:xfrm>
          <a:prstGeom prst="roundRect">
            <a:avLst/>
          </a:prstGeom>
          <a:solidFill>
            <a:srgbClr val="FFFFFF"/>
          </a:solidFill>
          <a:ln w="254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65392" y="1554480"/>
            <a:ext cx="4617720" cy="5029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6838"/>
                </a:solidFill>
                <a:latin typeface="Segoe UI"/>
              </a:defRPr>
            </a:pPr>
            <a:r>
              <a:t>⭐ PHƯƠNG ÁN MỚI: XÁC THỰC SSO TẬP TRUNG</a:t>
            </a:r>
          </a:p>
        </p:txBody>
      </p:sp>
      <p:sp>
        <p:nvSpPr>
          <p:cNvPr id="11" name="TextBox 10"/>
          <p:cNvSpPr txBox="1"/>
          <p:nvPr/>
        </p:nvSpPr>
        <p:spPr>
          <a:xfrm>
            <a:off x="6565392" y="2377440"/>
            <a:ext cx="4617720" cy="3657600"/>
          </a:xfrm>
          <a:prstGeom prst="rect">
            <a:avLst/>
          </a:prstGeom>
          <a:noFill/>
        </p:spPr>
        <p:txBody>
          <a:bodyPr wrap="square">
            <a:spAutoFit/>
          </a:bodyPr>
          <a:lstStyle/>
          <a:p>
            <a:pPr>
              <a:defRPr sz="1200" b="1">
                <a:solidFill>
                  <a:srgbClr val="14281E"/>
                </a:solidFill>
                <a:latin typeface="Segoe UI"/>
              </a:defRPr>
            </a:pPr>
            <a:r>
              <a:t>✔ Hệ thống đăng nhập tích hợp cơ chế xác thực SSO tập trung.</a:t>
            </a:r>
          </a:p>
          <a:p>
            <a:pPr>
              <a:spcBef>
                <a:spcPts val="1400"/>
              </a:spcBef>
              <a:defRPr sz="1200" b="1">
                <a:solidFill>
                  <a:srgbClr val="14281E"/>
                </a:solidFill>
                <a:latin typeface="Segoe UI"/>
              </a:defRPr>
            </a:pPr>
            <a:r>
              <a:t>✔ Đồng bộ danh tính người dùng theo chuẩn tài khoản ngân hàng Co-opBank.</a:t>
            </a:r>
          </a:p>
          <a:p>
            <a:pPr>
              <a:spcBef>
                <a:spcPts val="1400"/>
              </a:spcBef>
              <a:defRPr sz="1200" b="1">
                <a:solidFill>
                  <a:srgbClr val="14281E"/>
                </a:solidFill>
                <a:latin typeface="Segoe UI"/>
              </a:defRPr>
            </a:pPr>
            <a:r>
              <a:t>✔ Tăng cường an toàn thông tin và phân quyền theo chức danh / vai trò (RBAC).</a:t>
            </a:r>
          </a:p>
          <a:p>
            <a:pPr>
              <a:spcBef>
                <a:spcPts val="1400"/>
              </a:spcBef>
              <a:defRPr sz="1200" b="1">
                <a:solidFill>
                  <a:srgbClr val="14281E"/>
                </a:solidFill>
                <a:latin typeface="Segoe UI"/>
              </a:defRPr>
            </a:pPr>
            <a:r>
              <a:t>✔ Trải nghiệm đăng nhập 1 lần, sử dụng liền mạch các phân hệ nghiệp vụ.</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QUẢN LÝ KẾ HOẠCH VỐN &amp; DỰ ÁN</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06</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55448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KẾ HOẠCH VỐN</a:t>
            </a:r>
          </a:p>
        </p:txBody>
      </p:sp>
      <p:sp>
        <p:nvSpPr>
          <p:cNvPr id="8" name="TextBox 7"/>
          <p:cNvSpPr txBox="1"/>
          <p:nvPr/>
        </p:nvSpPr>
        <p:spPr>
          <a:xfrm>
            <a:off x="1005840" y="2148840"/>
            <a:ext cx="4617720" cy="1280160"/>
          </a:xfrm>
          <a:prstGeom prst="rect">
            <a:avLst/>
          </a:prstGeom>
          <a:noFill/>
        </p:spPr>
        <p:txBody>
          <a:bodyPr wrap="square">
            <a:spAutoFit/>
          </a:bodyPr>
          <a:lstStyle/>
          <a:p>
            <a:pPr>
              <a:defRPr sz="1200">
                <a:solidFill>
                  <a:srgbClr val="14281E"/>
                </a:solidFill>
                <a:latin typeface="Segoe UI"/>
              </a:defRPr>
            </a:pPr>
            <a:r>
              <a:t>Lập, phân bổ và điều chỉnh kế hoạch vốn theo từng giai đoạn và danh mục dự án.</a:t>
            </a:r>
          </a:p>
        </p:txBody>
      </p:sp>
      <p:sp>
        <p:nvSpPr>
          <p:cNvPr id="9" name="Rounded Rectangle 8"/>
          <p:cNvSpPr/>
          <p:nvPr/>
        </p:nvSpPr>
        <p:spPr>
          <a:xfrm>
            <a:off x="6291072" y="128016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65392" y="155448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QUẢN LÝ DỰ ÁN</a:t>
            </a:r>
          </a:p>
        </p:txBody>
      </p:sp>
      <p:sp>
        <p:nvSpPr>
          <p:cNvPr id="11" name="TextBox 10"/>
          <p:cNvSpPr txBox="1"/>
          <p:nvPr/>
        </p:nvSpPr>
        <p:spPr>
          <a:xfrm>
            <a:off x="6565392" y="2148840"/>
            <a:ext cx="4617720" cy="1280160"/>
          </a:xfrm>
          <a:prstGeom prst="rect">
            <a:avLst/>
          </a:prstGeom>
          <a:noFill/>
        </p:spPr>
        <p:txBody>
          <a:bodyPr wrap="square">
            <a:spAutoFit/>
          </a:bodyPr>
          <a:lstStyle/>
          <a:p>
            <a:pPr>
              <a:defRPr sz="1200">
                <a:solidFill>
                  <a:srgbClr val="14281E"/>
                </a:solidFill>
                <a:latin typeface="Segoe UI"/>
              </a:defRPr>
            </a:pPr>
            <a:r>
              <a:t>Số hoá hồ sơ, hợp đồng, gói thầu và các thông tin của dự án tập trung.</a:t>
            </a:r>
          </a:p>
        </p:txBody>
      </p:sp>
      <p:sp>
        <p:nvSpPr>
          <p:cNvPr id="12" name="Rounded Rectangle 11"/>
          <p:cNvSpPr/>
          <p:nvPr/>
        </p:nvSpPr>
        <p:spPr>
          <a:xfrm>
            <a:off x="731520" y="384048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411480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KIỂM SOÁT</a:t>
            </a:r>
          </a:p>
        </p:txBody>
      </p:sp>
      <p:sp>
        <p:nvSpPr>
          <p:cNvPr id="14" name="TextBox 13"/>
          <p:cNvSpPr txBox="1"/>
          <p:nvPr/>
        </p:nvSpPr>
        <p:spPr>
          <a:xfrm>
            <a:off x="1005840" y="4709160"/>
            <a:ext cx="4617720" cy="1280160"/>
          </a:xfrm>
          <a:prstGeom prst="rect">
            <a:avLst/>
          </a:prstGeom>
          <a:noFill/>
        </p:spPr>
        <p:txBody>
          <a:bodyPr wrap="square">
            <a:spAutoFit/>
          </a:bodyPr>
          <a:lstStyle/>
          <a:p>
            <a:pPr>
              <a:defRPr sz="1200">
                <a:solidFill>
                  <a:srgbClr val="14281E"/>
                </a:solidFill>
                <a:latin typeface="Segoe UI"/>
              </a:defRPr>
            </a:pPr>
            <a:r>
              <a:t>Nắm bắt tổng thể tình hình sử dụng vốn và triển khai dự án.</a:t>
            </a:r>
          </a:p>
        </p:txBody>
      </p:sp>
      <p:sp>
        <p:nvSpPr>
          <p:cNvPr id="15" name="Rounded Rectangle 14"/>
          <p:cNvSpPr/>
          <p:nvPr/>
        </p:nvSpPr>
        <p:spPr>
          <a:xfrm>
            <a:off x="6291072" y="384048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5392" y="411480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THEO DÕI THỰC HIỆN</a:t>
            </a:r>
          </a:p>
        </p:txBody>
      </p:sp>
      <p:sp>
        <p:nvSpPr>
          <p:cNvPr id="17" name="TextBox 16"/>
          <p:cNvSpPr txBox="1"/>
          <p:nvPr/>
        </p:nvSpPr>
        <p:spPr>
          <a:xfrm>
            <a:off x="6565392" y="4709160"/>
            <a:ext cx="4617720" cy="1280160"/>
          </a:xfrm>
          <a:prstGeom prst="rect">
            <a:avLst/>
          </a:prstGeom>
          <a:noFill/>
        </p:spPr>
        <p:txBody>
          <a:bodyPr wrap="square">
            <a:spAutoFit/>
          </a:bodyPr>
          <a:lstStyle/>
          <a:p>
            <a:pPr>
              <a:defRPr sz="1200">
                <a:solidFill>
                  <a:srgbClr val="14281E"/>
                </a:solidFill>
                <a:latin typeface="Segoe UI"/>
              </a:defRPr>
            </a:pPr>
            <a:r>
              <a:t>Giám sát chặt chẽ tiến độ thanh toán và các mốc giải ngân thực tế so với kế hoạch.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QUẢN LÝ GÓI THẦU VÀ HỢP ĐỒNG</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07</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55448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GÓI THẦU</a:t>
            </a:r>
          </a:p>
        </p:txBody>
      </p:sp>
      <p:sp>
        <p:nvSpPr>
          <p:cNvPr id="8" name="TextBox 7"/>
          <p:cNvSpPr txBox="1"/>
          <p:nvPr/>
        </p:nvSpPr>
        <p:spPr>
          <a:xfrm>
            <a:off x="1005840" y="2148840"/>
            <a:ext cx="4617720" cy="1280160"/>
          </a:xfrm>
          <a:prstGeom prst="rect">
            <a:avLst/>
          </a:prstGeom>
          <a:noFill/>
        </p:spPr>
        <p:txBody>
          <a:bodyPr wrap="square">
            <a:spAutoFit/>
          </a:bodyPr>
          <a:lstStyle/>
          <a:p>
            <a:pPr>
              <a:defRPr sz="1200">
                <a:solidFill>
                  <a:srgbClr val="14281E"/>
                </a:solidFill>
                <a:latin typeface="Segoe UI"/>
              </a:defRPr>
            </a:pPr>
            <a:r>
              <a:t>Quản lý hình thức LCNT giá trị dự toán, phân bổ nguồn vốn và trình tự thực hiện gói thầu.</a:t>
            </a:r>
          </a:p>
        </p:txBody>
      </p:sp>
      <p:sp>
        <p:nvSpPr>
          <p:cNvPr id="9" name="Rounded Rectangle 8"/>
          <p:cNvSpPr/>
          <p:nvPr/>
        </p:nvSpPr>
        <p:spPr>
          <a:xfrm>
            <a:off x="6291072" y="128016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65392" y="155448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HỢP ĐỒNG</a:t>
            </a:r>
          </a:p>
        </p:txBody>
      </p:sp>
      <p:sp>
        <p:nvSpPr>
          <p:cNvPr id="11" name="TextBox 10"/>
          <p:cNvSpPr txBox="1"/>
          <p:nvPr/>
        </p:nvSpPr>
        <p:spPr>
          <a:xfrm>
            <a:off x="6565392" y="2148840"/>
            <a:ext cx="4617720" cy="1280160"/>
          </a:xfrm>
          <a:prstGeom prst="rect">
            <a:avLst/>
          </a:prstGeom>
          <a:noFill/>
        </p:spPr>
        <p:txBody>
          <a:bodyPr wrap="square">
            <a:spAutoFit/>
          </a:bodyPr>
          <a:lstStyle/>
          <a:p>
            <a:pPr>
              <a:defRPr sz="1200">
                <a:solidFill>
                  <a:srgbClr val="14281E"/>
                </a:solidFill>
                <a:latin typeface="Segoe UI"/>
              </a:defRPr>
            </a:pPr>
            <a:r>
              <a:t>Quản lý giá trị ký kết, các mốc bảo cần phải thanh toán và hàng hoá dịch vụ đi kèm.</a:t>
            </a:r>
          </a:p>
        </p:txBody>
      </p:sp>
      <p:sp>
        <p:nvSpPr>
          <p:cNvPr id="12" name="Rounded Rectangle 11"/>
          <p:cNvSpPr/>
          <p:nvPr/>
        </p:nvSpPr>
        <p:spPr>
          <a:xfrm>
            <a:off x="731520" y="384048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411480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TIẾN ĐỘ</a:t>
            </a:r>
          </a:p>
        </p:txBody>
      </p:sp>
      <p:sp>
        <p:nvSpPr>
          <p:cNvPr id="14" name="TextBox 13"/>
          <p:cNvSpPr txBox="1"/>
          <p:nvPr/>
        </p:nvSpPr>
        <p:spPr>
          <a:xfrm>
            <a:off x="1005840" y="4709160"/>
            <a:ext cx="4617720" cy="1280160"/>
          </a:xfrm>
          <a:prstGeom prst="rect">
            <a:avLst/>
          </a:prstGeom>
          <a:noFill/>
        </p:spPr>
        <p:txBody>
          <a:bodyPr wrap="square">
            <a:spAutoFit/>
          </a:bodyPr>
          <a:lstStyle/>
          <a:p>
            <a:pPr>
              <a:defRPr sz="1200">
                <a:solidFill>
                  <a:srgbClr val="14281E"/>
                </a:solidFill>
                <a:latin typeface="Segoe UI"/>
              </a:defRPr>
            </a:pPr>
            <a:r>
              <a:t>Theo dõi tình trạng thực hiện hợp đồng theo thời gian thực.</a:t>
            </a:r>
          </a:p>
        </p:txBody>
      </p:sp>
      <p:sp>
        <p:nvSpPr>
          <p:cNvPr id="15" name="Rounded Rectangle 14"/>
          <p:cNvSpPr/>
          <p:nvPr/>
        </p:nvSpPr>
        <p:spPr>
          <a:xfrm>
            <a:off x="6291072" y="384048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5392" y="4114800"/>
            <a:ext cx="2011680" cy="438912"/>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6838"/>
                </a:solidFill>
                <a:latin typeface="Segoe UI"/>
              </a:defRPr>
            </a:pPr>
            <a:r>
              <a:t>LIÊN KẾT</a:t>
            </a:r>
          </a:p>
        </p:txBody>
      </p:sp>
      <p:sp>
        <p:nvSpPr>
          <p:cNvPr id="17" name="TextBox 16"/>
          <p:cNvSpPr txBox="1"/>
          <p:nvPr/>
        </p:nvSpPr>
        <p:spPr>
          <a:xfrm>
            <a:off x="6565392" y="4709160"/>
            <a:ext cx="4617720" cy="1280160"/>
          </a:xfrm>
          <a:prstGeom prst="rect">
            <a:avLst/>
          </a:prstGeom>
          <a:noFill/>
        </p:spPr>
        <p:txBody>
          <a:bodyPr wrap="square">
            <a:spAutoFit/>
          </a:bodyPr>
          <a:lstStyle/>
          <a:p>
            <a:pPr>
              <a:defRPr sz="1200">
                <a:solidFill>
                  <a:srgbClr val="14281E"/>
                </a:solidFill>
                <a:latin typeface="Segoe UI"/>
              </a:defRPr>
            </a:pPr>
            <a:r>
              <a:t>Quản lý xuyên suốt và gắn kết đa tầng: Dự án / Gói thầu / Hợp đồng.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GIẢI NGÂN &amp; TIẾN ĐỘ THANH TOÁN</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08</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1554480"/>
            <a:ext cx="2011680" cy="438912"/>
          </a:xfrm>
          <a:prstGeom prst="roundRect">
            <a:avLst/>
          </a:prstGeom>
          <a:solidFill>
            <a:srgbClr val="FEF7E6"/>
          </a:solidFill>
          <a:ln w="1270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5A118"/>
                </a:solidFill>
                <a:latin typeface="Segoe UI"/>
              </a:defRPr>
            </a:pPr>
            <a:r>
              <a:t>ĐỢT THANH TOÁN</a:t>
            </a:r>
          </a:p>
        </p:txBody>
      </p:sp>
      <p:sp>
        <p:nvSpPr>
          <p:cNvPr id="8" name="TextBox 7"/>
          <p:cNvSpPr txBox="1"/>
          <p:nvPr/>
        </p:nvSpPr>
        <p:spPr>
          <a:xfrm>
            <a:off x="1005840" y="2148840"/>
            <a:ext cx="4617720" cy="1280160"/>
          </a:xfrm>
          <a:prstGeom prst="rect">
            <a:avLst/>
          </a:prstGeom>
          <a:noFill/>
        </p:spPr>
        <p:txBody>
          <a:bodyPr wrap="square">
            <a:spAutoFit/>
          </a:bodyPr>
          <a:lstStyle/>
          <a:p>
            <a:pPr>
              <a:defRPr sz="1200">
                <a:solidFill>
                  <a:srgbClr val="14281E"/>
                </a:solidFill>
                <a:latin typeface="Segoe UI"/>
              </a:defRPr>
            </a:pPr>
            <a:r>
              <a:t>Lập lịch trình và theo dõi hạn thanh toán chi tiết theo từng hợp đồng.</a:t>
            </a:r>
          </a:p>
        </p:txBody>
      </p:sp>
      <p:sp>
        <p:nvSpPr>
          <p:cNvPr id="9" name="Rounded Rectangle 8"/>
          <p:cNvSpPr/>
          <p:nvPr/>
        </p:nvSpPr>
        <p:spPr>
          <a:xfrm>
            <a:off x="6291072" y="128016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65392" y="1554480"/>
            <a:ext cx="2011680" cy="438912"/>
          </a:xfrm>
          <a:prstGeom prst="roundRect">
            <a:avLst/>
          </a:prstGeom>
          <a:solidFill>
            <a:srgbClr val="FEF7E6"/>
          </a:solidFill>
          <a:ln w="1270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5A118"/>
                </a:solidFill>
                <a:latin typeface="Segoe UI"/>
              </a:defRPr>
            </a:pPr>
            <a:r>
              <a:t>GIÁ TRỊ</a:t>
            </a:r>
          </a:p>
        </p:txBody>
      </p:sp>
      <p:sp>
        <p:nvSpPr>
          <p:cNvPr id="11" name="TextBox 10"/>
          <p:cNvSpPr txBox="1"/>
          <p:nvPr/>
        </p:nvSpPr>
        <p:spPr>
          <a:xfrm>
            <a:off x="6565392" y="2148840"/>
            <a:ext cx="4617720" cy="1280160"/>
          </a:xfrm>
          <a:prstGeom prst="rect">
            <a:avLst/>
          </a:prstGeom>
          <a:noFill/>
        </p:spPr>
        <p:txBody>
          <a:bodyPr wrap="square">
            <a:spAutoFit/>
          </a:bodyPr>
          <a:lstStyle/>
          <a:p>
            <a:pPr>
              <a:defRPr sz="1200">
                <a:solidFill>
                  <a:srgbClr val="14281E"/>
                </a:solidFill>
                <a:latin typeface="Segoe UI"/>
              </a:defRPr>
            </a:pPr>
            <a:r>
              <a:t>Theo dõi giá trị đề nghị, phê duyệt và thực tế thanh toán.</a:t>
            </a:r>
          </a:p>
        </p:txBody>
      </p:sp>
      <p:sp>
        <p:nvSpPr>
          <p:cNvPr id="12" name="Rounded Rectangle 11"/>
          <p:cNvSpPr/>
          <p:nvPr/>
        </p:nvSpPr>
        <p:spPr>
          <a:xfrm>
            <a:off x="731520" y="384048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005840" y="4114800"/>
            <a:ext cx="2011680" cy="438912"/>
          </a:xfrm>
          <a:prstGeom prst="roundRect">
            <a:avLst/>
          </a:prstGeom>
          <a:solidFill>
            <a:srgbClr val="FEF7E6"/>
          </a:solidFill>
          <a:ln w="1270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5A118"/>
                </a:solidFill>
                <a:latin typeface="Segoe UI"/>
              </a:defRPr>
            </a:pPr>
            <a:r>
              <a:t>TIẾN ĐỘ</a:t>
            </a:r>
          </a:p>
        </p:txBody>
      </p:sp>
      <p:sp>
        <p:nvSpPr>
          <p:cNvPr id="14" name="TextBox 13"/>
          <p:cNvSpPr txBox="1"/>
          <p:nvPr/>
        </p:nvSpPr>
        <p:spPr>
          <a:xfrm>
            <a:off x="1005840" y="4709160"/>
            <a:ext cx="4617720" cy="1280160"/>
          </a:xfrm>
          <a:prstGeom prst="rect">
            <a:avLst/>
          </a:prstGeom>
          <a:noFill/>
        </p:spPr>
        <p:txBody>
          <a:bodyPr wrap="square">
            <a:spAutoFit/>
          </a:bodyPr>
          <a:lstStyle/>
          <a:p>
            <a:pPr>
              <a:defRPr sz="1200">
                <a:solidFill>
                  <a:srgbClr val="14281E"/>
                </a:solidFill>
                <a:latin typeface="Segoe UI"/>
              </a:defRPr>
            </a:pPr>
            <a:r>
              <a:t>Tự động tính toán tỷ lệ giải ngân so với giá trị hợp đồng và kế hoạch vốn được giao theo thời gian thực.</a:t>
            </a:r>
          </a:p>
        </p:txBody>
      </p:sp>
      <p:sp>
        <p:nvSpPr>
          <p:cNvPr id="15" name="Rounded Rectangle 14"/>
          <p:cNvSpPr/>
          <p:nvPr/>
        </p:nvSpPr>
        <p:spPr>
          <a:xfrm>
            <a:off x="6291072" y="3840480"/>
            <a:ext cx="5166360" cy="23317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65392" y="4114800"/>
            <a:ext cx="2011680" cy="438912"/>
          </a:xfrm>
          <a:prstGeom prst="roundRect">
            <a:avLst/>
          </a:prstGeom>
          <a:solidFill>
            <a:srgbClr val="FEF7E6"/>
          </a:solidFill>
          <a:ln w="1270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5A118"/>
                </a:solidFill>
                <a:latin typeface="Segoe UI"/>
              </a:defRPr>
            </a:pPr>
            <a:r>
              <a:t>ĐỐI SOÁT</a:t>
            </a:r>
          </a:p>
        </p:txBody>
      </p:sp>
      <p:sp>
        <p:nvSpPr>
          <p:cNvPr id="17" name="TextBox 16"/>
          <p:cNvSpPr txBox="1"/>
          <p:nvPr/>
        </p:nvSpPr>
        <p:spPr>
          <a:xfrm>
            <a:off x="6565392" y="4709160"/>
            <a:ext cx="4617720" cy="1280160"/>
          </a:xfrm>
          <a:prstGeom prst="rect">
            <a:avLst/>
          </a:prstGeom>
          <a:noFill/>
        </p:spPr>
        <p:txBody>
          <a:bodyPr wrap="square">
            <a:spAutoFit/>
          </a:bodyPr>
          <a:lstStyle/>
          <a:p>
            <a:pPr>
              <a:defRPr sz="1200">
                <a:solidFill>
                  <a:srgbClr val="14281E"/>
                </a:solidFill>
                <a:latin typeface="Segoe UI"/>
              </a:defRPr>
            </a:pPr>
            <a:r>
              <a:t>Đối chiếu kế hoạch vốn – hợp đồng – thanh toán thực tế.</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CẢNH BÁO NHẮC HẠN &amp; THÔNG BÁO</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09</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3383280" cy="4846320"/>
          </a:xfrm>
          <a:prstGeom prst="roundRect">
            <a:avLst/>
          </a:prstGeom>
          <a:solidFill>
            <a:srgbClr val="FFFFFF"/>
          </a:solidFill>
          <a:ln w="1905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14400" y="1554480"/>
            <a:ext cx="3017520" cy="548640"/>
          </a:xfrm>
          <a:prstGeom prst="roundRect">
            <a:avLst/>
          </a:prstGeom>
          <a:solidFill>
            <a:srgbClr val="0068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Segoe UI"/>
              </a:defRPr>
            </a:pPr>
            <a:r>
              <a:t>🔔 NHẮC HẠN HỢP ĐỒNG</a:t>
            </a:r>
          </a:p>
        </p:txBody>
      </p:sp>
      <p:sp>
        <p:nvSpPr>
          <p:cNvPr id="8" name="TextBox 7"/>
          <p:cNvSpPr txBox="1"/>
          <p:nvPr/>
        </p:nvSpPr>
        <p:spPr>
          <a:xfrm>
            <a:off x="960120" y="2377440"/>
            <a:ext cx="2926080" cy="3200400"/>
          </a:xfrm>
          <a:prstGeom prst="rect">
            <a:avLst/>
          </a:prstGeom>
          <a:noFill/>
        </p:spPr>
        <p:txBody>
          <a:bodyPr wrap="square">
            <a:spAutoFit/>
          </a:bodyPr>
          <a:lstStyle/>
          <a:p>
            <a:pPr>
              <a:defRPr sz="1250">
                <a:solidFill>
                  <a:srgbClr val="14281E"/>
                </a:solidFill>
                <a:latin typeface="Segoe UI"/>
              </a:defRPr>
            </a:pPr>
            <a:r>
              <a:t>Cảnh báo hợp đồng sắp đến hạn, hạn bảo lãnh thực hiện hợp đồng và hạn bảo hành.</a:t>
            </a:r>
          </a:p>
        </p:txBody>
      </p:sp>
      <p:sp>
        <p:nvSpPr>
          <p:cNvPr id="9" name="Rounded Rectangle 8"/>
          <p:cNvSpPr/>
          <p:nvPr/>
        </p:nvSpPr>
        <p:spPr>
          <a:xfrm>
            <a:off x="4398264" y="1280160"/>
            <a:ext cx="3383280" cy="4846320"/>
          </a:xfrm>
          <a:prstGeom prst="roundRect">
            <a:avLst/>
          </a:prstGeom>
          <a:solidFill>
            <a:srgbClr val="FFFFFF"/>
          </a:solidFill>
          <a:ln w="1270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81144" y="1554480"/>
            <a:ext cx="3017520" cy="548640"/>
          </a:xfrm>
          <a:prstGeom prst="round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6838"/>
                </a:solidFill>
                <a:latin typeface="Segoe UI"/>
              </a:defRPr>
            </a:pPr>
            <a:r>
              <a:t>💳 NHẮC HẠN THANH TOÁN</a:t>
            </a:r>
          </a:p>
        </p:txBody>
      </p:sp>
      <p:sp>
        <p:nvSpPr>
          <p:cNvPr id="11" name="TextBox 10"/>
          <p:cNvSpPr txBox="1"/>
          <p:nvPr/>
        </p:nvSpPr>
        <p:spPr>
          <a:xfrm>
            <a:off x="4626864" y="2377440"/>
            <a:ext cx="2926080" cy="3200400"/>
          </a:xfrm>
          <a:prstGeom prst="rect">
            <a:avLst/>
          </a:prstGeom>
          <a:noFill/>
        </p:spPr>
        <p:txBody>
          <a:bodyPr wrap="square">
            <a:spAutoFit/>
          </a:bodyPr>
          <a:lstStyle/>
          <a:p>
            <a:pPr>
              <a:defRPr sz="1250">
                <a:solidFill>
                  <a:srgbClr val="14281E"/>
                </a:solidFill>
                <a:latin typeface="Segoe UI"/>
              </a:defRPr>
            </a:pPr>
            <a:r>
              <a:t>Theo dõi các đợt thanh toán, tạm ứng và nghiệm thu đến hạn.</a:t>
            </a:r>
          </a:p>
        </p:txBody>
      </p:sp>
      <p:sp>
        <p:nvSpPr>
          <p:cNvPr id="12" name="Rounded Rectangle 11"/>
          <p:cNvSpPr/>
          <p:nvPr/>
        </p:nvSpPr>
        <p:spPr>
          <a:xfrm>
            <a:off x="8065008" y="1280160"/>
            <a:ext cx="3383280" cy="4846320"/>
          </a:xfrm>
          <a:prstGeom prst="roundRect">
            <a:avLst/>
          </a:prstGeom>
          <a:solidFill>
            <a:srgbClr val="FFFFFF"/>
          </a:solidFill>
          <a:ln w="1270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47888" y="1554480"/>
            <a:ext cx="3017520" cy="548640"/>
          </a:xfrm>
          <a:prstGeom prst="roundRect">
            <a:avLst/>
          </a:prstGeom>
          <a:solidFill>
            <a:srgbClr val="EBF7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006838"/>
                </a:solidFill>
                <a:latin typeface="Segoe UI"/>
              </a:defRPr>
            </a:pPr>
            <a:r>
              <a:t>⏳ CẢNH BÁO TIẾN ĐỘ</a:t>
            </a:r>
          </a:p>
        </p:txBody>
      </p:sp>
      <p:sp>
        <p:nvSpPr>
          <p:cNvPr id="14" name="TextBox 13"/>
          <p:cNvSpPr txBox="1"/>
          <p:nvPr/>
        </p:nvSpPr>
        <p:spPr>
          <a:xfrm>
            <a:off x="8293608" y="2377440"/>
            <a:ext cx="2926080" cy="3200400"/>
          </a:xfrm>
          <a:prstGeom prst="rect">
            <a:avLst/>
          </a:prstGeom>
          <a:noFill/>
        </p:spPr>
        <p:txBody>
          <a:bodyPr wrap="square">
            <a:spAutoFit/>
          </a:bodyPr>
          <a:lstStyle/>
          <a:p>
            <a:pPr>
              <a:defRPr sz="1250">
                <a:solidFill>
                  <a:srgbClr val="14281E"/>
                </a:solidFill>
                <a:latin typeface="Segoe UI"/>
              </a:defRPr>
            </a:pPr>
            <a:r>
              <a:t>Phát hiện các trường hợp chậm tiến độ so với kế hoạch ban đầu để xử lý kịp thời.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_Picture_2_2.jpg"/>
          <p:cNvPicPr>
            <a:picLocks noChangeAspect="1"/>
          </p:cNvPicPr>
          <p:nvPr/>
        </p:nvPicPr>
        <p:blipFill>
          <a:blip r:embed="rId2"/>
          <a:stretch>
            <a:fillRect/>
          </a:stretch>
        </p:blipFill>
        <p:spPr>
          <a:xfrm>
            <a:off x="0" y="0"/>
            <a:ext cx="12191695" cy="6858000"/>
          </a:xfrm>
          <a:prstGeom prst="rect">
            <a:avLst/>
          </a:prstGeom>
        </p:spPr>
      </p:pic>
      <p:sp>
        <p:nvSpPr>
          <p:cNvPr id="3" name="Rounded Rectangle 2"/>
          <p:cNvSpPr/>
          <p:nvPr/>
        </p:nvSpPr>
        <p:spPr>
          <a:xfrm>
            <a:off x="1289304" y="164592"/>
            <a:ext cx="9601200" cy="685800"/>
          </a:xfrm>
          <a:prstGeom prst="roundRect">
            <a:avLst/>
          </a:prstGeom>
          <a:solidFill>
            <a:srgbClr val="006838"/>
          </a:solidFill>
          <a:ln w="1905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700" b="1">
                <a:solidFill>
                  <a:srgbClr val="FFFFFF"/>
                </a:solidFill>
                <a:latin typeface="Segoe UI"/>
              </a:defRPr>
            </a:pPr>
            <a:r>
              <a:t>BÁO CÁO &amp; XUẤT DỮ LIỆU</a:t>
            </a:r>
          </a:p>
        </p:txBody>
      </p:sp>
      <p:sp>
        <p:nvSpPr>
          <p:cNvPr id="4" name="Rounded Rectangle 3"/>
          <p:cNvSpPr/>
          <p:nvPr/>
        </p:nvSpPr>
        <p:spPr>
          <a:xfrm>
            <a:off x="11064240" y="219456"/>
            <a:ext cx="777240" cy="548640"/>
          </a:xfrm>
          <a:prstGeom prst="roundRect">
            <a:avLst/>
          </a:prstGeom>
          <a:solidFill>
            <a:srgbClr val="E5A1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Segoe UI"/>
              </a:defRPr>
            </a:pPr>
            <a:r>
              <a:t>10</a:t>
            </a:r>
          </a:p>
        </p:txBody>
      </p:sp>
      <p:pic>
        <p:nvPicPr>
          <p:cNvPr id="5" name="Picture 4" descr="slide_1_Picture_11_1.jpg"/>
          <p:cNvPicPr>
            <a:picLocks noChangeAspect="1"/>
          </p:cNvPicPr>
          <p:nvPr/>
        </p:nvPicPr>
        <p:blipFill>
          <a:blip r:embed="rId3"/>
          <a:stretch>
            <a:fillRect/>
          </a:stretch>
        </p:blipFill>
        <p:spPr>
          <a:xfrm>
            <a:off x="274320" y="201168"/>
            <a:ext cx="914400" cy="502920"/>
          </a:xfrm>
          <a:prstGeom prst="rect">
            <a:avLst/>
          </a:prstGeom>
        </p:spPr>
      </p:pic>
      <p:sp>
        <p:nvSpPr>
          <p:cNvPr id="6" name="Rounded Rectangle 5"/>
          <p:cNvSpPr/>
          <p:nvPr/>
        </p:nvSpPr>
        <p:spPr>
          <a:xfrm>
            <a:off x="731520" y="1280160"/>
            <a:ext cx="5166360" cy="14173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960120" y="1600200"/>
            <a:ext cx="731520" cy="7315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8" name="TextBox 7"/>
          <p:cNvSpPr txBox="1"/>
          <p:nvPr/>
        </p:nvSpPr>
        <p:spPr>
          <a:xfrm>
            <a:off x="1874520" y="1719072"/>
            <a:ext cx="3886200" cy="548640"/>
          </a:xfrm>
          <a:prstGeom prst="rect">
            <a:avLst/>
          </a:prstGeom>
          <a:noFill/>
        </p:spPr>
        <p:txBody>
          <a:bodyPr wrap="none">
            <a:spAutoFit/>
          </a:bodyPr>
          <a:lstStyle/>
          <a:p>
            <a:pPr>
              <a:defRPr sz="1300" b="1">
                <a:solidFill>
                  <a:srgbClr val="006838"/>
                </a:solidFill>
                <a:latin typeface="Segoe UI"/>
              </a:defRPr>
            </a:pPr>
            <a:r>
              <a:t>1. Báo cáo tiến độ triển khai dự án</a:t>
            </a:r>
          </a:p>
        </p:txBody>
      </p:sp>
      <p:sp>
        <p:nvSpPr>
          <p:cNvPr id="9" name="Rounded Rectangle 8"/>
          <p:cNvSpPr/>
          <p:nvPr/>
        </p:nvSpPr>
        <p:spPr>
          <a:xfrm>
            <a:off x="6291072" y="1280160"/>
            <a:ext cx="5166360" cy="14173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19672" y="1600200"/>
            <a:ext cx="731520" cy="7315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1" name="TextBox 10"/>
          <p:cNvSpPr txBox="1"/>
          <p:nvPr/>
        </p:nvSpPr>
        <p:spPr>
          <a:xfrm>
            <a:off x="7434072" y="1719072"/>
            <a:ext cx="3886200" cy="548640"/>
          </a:xfrm>
          <a:prstGeom prst="rect">
            <a:avLst/>
          </a:prstGeom>
          <a:noFill/>
        </p:spPr>
        <p:txBody>
          <a:bodyPr wrap="none">
            <a:spAutoFit/>
          </a:bodyPr>
          <a:lstStyle/>
          <a:p>
            <a:pPr>
              <a:defRPr sz="1300" b="1">
                <a:solidFill>
                  <a:srgbClr val="006838"/>
                </a:solidFill>
                <a:latin typeface="Segoe UI"/>
              </a:defRPr>
            </a:pPr>
            <a:r>
              <a:t>2. Báo cáo phân bổ kế hoạch vốn</a:t>
            </a:r>
          </a:p>
        </p:txBody>
      </p:sp>
      <p:sp>
        <p:nvSpPr>
          <p:cNvPr id="12" name="Rounded Rectangle 11"/>
          <p:cNvSpPr/>
          <p:nvPr/>
        </p:nvSpPr>
        <p:spPr>
          <a:xfrm>
            <a:off x="731520" y="2971800"/>
            <a:ext cx="5166360" cy="14173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60120" y="3291840"/>
            <a:ext cx="731520" cy="7315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4" name="TextBox 13"/>
          <p:cNvSpPr txBox="1"/>
          <p:nvPr/>
        </p:nvSpPr>
        <p:spPr>
          <a:xfrm>
            <a:off x="1874520" y="3410712"/>
            <a:ext cx="3886200" cy="548640"/>
          </a:xfrm>
          <a:prstGeom prst="rect">
            <a:avLst/>
          </a:prstGeom>
          <a:noFill/>
        </p:spPr>
        <p:txBody>
          <a:bodyPr wrap="none">
            <a:spAutoFit/>
          </a:bodyPr>
          <a:lstStyle/>
          <a:p>
            <a:pPr>
              <a:defRPr sz="1300" b="1">
                <a:solidFill>
                  <a:srgbClr val="006838"/>
                </a:solidFill>
                <a:latin typeface="Segoe UI"/>
              </a:defRPr>
            </a:pPr>
            <a:r>
              <a:t>3. Báo cáo kế hoạch &amp; kết quả đấu thầu</a:t>
            </a:r>
          </a:p>
        </p:txBody>
      </p:sp>
      <p:sp>
        <p:nvSpPr>
          <p:cNvPr id="15" name="Rounded Rectangle 14"/>
          <p:cNvSpPr/>
          <p:nvPr/>
        </p:nvSpPr>
        <p:spPr>
          <a:xfrm>
            <a:off x="6291072" y="2971800"/>
            <a:ext cx="5166360" cy="14173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19672" y="3291840"/>
            <a:ext cx="731520" cy="7315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17" name="TextBox 16"/>
          <p:cNvSpPr txBox="1"/>
          <p:nvPr/>
        </p:nvSpPr>
        <p:spPr>
          <a:xfrm>
            <a:off x="7434072" y="3410712"/>
            <a:ext cx="3886200" cy="548640"/>
          </a:xfrm>
          <a:prstGeom prst="rect">
            <a:avLst/>
          </a:prstGeom>
          <a:noFill/>
        </p:spPr>
        <p:txBody>
          <a:bodyPr wrap="none">
            <a:spAutoFit/>
          </a:bodyPr>
          <a:lstStyle/>
          <a:p>
            <a:pPr>
              <a:defRPr sz="1300" b="1">
                <a:solidFill>
                  <a:srgbClr val="006838"/>
                </a:solidFill>
                <a:latin typeface="Segoe UI"/>
              </a:defRPr>
            </a:pPr>
            <a:r>
              <a:t>4. Báo cáo theo dõi thực hiện hợp đồng</a:t>
            </a:r>
          </a:p>
        </p:txBody>
      </p:sp>
      <p:sp>
        <p:nvSpPr>
          <p:cNvPr id="18" name="Rounded Rectangle 17"/>
          <p:cNvSpPr/>
          <p:nvPr/>
        </p:nvSpPr>
        <p:spPr>
          <a:xfrm>
            <a:off x="731520" y="4663440"/>
            <a:ext cx="5166360" cy="14173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60120" y="4983480"/>
            <a:ext cx="731520" cy="7315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0" name="TextBox 19"/>
          <p:cNvSpPr txBox="1"/>
          <p:nvPr/>
        </p:nvSpPr>
        <p:spPr>
          <a:xfrm>
            <a:off x="1874520" y="5102352"/>
            <a:ext cx="3886200" cy="548640"/>
          </a:xfrm>
          <a:prstGeom prst="rect">
            <a:avLst/>
          </a:prstGeom>
          <a:noFill/>
        </p:spPr>
        <p:txBody>
          <a:bodyPr wrap="none">
            <a:spAutoFit/>
          </a:bodyPr>
          <a:lstStyle/>
          <a:p>
            <a:pPr>
              <a:defRPr sz="1300" b="1">
                <a:solidFill>
                  <a:srgbClr val="006838"/>
                </a:solidFill>
                <a:latin typeface="Segoe UI"/>
              </a:defRPr>
            </a:pPr>
            <a:r>
              <a:t>5. Báo cáo tiến độ thanh toán &amp; giải ngân</a:t>
            </a:r>
          </a:p>
        </p:txBody>
      </p:sp>
      <p:sp>
        <p:nvSpPr>
          <p:cNvPr id="21" name="Rounded Rectangle 20"/>
          <p:cNvSpPr/>
          <p:nvPr/>
        </p:nvSpPr>
        <p:spPr>
          <a:xfrm>
            <a:off x="6291072" y="4663440"/>
            <a:ext cx="5166360" cy="1417320"/>
          </a:xfrm>
          <a:prstGeom prst="roundRect">
            <a:avLst/>
          </a:prstGeom>
          <a:solidFill>
            <a:srgbClr val="FFFFFF"/>
          </a:solidFill>
          <a:ln w="15240">
            <a:solidFill>
              <a:srgbClr val="C8E1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519672" y="4983480"/>
            <a:ext cx="731520" cy="731520"/>
          </a:xfrm>
          <a:prstGeom prst="roundRect">
            <a:avLst/>
          </a:prstGeom>
          <a:solidFill>
            <a:srgbClr val="EBF7F0"/>
          </a:solidFill>
          <a:ln w="12700">
            <a:solidFill>
              <a:srgbClr val="006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800"/>
            </a:pPr>
            <a:r>
              <a:t>📊</a:t>
            </a:r>
          </a:p>
        </p:txBody>
      </p:sp>
      <p:sp>
        <p:nvSpPr>
          <p:cNvPr id="23" name="TextBox 22"/>
          <p:cNvSpPr txBox="1"/>
          <p:nvPr/>
        </p:nvSpPr>
        <p:spPr>
          <a:xfrm>
            <a:off x="7434072" y="5102352"/>
            <a:ext cx="3886200" cy="548640"/>
          </a:xfrm>
          <a:prstGeom prst="rect">
            <a:avLst/>
          </a:prstGeom>
          <a:noFill/>
        </p:spPr>
        <p:txBody>
          <a:bodyPr wrap="none">
            <a:spAutoFit/>
          </a:bodyPr>
          <a:lstStyle/>
          <a:p>
            <a:pPr>
              <a:defRPr sz="1300" b="1">
                <a:solidFill>
                  <a:srgbClr val="006838"/>
                </a:solidFill>
                <a:latin typeface="Segoe UI"/>
              </a:defRPr>
            </a:pPr>
            <a:r>
              <a:t>6. Báo cáo tổng hợp tình hình đầu tư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_Picture_2_0.png"/>
          <p:cNvPicPr>
            <a:picLocks noChangeAspect="1"/>
          </p:cNvPicPr>
          <p:nvPr/>
        </p:nvPicPr>
        <p:blipFill>
          <a:blip r:embed="rId2"/>
          <a:stretch>
            <a:fillRect/>
          </a:stretch>
        </p:blipFill>
        <p:spPr>
          <a:xfrm>
            <a:off x="0" y="0"/>
            <a:ext cx="12191695" cy="6858000"/>
          </a:xfrm>
          <a:prstGeom prst="rect">
            <a:avLst/>
          </a:prstGeom>
        </p:spPr>
      </p:pic>
      <p:pic>
        <p:nvPicPr>
          <p:cNvPr id="3" name="Picture 2" descr="slide_1_Picture_11_1.jpg"/>
          <p:cNvPicPr>
            <a:picLocks noChangeAspect="1"/>
          </p:cNvPicPr>
          <p:nvPr/>
        </p:nvPicPr>
        <p:blipFill>
          <a:blip r:embed="rId3"/>
          <a:stretch>
            <a:fillRect/>
          </a:stretch>
        </p:blipFill>
        <p:spPr>
          <a:xfrm>
            <a:off x="4297680" y="914400"/>
            <a:ext cx="3593592" cy="749808"/>
          </a:xfrm>
          <a:prstGeom prst="rect">
            <a:avLst/>
          </a:prstGeom>
        </p:spPr>
      </p:pic>
      <p:sp>
        <p:nvSpPr>
          <p:cNvPr id="4" name="Rounded Rectangle 3"/>
          <p:cNvSpPr/>
          <p:nvPr/>
        </p:nvSpPr>
        <p:spPr>
          <a:xfrm>
            <a:off x="1645920" y="2011680"/>
            <a:ext cx="8899855" cy="4114800"/>
          </a:xfrm>
          <a:prstGeom prst="roundRect">
            <a:avLst/>
          </a:prstGeom>
          <a:solidFill>
            <a:srgbClr val="FFFFFF"/>
          </a:solidFill>
          <a:ln w="25400">
            <a:solidFill>
              <a:srgbClr val="E5A11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828800" y="2377440"/>
            <a:ext cx="8534095" cy="3474720"/>
          </a:xfrm>
          <a:prstGeom prst="rect">
            <a:avLst/>
          </a:prstGeom>
          <a:noFill/>
        </p:spPr>
        <p:txBody>
          <a:bodyPr wrap="none">
            <a:spAutoFit/>
          </a:bodyPr>
          <a:lstStyle/>
          <a:p>
            <a:pPr algn="ctr">
              <a:defRPr sz="3600" b="1">
                <a:solidFill>
                  <a:srgbClr val="006838"/>
                </a:solidFill>
                <a:latin typeface="Segoe UI"/>
              </a:defRPr>
            </a:pPr>
            <a:r>
              <a:t>CẢM ƠN ĐÃ LẮNG NGHE!</a:t>
            </a:r>
          </a:p>
          <a:p>
            <a:pPr algn="ctr">
              <a:spcBef>
                <a:spcPts val="1600"/>
              </a:spcBef>
              <a:defRPr sz="1600">
                <a:solidFill>
                  <a:srgbClr val="505F58"/>
                </a:solidFill>
                <a:latin typeface="Segoe UI"/>
              </a:defRPr>
            </a:pPr>
            <a:r>
              <a:t>Kính chúc Quý Ban Lãnh đạo và các Anh/Chị sức khỏe &amp; thành công!</a:t>
            </a:r>
          </a:p>
          <a:p>
            <a:pPr algn="ctr">
              <a:spcBef>
                <a:spcPts val="2400"/>
              </a:spcBef>
              <a:defRPr sz="1400" b="1">
                <a:solidFill>
                  <a:srgbClr val="E5A118"/>
                </a:solidFill>
                <a:latin typeface="Segoe UI"/>
              </a:defRPr>
            </a:pPr>
            <a:r>
              <a:t>Q &amp; A / THẢO LUẬN &amp; ĐÓNG GÓP Ý KIẾN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