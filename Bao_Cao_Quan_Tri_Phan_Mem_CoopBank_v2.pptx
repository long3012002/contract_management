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Ban Quản trị, Trung tâm CNTT xin trình bày Báo cáo tổng thể về Phần mềm Quản lý Dự án &amp; Hợp đồng nhằm chuẩn hóa công tác quản trị, kiểm soát dòng tiền đầu tư và tự động hóa báo cáo điều hành.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hướng tới 4 mục tiêu trọng tâm: Tập trung hóa dữ liệu, Kiểm soát dòng tiền giải ngân, Cảnh báo tự động hạn hợp đồng/license và Tự động hóa báo cáo phục vụ điều hành.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Luồng nghiệp vụ được thiết kế chặt chẽ và kế thừa liên tục: từ Dự án hình thành các Gói thầu, ký Hợp đồng với Đối tác, thực hiện Giải ngân thanh toán và tổng hợp lên Trung tâm Báo cáo Điều hành.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hệ Quản lý dự án cho phép quản trị toàn bộ danh mục đầu tư CNTT theo từng nguồn vốn, lưu trữ quyết định dự toán và kiểm soát kế hoạch vốn xuyên suốt.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hệ Quản lý gói thầu kiểm soát chặt chẽ quá trình mua sắm từ kế hoạch, quyết định phê duyệt KQLCNT đến giám sát phân công công việc cụ thể.</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hệ Quản lý Hợp đồng &amp; Đối tác tích hợp cơ chế cảnh báo thông minh trước 30-60-90 ngày, đảm bảo không bỏ sót bất kỳ mốc bảo trì hay gia hạn bản quyền nào.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hệ Giải ngân &amp; Thanh toán giúp quản lý dòng tiền chi tiết, theo dõi sát sao từng đợt tạm ứng, nghiệm thu và quyết toán hợp đồng.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hệ Báo cáo &amp; Điều hành đáp ứng 100% các biểu mẫu báo cáo tiến độ thanh toán chuẩn 18 cột và Biểu mẫu 02A TTCNTT, xuất file Excel tức thì.</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đáp ứng đầy đủ yêu cầu quản trị và kiểm toán: tích hợp SSO, phân quyền chức năng rõ ràng và ghi nhật ký kiểm toán 100%.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Lộ trình triển khai gồm 3 giai đoạn rõ ràng: Đào tạo người dùng trong tháng đầu, chuyển đổi dữ liệu lịch sử và chính thức Go-Live sau 2 tháng.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Trân trọng cảm ơn Ban Quản trị và Ban Giám đốc đã lắng nghe. Xin kính mời quý Lãnh đạo cho ý kiến chỉ đạo và đặt câu hỏi.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280160" y="1188720"/>
            <a:ext cx="3840480" cy="411480"/>
          </a:xfrm>
          <a:prstGeom prst="roundRect">
            <a:avLst/>
          </a:prstGeom>
          <a:solidFill>
            <a:srgbClr val="E6EBF2"/>
          </a:solidFill>
          <a:ln>
            <a:solidFill>
              <a:srgbClr val="00377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0377B"/>
                </a:solidFill>
                <a:latin typeface="Segoe UI"/>
              </a:defRPr>
            </a:pPr>
            <a:r>
              <a:t>NGÂN HÀNG HỢP TÁC XÃ VIỆT NAM (CO-OPBANK)</a:t>
            </a:r>
          </a:p>
        </p:txBody>
      </p:sp>
      <p:sp>
        <p:nvSpPr>
          <p:cNvPr id="5" name="TextBox 4"/>
          <p:cNvSpPr txBox="1"/>
          <p:nvPr/>
        </p:nvSpPr>
        <p:spPr>
          <a:xfrm>
            <a:off x="1280160" y="1828800"/>
            <a:ext cx="9601200" cy="1645920"/>
          </a:xfrm>
          <a:prstGeom prst="rect">
            <a:avLst/>
          </a:prstGeom>
          <a:noFill/>
        </p:spPr>
        <p:txBody>
          <a:bodyPr wrap="square">
            <a:spAutoFit/>
          </a:bodyPr>
          <a:lstStyle/>
          <a:p>
            <a:pPr>
              <a:defRPr sz="2800" b="1">
                <a:solidFill>
                  <a:srgbClr val="00377B"/>
                </a:solidFill>
                <a:latin typeface="Segoe UI"/>
              </a:defRPr>
            </a:pPr>
            <a:r>
              <a:t>BÁO CÁO NGHIỆM THU &amp; ĐÁNH GIÁ TRIỂN KHAI</a:t>
            </a:r>
            <a:br/>
            <a:r>
              <a:t>HỆ THỐNG QUẢN LÝ DỰ ÁN &amp; HỢP ĐỒNG</a:t>
            </a:r>
          </a:p>
        </p:txBody>
      </p:sp>
      <p:sp>
        <p:nvSpPr>
          <p:cNvPr id="6" name="TextBox 5"/>
          <p:cNvSpPr txBox="1"/>
          <p:nvPr/>
        </p:nvSpPr>
        <p:spPr>
          <a:xfrm>
            <a:off x="1280160" y="3566160"/>
            <a:ext cx="9601200" cy="822960"/>
          </a:xfrm>
          <a:prstGeom prst="rect">
            <a:avLst/>
          </a:prstGeom>
          <a:noFill/>
        </p:spPr>
        <p:txBody>
          <a:bodyPr wrap="square">
            <a:spAutoFit/>
          </a:bodyPr>
          <a:lstStyle/>
          <a:p>
            <a:pPr>
              <a:defRPr sz="1400">
                <a:solidFill>
                  <a:srgbClr val="64748B"/>
                </a:solidFill>
                <a:latin typeface="Segoe UI"/>
              </a:defRPr>
            </a:pPr>
            <a:r>
              <a:t>Số hóa toàn diện: Quản lý dự án → Quản lý gói thầu → Quản lý hợp đồng &amp; đối tác → Giải ngân &amp; thanh toán → Báo cáo &amp; điều hành.</a:t>
            </a:r>
          </a:p>
        </p:txBody>
      </p:sp>
      <p:sp>
        <p:nvSpPr>
          <p:cNvPr id="7" name="Rounded Rectangle 6"/>
          <p:cNvSpPr/>
          <p:nvPr/>
        </p:nvSpPr>
        <p:spPr>
          <a:xfrm>
            <a:off x="1280160" y="4572000"/>
            <a:ext cx="9601200" cy="1097280"/>
          </a:xfrm>
          <a:prstGeom prst="roundRect">
            <a:avLst/>
          </a:prstGeom>
          <a:solidFill>
            <a:srgbClr val="E6EBF2"/>
          </a:solidFill>
          <a:ln w="19050">
            <a:solidFill>
              <a:srgbClr val="0037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63040" y="4663440"/>
            <a:ext cx="9235440" cy="914400"/>
          </a:xfrm>
          <a:prstGeom prst="rect">
            <a:avLst/>
          </a:prstGeom>
          <a:noFill/>
        </p:spPr>
        <p:txBody>
          <a:bodyPr wrap="square">
            <a:spAutoFit/>
          </a:bodyPr>
          <a:lstStyle/>
          <a:p>
            <a:pPr>
              <a:defRPr sz="1200" b="1">
                <a:solidFill>
                  <a:srgbClr val="00377B"/>
                </a:solidFill>
                <a:latin typeface="Segoe UI"/>
              </a:defRPr>
            </a:pPr>
            <a:r>
              <a:t>• Đơn vị thực hiện: Trung tâm Công nghệ Thông tin Co-opBank</a:t>
            </a:r>
          </a:p>
          <a:p>
            <a:pPr>
              <a:defRPr sz="1200">
                <a:solidFill>
                  <a:srgbClr val="09090B"/>
                </a:solidFill>
                <a:latin typeface="Segoe UI"/>
              </a:defRPr>
            </a:pPr>
            <a:r>
              <a:t>• Đối tượng báo cáo: Ban Quản trị / Ban Giám đốc Ngân hàng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000" b="1">
                <a:solidFill>
                  <a:srgbClr val="0EA5E9"/>
                </a:solidFill>
                <a:latin typeface="Segoe UI"/>
              </a:defRPr>
            </a:pPr>
            <a:r>
              <a:t>HỆ THỐNG QUẢN LÝ DỰ ÁN &amp; HỢP ĐỒNG | CO-OPBANK</a:t>
            </a:r>
          </a:p>
        </p:txBody>
      </p:sp>
      <p:sp>
        <p:nvSpPr>
          <p:cNvPr id="4" name="TextBox 3"/>
          <p:cNvSpPr txBox="1"/>
          <p:nvPr/>
        </p:nvSpPr>
        <p:spPr>
          <a:xfrm>
            <a:off x="731520" y="384048"/>
            <a:ext cx="10698480" cy="548640"/>
          </a:xfrm>
          <a:prstGeom prst="rect">
            <a:avLst/>
          </a:prstGeom>
          <a:noFill/>
        </p:spPr>
        <p:txBody>
          <a:bodyPr wrap="square">
            <a:spAutoFit/>
          </a:bodyPr>
          <a:lstStyle/>
          <a:p>
            <a:pPr>
              <a:defRPr sz="2200" b="1">
                <a:solidFill>
                  <a:srgbClr val="FFFFFF"/>
                </a:solidFill>
                <a:latin typeface="Segoe UI"/>
              </a:defRPr>
            </a:pPr>
            <a:r>
              <a:t>Mục Tiêu Chiến Lược &amp; Định Hướng Triển Khai</a:t>
            </a:r>
          </a:p>
        </p:txBody>
      </p:sp>
      <p:sp>
        <p:nvSpPr>
          <p:cNvPr id="5" name="Rectangle 4"/>
          <p:cNvSpPr/>
          <p:nvPr/>
        </p:nvSpPr>
        <p:spPr>
          <a:xfrm>
            <a:off x="0" y="1051560"/>
            <a:ext cx="12191695"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698480" cy="320040"/>
          </a:xfrm>
          <a:prstGeom prst="rect">
            <a:avLst/>
          </a:prstGeom>
          <a:noFill/>
        </p:spPr>
        <p:txBody>
          <a:bodyPr wrap="none">
            <a:spAutoFit/>
          </a:bodyPr>
          <a:lstStyle/>
          <a:p>
            <a:pPr>
              <a:defRPr sz="950">
                <a:solidFill>
                  <a:srgbClr val="64748B"/>
                </a:solidFill>
                <a:latin typeface="Segoe UI"/>
              </a:defRPr>
            </a:pPr>
            <a:r>
              <a:t>Ngân hàng Hợp tác xã Việt Nam (Co-opBank) • Báo cáo Ban Quản trị</a:t>
            </a:r>
          </a:p>
        </p:txBody>
      </p:sp>
      <p:sp>
        <p:nvSpPr>
          <p:cNvPr id="7" name="Rounded Rectangle 6"/>
          <p:cNvSpPr/>
          <p:nvPr/>
        </p:nvSpPr>
        <p:spPr>
          <a:xfrm>
            <a:off x="731520" y="1371600"/>
            <a:ext cx="5212080" cy="23317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5212080" cy="502920"/>
          </a:xfrm>
          <a:prstGeom prst="rect">
            <a:avLst/>
          </a:prstGeom>
          <a:solidFill>
            <a:srgbClr val="E6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417320"/>
            <a:ext cx="4937760" cy="411480"/>
          </a:xfrm>
          <a:prstGeom prst="rect">
            <a:avLst/>
          </a:prstGeom>
          <a:noFill/>
        </p:spPr>
        <p:txBody>
          <a:bodyPr wrap="none">
            <a:spAutoFit/>
          </a:bodyPr>
          <a:lstStyle/>
          <a:p>
            <a:pPr>
              <a:defRPr sz="1050" b="1">
                <a:solidFill>
                  <a:srgbClr val="00377B"/>
                </a:solidFill>
                <a:latin typeface="Segoe UI"/>
              </a:defRPr>
            </a:pPr>
            <a:r>
              <a:t>1. TẬP TRUNG HÓA DỮ LIỆU TOÀN HÀNG  |  Xây dựng cơ sở dữ liệu duy nhất</a:t>
            </a:r>
          </a:p>
        </p:txBody>
      </p:sp>
      <p:sp>
        <p:nvSpPr>
          <p:cNvPr id="10" name="TextBox 9"/>
          <p:cNvSpPr txBox="1"/>
          <p:nvPr/>
        </p:nvSpPr>
        <p:spPr>
          <a:xfrm>
            <a:off x="868680" y="1965960"/>
            <a:ext cx="4937760" cy="1645920"/>
          </a:xfrm>
          <a:prstGeom prst="rect">
            <a:avLst/>
          </a:prstGeom>
          <a:noFill/>
        </p:spPr>
        <p:txBody>
          <a:bodyPr wrap="square">
            <a:spAutoFit/>
          </a:bodyPr>
          <a:lstStyle/>
          <a:p>
            <a:pPr>
              <a:spcAft>
                <a:spcPts val="300"/>
              </a:spcAft>
              <a:defRPr sz="1050">
                <a:solidFill>
                  <a:srgbClr val="09090B"/>
                </a:solidFill>
                <a:latin typeface="Segoe UI"/>
              </a:defRPr>
            </a:pPr>
            <a:r>
              <a:t>✔ Quản lý tập trung 100% danh mục Dự án, Gói thầu, Hợp đồng và Đối tác.</a:t>
            </a:r>
          </a:p>
          <a:p>
            <a:pPr>
              <a:spcAft>
                <a:spcPts val="300"/>
              </a:spcAft>
              <a:defRPr sz="1050">
                <a:solidFill>
                  <a:srgbClr val="09090B"/>
                </a:solidFill>
                <a:latin typeface="Segoe UI"/>
              </a:defRPr>
            </a:pPr>
            <a:r>
              <a:t>✔ Chuẩn hóa dữ liệu kế hoạch vốn, loại bỏ hoàn toàn sự phân mảnh và sai lệch.</a:t>
            </a:r>
          </a:p>
          <a:p>
            <a:pPr>
              <a:spcAft>
                <a:spcPts val="300"/>
              </a:spcAft>
              <a:defRPr sz="1050">
                <a:solidFill>
                  <a:srgbClr val="09090B"/>
                </a:solidFill>
                <a:latin typeface="Segoe UI"/>
              </a:defRPr>
            </a:pPr>
            <a:r>
              <a:t>✔ Tạo nền tảng dữ liệu số đồng bộ phục vụ tra cứu tức thì cho mọi cấp lãnh đạo.</a:t>
            </a:r>
          </a:p>
        </p:txBody>
      </p:sp>
      <p:sp>
        <p:nvSpPr>
          <p:cNvPr id="11" name="Rounded Rectangle 10"/>
          <p:cNvSpPr/>
          <p:nvPr/>
        </p:nvSpPr>
        <p:spPr>
          <a:xfrm>
            <a:off x="6217920" y="1371600"/>
            <a:ext cx="5212080" cy="23317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371600"/>
            <a:ext cx="5212080" cy="502920"/>
          </a:xfrm>
          <a:prstGeom prst="rect">
            <a:avLst/>
          </a:prstGeom>
          <a:solidFill>
            <a:srgbClr val="E6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417320"/>
            <a:ext cx="4937760" cy="411480"/>
          </a:xfrm>
          <a:prstGeom prst="rect">
            <a:avLst/>
          </a:prstGeom>
          <a:noFill/>
        </p:spPr>
        <p:txBody>
          <a:bodyPr wrap="none">
            <a:spAutoFit/>
          </a:bodyPr>
          <a:lstStyle/>
          <a:p>
            <a:pPr>
              <a:defRPr sz="1050" b="1">
                <a:solidFill>
                  <a:srgbClr val="00377B"/>
                </a:solidFill>
                <a:latin typeface="Segoe UI"/>
              </a:defRPr>
            </a:pPr>
            <a:r>
              <a:t>2. KIỂM SOÁT CHẶT CHẼ TIẾN ĐỘ &amp; DÒNG TIỀN  |  Minh bạch từng kỳ giải ngân</a:t>
            </a:r>
          </a:p>
        </p:txBody>
      </p:sp>
      <p:sp>
        <p:nvSpPr>
          <p:cNvPr id="14" name="TextBox 13"/>
          <p:cNvSpPr txBox="1"/>
          <p:nvPr/>
        </p:nvSpPr>
        <p:spPr>
          <a:xfrm>
            <a:off x="6355080" y="1965960"/>
            <a:ext cx="4937760" cy="1645920"/>
          </a:xfrm>
          <a:prstGeom prst="rect">
            <a:avLst/>
          </a:prstGeom>
          <a:noFill/>
        </p:spPr>
        <p:txBody>
          <a:bodyPr wrap="square">
            <a:spAutoFit/>
          </a:bodyPr>
          <a:lstStyle/>
          <a:p>
            <a:pPr>
              <a:spcAft>
                <a:spcPts val="300"/>
              </a:spcAft>
              <a:defRPr sz="1050">
                <a:solidFill>
                  <a:srgbClr val="09090B"/>
                </a:solidFill>
                <a:latin typeface="Segoe UI"/>
              </a:defRPr>
            </a:pPr>
            <a:r>
              <a:t>✔ Giám sát thực tế tỷ lệ giải ngân so với kế hoạch vốn được phê duyệt.</a:t>
            </a:r>
          </a:p>
          <a:p>
            <a:pPr>
              <a:spcAft>
                <a:spcPts val="300"/>
              </a:spcAft>
              <a:defRPr sz="1050">
                <a:solidFill>
                  <a:srgbClr val="09090B"/>
                </a:solidFill>
                <a:latin typeface="Segoe UI"/>
              </a:defRPr>
            </a:pPr>
            <a:r>
              <a:t>✔ Quản lý chi tiết từng đợt tạm ứng, thanh toán, điều kiện nghiệm thu và quyết toán.</a:t>
            </a:r>
          </a:p>
          <a:p>
            <a:pPr>
              <a:spcAft>
                <a:spcPts val="300"/>
              </a:spcAft>
              <a:defRPr sz="1050">
                <a:solidFill>
                  <a:srgbClr val="09090B"/>
                </a:solidFill>
                <a:latin typeface="Segoe UI"/>
              </a:defRPr>
            </a:pPr>
            <a:r>
              <a:t>✔ Cảnh báo tức thời nguy cơ chậm tiến độ hoặc vượt hạn mức dự toán.</a:t>
            </a:r>
          </a:p>
        </p:txBody>
      </p:sp>
      <p:sp>
        <p:nvSpPr>
          <p:cNvPr id="15" name="Rounded Rectangle 14"/>
          <p:cNvSpPr/>
          <p:nvPr/>
        </p:nvSpPr>
        <p:spPr>
          <a:xfrm>
            <a:off x="731520" y="3840480"/>
            <a:ext cx="5212080" cy="23317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3840480"/>
            <a:ext cx="5212080" cy="502920"/>
          </a:xfrm>
          <a:prstGeom prst="rect">
            <a:avLst/>
          </a:prstGeom>
          <a:solidFill>
            <a:srgbClr val="E6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886200"/>
            <a:ext cx="4937760" cy="411480"/>
          </a:xfrm>
          <a:prstGeom prst="rect">
            <a:avLst/>
          </a:prstGeom>
          <a:noFill/>
        </p:spPr>
        <p:txBody>
          <a:bodyPr wrap="none">
            <a:spAutoFit/>
          </a:bodyPr>
          <a:lstStyle/>
          <a:p>
            <a:pPr>
              <a:defRPr sz="1050" b="1">
                <a:solidFill>
                  <a:srgbClr val="00377B"/>
                </a:solidFill>
                <a:latin typeface="Segoe UI"/>
              </a:defRPr>
            </a:pPr>
            <a:r>
              <a:t>3. TỰ ĐỘNG HÓA CẢNH BÁO BẢN QUYỀN &amp; HỢP ĐỒNG  |  Chủ động phòng ngừa rủi ro</a:t>
            </a:r>
          </a:p>
        </p:txBody>
      </p:sp>
      <p:sp>
        <p:nvSpPr>
          <p:cNvPr id="18" name="TextBox 17"/>
          <p:cNvSpPr txBox="1"/>
          <p:nvPr/>
        </p:nvSpPr>
        <p:spPr>
          <a:xfrm>
            <a:off x="868680" y="4434840"/>
            <a:ext cx="4937760" cy="1645920"/>
          </a:xfrm>
          <a:prstGeom prst="rect">
            <a:avLst/>
          </a:prstGeom>
          <a:noFill/>
        </p:spPr>
        <p:txBody>
          <a:bodyPr wrap="square">
            <a:spAutoFit/>
          </a:bodyPr>
          <a:lstStyle/>
          <a:p>
            <a:pPr>
              <a:spcAft>
                <a:spcPts val="300"/>
              </a:spcAft>
              <a:defRPr sz="1050">
                <a:solidFill>
                  <a:srgbClr val="09090B"/>
                </a:solidFill>
                <a:latin typeface="Segoe UI"/>
              </a:defRPr>
            </a:pPr>
            <a:r>
              <a:t>✔ Tự động quét và gửi thông báo trước 30 - 60 - 90 ngày khi hợp đồng đến hạn.</a:t>
            </a:r>
          </a:p>
          <a:p>
            <a:pPr>
              <a:spcAft>
                <a:spcPts val="300"/>
              </a:spcAft>
              <a:defRPr sz="1050">
                <a:solidFill>
                  <a:srgbClr val="09090B"/>
                </a:solidFill>
                <a:latin typeface="Segoe UI"/>
              </a:defRPr>
            </a:pPr>
            <a:r>
              <a:t>✔ Quản lý hạn sử dụng các dòng bản quyền phần mềm, bảo trì hệ thống CNTT.</a:t>
            </a:r>
          </a:p>
          <a:p>
            <a:pPr>
              <a:spcAft>
                <a:spcPts val="300"/>
              </a:spcAft>
              <a:defRPr sz="1050">
                <a:solidFill>
                  <a:srgbClr val="09090B"/>
                </a:solidFill>
                <a:latin typeface="Segoe UI"/>
              </a:defRPr>
            </a:pPr>
            <a:r>
              <a:t>✔ Đảm bảo duy trì liên tục hoạt động của các hệ thống trọng yếu của Ngân hàng.</a:t>
            </a:r>
          </a:p>
        </p:txBody>
      </p:sp>
      <p:sp>
        <p:nvSpPr>
          <p:cNvPr id="19" name="Rounded Rectangle 18"/>
          <p:cNvSpPr/>
          <p:nvPr/>
        </p:nvSpPr>
        <p:spPr>
          <a:xfrm>
            <a:off x="6217920" y="3840480"/>
            <a:ext cx="5212080" cy="23317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3840480"/>
            <a:ext cx="5212080" cy="502920"/>
          </a:xfrm>
          <a:prstGeom prst="rect">
            <a:avLst/>
          </a:prstGeom>
          <a:solidFill>
            <a:srgbClr val="E6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3886200"/>
            <a:ext cx="4937760" cy="411480"/>
          </a:xfrm>
          <a:prstGeom prst="rect">
            <a:avLst/>
          </a:prstGeom>
          <a:noFill/>
        </p:spPr>
        <p:txBody>
          <a:bodyPr wrap="none">
            <a:spAutoFit/>
          </a:bodyPr>
          <a:lstStyle/>
          <a:p>
            <a:pPr>
              <a:defRPr sz="1050" b="1">
                <a:solidFill>
                  <a:srgbClr val="00377B"/>
                </a:solidFill>
                <a:latin typeface="Segoe UI"/>
              </a:defRPr>
            </a:pPr>
            <a:r>
              <a:t>4. TỐI ƯU HÓA &amp; CHUẨN HÓA BÁO CÁO QUẢN TRỊ  |  Phục vụ điều hành nhanh chóng</a:t>
            </a:r>
          </a:p>
        </p:txBody>
      </p:sp>
      <p:sp>
        <p:nvSpPr>
          <p:cNvPr id="22" name="TextBox 21"/>
          <p:cNvSpPr txBox="1"/>
          <p:nvPr/>
        </p:nvSpPr>
        <p:spPr>
          <a:xfrm>
            <a:off x="6355080" y="4434840"/>
            <a:ext cx="4937760" cy="1645920"/>
          </a:xfrm>
          <a:prstGeom prst="rect">
            <a:avLst/>
          </a:prstGeom>
          <a:noFill/>
        </p:spPr>
        <p:txBody>
          <a:bodyPr wrap="square">
            <a:spAutoFit/>
          </a:bodyPr>
          <a:lstStyle/>
          <a:p>
            <a:pPr>
              <a:spcAft>
                <a:spcPts val="300"/>
              </a:spcAft>
              <a:defRPr sz="1050">
                <a:solidFill>
                  <a:srgbClr val="09090B"/>
                </a:solidFill>
                <a:latin typeface="Segoe UI"/>
              </a:defRPr>
            </a:pPr>
            <a:r>
              <a:t>✔ Tự động trích xuất các biểu mẫu báo cáo tiến độ thanh toán và biểu mẫu NHNN.</a:t>
            </a:r>
          </a:p>
          <a:p>
            <a:pPr>
              <a:spcAft>
                <a:spcPts val="300"/>
              </a:spcAft>
              <a:defRPr sz="1050">
                <a:solidFill>
                  <a:srgbClr val="09090B"/>
                </a:solidFill>
                <a:latin typeface="Segoe UI"/>
              </a:defRPr>
            </a:pPr>
            <a:r>
              <a:t>✔ Xuất dữ liệu Excel chuẩn định dạng chỉ với 1 click chuột, tiết kiệm 95% thời gian.</a:t>
            </a:r>
          </a:p>
          <a:p>
            <a:pPr>
              <a:spcAft>
                <a:spcPts val="300"/>
              </a:spcAft>
              <a:defRPr sz="1050">
                <a:solidFill>
                  <a:srgbClr val="09090B"/>
                </a:solidFill>
                <a:latin typeface="Segoe UI"/>
              </a:defRPr>
            </a:pPr>
            <a:r>
              <a:t>✔ Ghi vết đầy đủ lịch sử kiểm toán (Audit Trail), đáp ứng chuẩn kiểm toán nội bộ.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000" b="1">
                <a:solidFill>
                  <a:srgbClr val="0EA5E9"/>
                </a:solidFill>
                <a:latin typeface="Segoe UI"/>
              </a:defRPr>
            </a:pPr>
            <a:r>
              <a:t>HỆ THỐNG QUẢN LÝ DỰ ÁN &amp; HỢP ĐỒNG | CO-OPBANK</a:t>
            </a:r>
          </a:p>
        </p:txBody>
      </p:sp>
      <p:sp>
        <p:nvSpPr>
          <p:cNvPr id="4" name="TextBox 3"/>
          <p:cNvSpPr txBox="1"/>
          <p:nvPr/>
        </p:nvSpPr>
        <p:spPr>
          <a:xfrm>
            <a:off x="731520" y="384048"/>
            <a:ext cx="10698480" cy="548640"/>
          </a:xfrm>
          <a:prstGeom prst="rect">
            <a:avLst/>
          </a:prstGeom>
          <a:noFill/>
        </p:spPr>
        <p:txBody>
          <a:bodyPr wrap="square">
            <a:spAutoFit/>
          </a:bodyPr>
          <a:lstStyle/>
          <a:p>
            <a:pPr>
              <a:defRPr sz="2200" b="1">
                <a:solidFill>
                  <a:srgbClr val="FFFFFF"/>
                </a:solidFill>
                <a:latin typeface="Segoe UI"/>
              </a:defRPr>
            </a:pPr>
            <a:r>
              <a:t>Tổng Quan Hệ Thống &amp; Luồng Nghiệp Vụ Xuyên Suốt</a:t>
            </a:r>
          </a:p>
        </p:txBody>
      </p:sp>
      <p:sp>
        <p:nvSpPr>
          <p:cNvPr id="5" name="Rectangle 4"/>
          <p:cNvSpPr/>
          <p:nvPr/>
        </p:nvSpPr>
        <p:spPr>
          <a:xfrm>
            <a:off x="0" y="1051560"/>
            <a:ext cx="12191695"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698480" cy="320040"/>
          </a:xfrm>
          <a:prstGeom prst="rect">
            <a:avLst/>
          </a:prstGeom>
          <a:noFill/>
        </p:spPr>
        <p:txBody>
          <a:bodyPr wrap="none">
            <a:spAutoFit/>
          </a:bodyPr>
          <a:lstStyle/>
          <a:p>
            <a:pPr>
              <a:defRPr sz="950">
                <a:solidFill>
                  <a:srgbClr val="64748B"/>
                </a:solidFill>
                <a:latin typeface="Segoe UI"/>
              </a:defRPr>
            </a:pPr>
            <a:r>
              <a:t>Ngân hàng Hợp tác xã Việt Nam (Co-opBank) • Báo cáo Ban Quản trị</a:t>
            </a:r>
          </a:p>
        </p:txBody>
      </p:sp>
      <p:sp>
        <p:nvSpPr>
          <p:cNvPr id="7" name="Rounded Rectangle 6"/>
          <p:cNvSpPr/>
          <p:nvPr/>
        </p:nvSpPr>
        <p:spPr>
          <a:xfrm>
            <a:off x="731520" y="1371600"/>
            <a:ext cx="10698480" cy="84124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14400" y="1481328"/>
            <a:ext cx="2926080" cy="621792"/>
          </a:xfrm>
          <a:prstGeom prst="roundRect">
            <a:avLst/>
          </a:prstGeom>
          <a:solidFill>
            <a:srgbClr val="E6EBF2"/>
          </a:solidFill>
          <a:ln>
            <a:solidFill>
              <a:srgbClr val="00377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377B"/>
                </a:solidFill>
                <a:latin typeface="Segoe UI"/>
              </a:defRPr>
            </a:pPr>
            <a:r>
              <a:t>1. QUẢN LÝ DỰ ÁN</a:t>
            </a:r>
          </a:p>
        </p:txBody>
      </p:sp>
      <p:sp>
        <p:nvSpPr>
          <p:cNvPr id="9" name="TextBox 8"/>
          <p:cNvSpPr txBox="1"/>
          <p:nvPr/>
        </p:nvSpPr>
        <p:spPr>
          <a:xfrm>
            <a:off x="4023360" y="1481328"/>
            <a:ext cx="7132320" cy="621792"/>
          </a:xfrm>
          <a:prstGeom prst="rect">
            <a:avLst/>
          </a:prstGeom>
          <a:noFill/>
        </p:spPr>
        <p:txBody>
          <a:bodyPr wrap="square">
            <a:spAutoFit/>
          </a:bodyPr>
          <a:lstStyle/>
          <a:p>
            <a:pPr>
              <a:defRPr sz="1150">
                <a:solidFill>
                  <a:srgbClr val="09090B"/>
                </a:solidFill>
                <a:latin typeface="Segoe UI"/>
              </a:defRPr>
            </a:pPr>
            <a:r>
              <a:t>Khởi tạo danh mục dự án, phê duyệt kế hoạch vốn và quyết định phê duyệt dự toán.</a:t>
            </a:r>
          </a:p>
        </p:txBody>
      </p:sp>
      <p:sp>
        <p:nvSpPr>
          <p:cNvPr id="10" name="Rounded Rectangle 9"/>
          <p:cNvSpPr/>
          <p:nvPr/>
        </p:nvSpPr>
        <p:spPr>
          <a:xfrm>
            <a:off x="731520" y="2331720"/>
            <a:ext cx="10698480" cy="84124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14400" y="2441448"/>
            <a:ext cx="2926080" cy="621792"/>
          </a:xfrm>
          <a:prstGeom prst="roundRect">
            <a:avLst/>
          </a:prstGeom>
          <a:solidFill>
            <a:srgbClr val="E6EBF2"/>
          </a:solidFill>
          <a:ln>
            <a:solidFill>
              <a:srgbClr val="00377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377B"/>
                </a:solidFill>
                <a:latin typeface="Segoe UI"/>
              </a:defRPr>
            </a:pPr>
            <a:r>
              <a:t>2. QUẢN LÝ GÓI THẦU</a:t>
            </a:r>
          </a:p>
        </p:txBody>
      </p:sp>
      <p:sp>
        <p:nvSpPr>
          <p:cNvPr id="12" name="TextBox 11"/>
          <p:cNvSpPr txBox="1"/>
          <p:nvPr/>
        </p:nvSpPr>
        <p:spPr>
          <a:xfrm>
            <a:off x="4023360" y="2441448"/>
            <a:ext cx="7132320" cy="621792"/>
          </a:xfrm>
          <a:prstGeom prst="rect">
            <a:avLst/>
          </a:prstGeom>
          <a:noFill/>
        </p:spPr>
        <p:txBody>
          <a:bodyPr wrap="square">
            <a:spAutoFit/>
          </a:bodyPr>
          <a:lstStyle/>
          <a:p>
            <a:pPr>
              <a:defRPr sz="1150">
                <a:solidFill>
                  <a:srgbClr val="09090B"/>
                </a:solidFill>
                <a:latin typeface="Segoe UI"/>
              </a:defRPr>
            </a:pPr>
            <a:r>
              <a:t>Lập kế hoạch mua sắm, theo dõi quá trình lựa chọn nhà thầu và QĐ phê duyệt KQLCNT.</a:t>
            </a:r>
          </a:p>
        </p:txBody>
      </p:sp>
      <p:sp>
        <p:nvSpPr>
          <p:cNvPr id="13" name="Rounded Rectangle 12"/>
          <p:cNvSpPr/>
          <p:nvPr/>
        </p:nvSpPr>
        <p:spPr>
          <a:xfrm>
            <a:off x="731520" y="3291840"/>
            <a:ext cx="10698480" cy="84124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14400" y="3401568"/>
            <a:ext cx="2926080" cy="621792"/>
          </a:xfrm>
          <a:prstGeom prst="roundRect">
            <a:avLst/>
          </a:prstGeom>
          <a:solidFill>
            <a:srgbClr val="E6EBF2"/>
          </a:solidFill>
          <a:ln>
            <a:solidFill>
              <a:srgbClr val="00377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377B"/>
                </a:solidFill>
                <a:latin typeface="Segoe UI"/>
              </a:defRPr>
            </a:pPr>
            <a:r>
              <a:t>3. QUẢN LÝ HỢP ĐỒNG &amp; ĐỐI TÁC</a:t>
            </a:r>
          </a:p>
        </p:txBody>
      </p:sp>
      <p:sp>
        <p:nvSpPr>
          <p:cNvPr id="15" name="TextBox 14"/>
          <p:cNvSpPr txBox="1"/>
          <p:nvPr/>
        </p:nvSpPr>
        <p:spPr>
          <a:xfrm>
            <a:off x="4023360" y="3401568"/>
            <a:ext cx="7132320" cy="621792"/>
          </a:xfrm>
          <a:prstGeom prst="rect">
            <a:avLst/>
          </a:prstGeom>
          <a:noFill/>
        </p:spPr>
        <p:txBody>
          <a:bodyPr wrap="square">
            <a:spAutoFit/>
          </a:bodyPr>
          <a:lstStyle/>
          <a:p>
            <a:pPr>
              <a:defRPr sz="1150">
                <a:solidFill>
                  <a:srgbClr val="09090B"/>
                </a:solidFill>
                <a:latin typeface="Segoe UI"/>
              </a:defRPr>
            </a:pPr>
            <a:r>
              <a:t>Ký kết hợp đồng, quản lý hồ sơ nhà thầu, phụ lục, danh mục license và cảnh báo hạn tự động.</a:t>
            </a:r>
          </a:p>
        </p:txBody>
      </p:sp>
      <p:sp>
        <p:nvSpPr>
          <p:cNvPr id="16" name="Rounded Rectangle 15"/>
          <p:cNvSpPr/>
          <p:nvPr/>
        </p:nvSpPr>
        <p:spPr>
          <a:xfrm>
            <a:off x="731520" y="4251960"/>
            <a:ext cx="10698480" cy="84124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4400" y="4361688"/>
            <a:ext cx="2926080" cy="621792"/>
          </a:xfrm>
          <a:prstGeom prst="roundRect">
            <a:avLst/>
          </a:prstGeom>
          <a:solidFill>
            <a:srgbClr val="E6EBF2"/>
          </a:solidFill>
          <a:ln>
            <a:solidFill>
              <a:srgbClr val="00377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377B"/>
                </a:solidFill>
                <a:latin typeface="Segoe UI"/>
              </a:defRPr>
            </a:pPr>
            <a:r>
              <a:t>4. GIẢI NGÂN &amp; THANH TOÁN</a:t>
            </a:r>
          </a:p>
        </p:txBody>
      </p:sp>
      <p:sp>
        <p:nvSpPr>
          <p:cNvPr id="18" name="TextBox 17"/>
          <p:cNvSpPr txBox="1"/>
          <p:nvPr/>
        </p:nvSpPr>
        <p:spPr>
          <a:xfrm>
            <a:off x="4023360" y="4361688"/>
            <a:ext cx="7132320" cy="621792"/>
          </a:xfrm>
          <a:prstGeom prst="rect">
            <a:avLst/>
          </a:prstGeom>
          <a:noFill/>
        </p:spPr>
        <p:txBody>
          <a:bodyPr wrap="square">
            <a:spAutoFit/>
          </a:bodyPr>
          <a:lstStyle/>
          <a:p>
            <a:pPr>
              <a:defRPr sz="1150">
                <a:solidFill>
                  <a:srgbClr val="09090B"/>
                </a:solidFill>
                <a:latin typeface="Segoe UI"/>
              </a:defRPr>
            </a:pPr>
            <a:r>
              <a:t>Theo dõi tạm ứng, thanh toán từng đợt theo mốc nghiệm thu và quyết toán đóng hợp đồng.</a:t>
            </a:r>
          </a:p>
        </p:txBody>
      </p:sp>
      <p:sp>
        <p:nvSpPr>
          <p:cNvPr id="19" name="Rounded Rectangle 18"/>
          <p:cNvSpPr/>
          <p:nvPr/>
        </p:nvSpPr>
        <p:spPr>
          <a:xfrm>
            <a:off x="731520" y="5212080"/>
            <a:ext cx="10698480" cy="84124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14400" y="5321808"/>
            <a:ext cx="2926080" cy="621792"/>
          </a:xfrm>
          <a:prstGeom prst="roundRect">
            <a:avLst/>
          </a:prstGeom>
          <a:solidFill>
            <a:srgbClr val="E6EBF2"/>
          </a:solidFill>
          <a:ln>
            <a:solidFill>
              <a:srgbClr val="00377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377B"/>
                </a:solidFill>
                <a:latin typeface="Segoe UI"/>
              </a:defRPr>
            </a:pPr>
            <a:r>
              <a:t>5. BÁO CÁO &amp; ĐIỀU HÀNH</a:t>
            </a:r>
          </a:p>
        </p:txBody>
      </p:sp>
      <p:sp>
        <p:nvSpPr>
          <p:cNvPr id="21" name="TextBox 20"/>
          <p:cNvSpPr txBox="1"/>
          <p:nvPr/>
        </p:nvSpPr>
        <p:spPr>
          <a:xfrm>
            <a:off x="4023360" y="5321808"/>
            <a:ext cx="7132320" cy="621792"/>
          </a:xfrm>
          <a:prstGeom prst="rect">
            <a:avLst/>
          </a:prstGeom>
          <a:noFill/>
        </p:spPr>
        <p:txBody>
          <a:bodyPr wrap="square">
            <a:spAutoFit/>
          </a:bodyPr>
          <a:lstStyle/>
          <a:p>
            <a:pPr>
              <a:defRPr sz="1150">
                <a:solidFill>
                  <a:srgbClr val="09090B"/>
                </a:solidFill>
                <a:latin typeface="Segoe UI"/>
              </a:defRPr>
            </a:pPr>
            <a:r>
              <a:t>Tự động trích xuất các biểu mẫu báo cáo thanh toán, biểu mẫu TTCNTT và xuất file Excel tức thì.</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000" b="1">
                <a:solidFill>
                  <a:srgbClr val="0EA5E9"/>
                </a:solidFill>
                <a:latin typeface="Segoe UI"/>
              </a:defRPr>
            </a:pPr>
            <a:r>
              <a:t>HỆ THỐNG QUẢN LÝ DỰ ÁN &amp; HỢP ĐỒNG | CO-OPBANK</a:t>
            </a:r>
          </a:p>
        </p:txBody>
      </p:sp>
      <p:sp>
        <p:nvSpPr>
          <p:cNvPr id="4" name="TextBox 3"/>
          <p:cNvSpPr txBox="1"/>
          <p:nvPr/>
        </p:nvSpPr>
        <p:spPr>
          <a:xfrm>
            <a:off x="731520" y="384048"/>
            <a:ext cx="10698480" cy="548640"/>
          </a:xfrm>
          <a:prstGeom prst="rect">
            <a:avLst/>
          </a:prstGeom>
          <a:noFill/>
        </p:spPr>
        <p:txBody>
          <a:bodyPr wrap="square">
            <a:spAutoFit/>
          </a:bodyPr>
          <a:lstStyle/>
          <a:p>
            <a:pPr>
              <a:defRPr sz="2200" b="1">
                <a:solidFill>
                  <a:srgbClr val="FFFFFF"/>
                </a:solidFill>
                <a:latin typeface="Segoe UI"/>
              </a:defRPr>
            </a:pPr>
            <a:r>
              <a:t>Phân Hệ Quản Lý Dự Án</a:t>
            </a:r>
          </a:p>
        </p:txBody>
      </p:sp>
      <p:sp>
        <p:nvSpPr>
          <p:cNvPr id="5" name="Rectangle 4"/>
          <p:cNvSpPr/>
          <p:nvPr/>
        </p:nvSpPr>
        <p:spPr>
          <a:xfrm>
            <a:off x="0" y="1051560"/>
            <a:ext cx="12191695"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698480" cy="320040"/>
          </a:xfrm>
          <a:prstGeom prst="rect">
            <a:avLst/>
          </a:prstGeom>
          <a:noFill/>
        </p:spPr>
        <p:txBody>
          <a:bodyPr wrap="none">
            <a:spAutoFit/>
          </a:bodyPr>
          <a:lstStyle/>
          <a:p>
            <a:pPr>
              <a:defRPr sz="950">
                <a:solidFill>
                  <a:srgbClr val="64748B"/>
                </a:solidFill>
                <a:latin typeface="Segoe UI"/>
              </a:defRPr>
            </a:pPr>
            <a:r>
              <a:t>Ngân hàng Hợp tác xã Việt Nam (Co-opBank) • Báo cáo Ban Quản trị</a:t>
            </a:r>
          </a:p>
        </p:txBody>
      </p:sp>
      <p:sp>
        <p:nvSpPr>
          <p:cNvPr id="7" name="Rounded Rectangle 6"/>
          <p:cNvSpPr/>
          <p:nvPr/>
        </p:nvSpPr>
        <p:spPr>
          <a:xfrm>
            <a:off x="731520" y="1371600"/>
            <a:ext cx="685800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554480"/>
            <a:ext cx="6309360" cy="4297680"/>
          </a:xfrm>
          <a:prstGeom prst="rect">
            <a:avLst/>
          </a:prstGeom>
          <a:noFill/>
        </p:spPr>
        <p:txBody>
          <a:bodyPr wrap="square">
            <a:spAutoFit/>
          </a:bodyPr>
          <a:lstStyle/>
          <a:p>
            <a:pPr>
              <a:spcAft>
                <a:spcPts val="1200"/>
              </a:spcAft>
              <a:defRPr sz="1300" b="1">
                <a:solidFill>
                  <a:srgbClr val="00377B"/>
                </a:solidFill>
                <a:latin typeface="Segoe UI"/>
              </a:defRPr>
            </a:pPr>
            <a:r>
              <a:t>QUẢN TRỊ DANH MỤC ĐẦU TƯ &amp; KẾ HOẠCH VỐN</a:t>
            </a:r>
          </a:p>
          <a:p>
            <a:pPr>
              <a:spcAft>
                <a:spcPts val="800"/>
              </a:spcAft>
              <a:defRPr sz="1150">
                <a:solidFill>
                  <a:srgbClr val="09090B"/>
                </a:solidFill>
                <a:latin typeface="Segoe UI"/>
              </a:defRPr>
            </a:pPr>
            <a:r>
              <a:t>✔ Quản lý 3 Nhóm Dự án CNTT trọng điểm: Hạ tầng CNTT (Máy chủ, lưu trữ, Data Center), An ninh bảo mật (Firewall, SOC, DLP) và Hệ thống phần mềm nghiệp vụ (CoreBanking, CF-eBank, PRMS...).</a:t>
            </a:r>
          </a:p>
          <a:p>
            <a:pPr>
              <a:spcAft>
                <a:spcPts val="800"/>
              </a:spcAft>
              <a:defRPr sz="1150">
                <a:solidFill>
                  <a:srgbClr val="09090B"/>
                </a:solidFill>
                <a:latin typeface="Segoe UI"/>
              </a:defRPr>
            </a:pPr>
            <a:r>
              <a:t>✔ Kiểm soát Đa Nguồn Vốn: Phân bổ chi tiết ngân sách theo Vốn điều lệ &amp; Quỹ dự trữ bổ sung VĐL, Quỹ đầu tư phát triển và Chi phí hoạt động.</a:t>
            </a:r>
          </a:p>
          <a:p>
            <a:pPr>
              <a:spcAft>
                <a:spcPts val="800"/>
              </a:spcAft>
              <a:defRPr sz="1150">
                <a:solidFill>
                  <a:srgbClr val="09090B"/>
                </a:solidFill>
                <a:latin typeface="Segoe UI"/>
              </a:defRPr>
            </a:pPr>
            <a:r>
              <a:t>✔ Quản lý Quyết định &amp; Dự toán: Lưu trữ số Quyết định phê duyệt chủ trương, Quyết định phê duyệt dự toán và tổng mức đầu tư được duyệt.</a:t>
            </a:r>
          </a:p>
          <a:p>
            <a:pPr>
              <a:spcAft>
                <a:spcPts val="800"/>
              </a:spcAft>
              <a:defRPr sz="1150">
                <a:solidFill>
                  <a:srgbClr val="09090B"/>
                </a:solidFill>
                <a:latin typeface="Segoe UI"/>
              </a:defRPr>
            </a:pPr>
            <a:r>
              <a:t>✔ Theo dõi Trạng thái Vòng đời: Trực quan hóa trạng thái: Chuẩn bị đầu tư, Đang mời thầu, Đang thực hiện HĐ, Đã quyết toán hoàn thành.</a:t>
            </a:r>
          </a:p>
        </p:txBody>
      </p:sp>
      <p:sp>
        <p:nvSpPr>
          <p:cNvPr id="9" name="Rounded Rectangle 8"/>
          <p:cNvSpPr/>
          <p:nvPr/>
        </p:nvSpPr>
        <p:spPr>
          <a:xfrm>
            <a:off x="7863840" y="1371600"/>
            <a:ext cx="3566160" cy="1463040"/>
          </a:xfrm>
          <a:prstGeom prst="roundRect">
            <a:avLst/>
          </a:prstGeom>
          <a:solidFill>
            <a:srgbClr val="E6EBF2"/>
          </a:solidFill>
          <a:ln w="19050">
            <a:solidFill>
              <a:srgbClr val="0037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1463040"/>
            <a:ext cx="3200400" cy="1280160"/>
          </a:xfrm>
          <a:prstGeom prst="rect">
            <a:avLst/>
          </a:prstGeom>
          <a:noFill/>
        </p:spPr>
        <p:txBody>
          <a:bodyPr wrap="square">
            <a:spAutoFit/>
          </a:bodyPr>
          <a:lstStyle/>
          <a:p>
            <a:pPr>
              <a:defRPr sz="1100" b="1">
                <a:solidFill>
                  <a:srgbClr val="00377B"/>
                </a:solidFill>
                <a:latin typeface="Segoe UI"/>
              </a:defRPr>
            </a:pPr>
            <a:r>
              <a:t>NGUỒN VỐN HÌNH THÀNH</a:t>
            </a:r>
          </a:p>
          <a:p>
            <a:pPr>
              <a:defRPr sz="1100" b="1">
                <a:solidFill>
                  <a:srgbClr val="09090B"/>
                </a:solidFill>
                <a:latin typeface="Segoe UI"/>
              </a:defRPr>
            </a:pPr>
            <a:r>
              <a:t>Phân loại nguồn vốn</a:t>
            </a:r>
          </a:p>
          <a:p>
            <a:pPr>
              <a:defRPr sz="950">
                <a:solidFill>
                  <a:srgbClr val="64748B"/>
                </a:solidFill>
                <a:latin typeface="Segoe UI"/>
              </a:defRPr>
            </a:pPr>
            <a:r>
              <a:t>Kiểm soát chi tiết theo Vốn ĐL, Quỹ ĐTPT và Chi phí theo năm tài chính.</a:t>
            </a:r>
          </a:p>
        </p:txBody>
      </p:sp>
      <p:sp>
        <p:nvSpPr>
          <p:cNvPr id="11" name="Rounded Rectangle 10"/>
          <p:cNvSpPr/>
          <p:nvPr/>
        </p:nvSpPr>
        <p:spPr>
          <a:xfrm>
            <a:off x="7863840" y="2971800"/>
            <a:ext cx="3566160" cy="1463040"/>
          </a:xfrm>
          <a:prstGeom prst="roundRect">
            <a:avLst/>
          </a:prstGeom>
          <a:solidFill>
            <a:srgbClr val="E6EBF2"/>
          </a:solidFill>
          <a:ln w="19050">
            <a:solidFill>
              <a:srgbClr val="335F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0" y="3063240"/>
            <a:ext cx="3200400" cy="1280160"/>
          </a:xfrm>
          <a:prstGeom prst="rect">
            <a:avLst/>
          </a:prstGeom>
          <a:noFill/>
        </p:spPr>
        <p:txBody>
          <a:bodyPr wrap="square">
            <a:spAutoFit/>
          </a:bodyPr>
          <a:lstStyle/>
          <a:p>
            <a:pPr>
              <a:defRPr sz="1100" b="1">
                <a:solidFill>
                  <a:srgbClr val="335F95"/>
                </a:solidFill>
                <a:latin typeface="Segoe UI"/>
              </a:defRPr>
            </a:pPr>
            <a:r>
              <a:t>QUYẾT ĐỊNH PHÊ DUYỆT</a:t>
            </a:r>
          </a:p>
          <a:p>
            <a:pPr>
              <a:defRPr sz="1100" b="1">
                <a:solidFill>
                  <a:srgbClr val="09090B"/>
                </a:solidFill>
                <a:latin typeface="Segoe UI"/>
              </a:defRPr>
            </a:pPr>
            <a:r>
              <a:t>Pháp lý đầy đủ</a:t>
            </a:r>
          </a:p>
          <a:p>
            <a:pPr>
              <a:defRPr sz="950">
                <a:solidFill>
                  <a:srgbClr val="64748B"/>
                </a:solidFill>
                <a:latin typeface="Segoe UI"/>
              </a:defRPr>
            </a:pPr>
            <a:r>
              <a:t>Lưu vết toàn bộ số quyết định dự toán và tổng mức đầu tư được duyệt.</a:t>
            </a:r>
          </a:p>
        </p:txBody>
      </p:sp>
      <p:sp>
        <p:nvSpPr>
          <p:cNvPr id="13" name="Rounded Rectangle 12"/>
          <p:cNvSpPr/>
          <p:nvPr/>
        </p:nvSpPr>
        <p:spPr>
          <a:xfrm>
            <a:off x="7863840" y="4572000"/>
            <a:ext cx="3566160" cy="1463040"/>
          </a:xfrm>
          <a:prstGeom prst="roundRect">
            <a:avLst/>
          </a:prstGeom>
          <a:solidFill>
            <a:srgbClr val="E6EBF2"/>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0" y="4663440"/>
            <a:ext cx="3200400" cy="1280160"/>
          </a:xfrm>
          <a:prstGeom prst="rect">
            <a:avLst/>
          </a:prstGeom>
          <a:noFill/>
        </p:spPr>
        <p:txBody>
          <a:bodyPr wrap="square">
            <a:spAutoFit/>
          </a:bodyPr>
          <a:lstStyle/>
          <a:p>
            <a:pPr>
              <a:defRPr sz="1100" b="1">
                <a:solidFill>
                  <a:srgbClr val="10B981"/>
                </a:solidFill>
                <a:latin typeface="Segoe UI"/>
              </a:defRPr>
            </a:pPr>
            <a:r>
              <a:t>KẾ THỪA DỮ LIỆU</a:t>
            </a:r>
          </a:p>
          <a:p>
            <a:pPr>
              <a:defRPr sz="1100" b="1">
                <a:solidFill>
                  <a:srgbClr val="09090B"/>
                </a:solidFill>
                <a:latin typeface="Segoe UI"/>
              </a:defRPr>
            </a:pPr>
            <a:r>
              <a:t>Liên kết thông suốt</a:t>
            </a:r>
          </a:p>
          <a:p>
            <a:pPr>
              <a:defRPr sz="950">
                <a:solidFill>
                  <a:srgbClr val="64748B"/>
                </a:solidFill>
                <a:latin typeface="Segoe UI"/>
              </a:defRPr>
            </a:pPr>
            <a:r>
              <a:t>Dự án liên kết trực tiếp tới các Gói thầu và Hợp đồng trực thuộc.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000" b="1">
                <a:solidFill>
                  <a:srgbClr val="0EA5E9"/>
                </a:solidFill>
                <a:latin typeface="Segoe UI"/>
              </a:defRPr>
            </a:pPr>
            <a:r>
              <a:t>HỆ THỐNG QUẢN LÝ DỰ ÁN &amp; HỢP ĐỒNG | CO-OPBANK</a:t>
            </a:r>
          </a:p>
        </p:txBody>
      </p:sp>
      <p:sp>
        <p:nvSpPr>
          <p:cNvPr id="4" name="TextBox 3"/>
          <p:cNvSpPr txBox="1"/>
          <p:nvPr/>
        </p:nvSpPr>
        <p:spPr>
          <a:xfrm>
            <a:off x="731520" y="384048"/>
            <a:ext cx="10698480" cy="548640"/>
          </a:xfrm>
          <a:prstGeom prst="rect">
            <a:avLst/>
          </a:prstGeom>
          <a:noFill/>
        </p:spPr>
        <p:txBody>
          <a:bodyPr wrap="square">
            <a:spAutoFit/>
          </a:bodyPr>
          <a:lstStyle/>
          <a:p>
            <a:pPr>
              <a:defRPr sz="2200" b="1">
                <a:solidFill>
                  <a:srgbClr val="FFFFFF"/>
                </a:solidFill>
                <a:latin typeface="Segoe UI"/>
              </a:defRPr>
            </a:pPr>
            <a:r>
              <a:t>Phân Hệ Quản Lý Gói Thầu</a:t>
            </a:r>
          </a:p>
        </p:txBody>
      </p:sp>
      <p:sp>
        <p:nvSpPr>
          <p:cNvPr id="5" name="Rectangle 4"/>
          <p:cNvSpPr/>
          <p:nvPr/>
        </p:nvSpPr>
        <p:spPr>
          <a:xfrm>
            <a:off x="0" y="1051560"/>
            <a:ext cx="12191695"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698480" cy="320040"/>
          </a:xfrm>
          <a:prstGeom prst="rect">
            <a:avLst/>
          </a:prstGeom>
          <a:noFill/>
        </p:spPr>
        <p:txBody>
          <a:bodyPr wrap="none">
            <a:spAutoFit/>
          </a:bodyPr>
          <a:lstStyle/>
          <a:p>
            <a:pPr>
              <a:defRPr sz="950">
                <a:solidFill>
                  <a:srgbClr val="64748B"/>
                </a:solidFill>
                <a:latin typeface="Segoe UI"/>
              </a:defRPr>
            </a:pPr>
            <a:r>
              <a:t>Ngân hàng Hợp tác xã Việt Nam (Co-opBank) • Báo cáo Ban Quản trị</a:t>
            </a:r>
          </a:p>
        </p:txBody>
      </p:sp>
      <p:sp>
        <p:nvSpPr>
          <p:cNvPr id="7" name="Rounded Rectangle 6"/>
          <p:cNvSpPr/>
          <p:nvPr/>
        </p:nvSpPr>
        <p:spPr>
          <a:xfrm>
            <a:off x="731520" y="1371600"/>
            <a:ext cx="106984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05840" y="1645920"/>
            <a:ext cx="3291840" cy="4206240"/>
          </a:xfrm>
          <a:prstGeom prst="roundRect">
            <a:avLst/>
          </a:prstGeom>
          <a:solidFill>
            <a:srgbClr val="E6EBF2"/>
          </a:solidFill>
          <a:ln w="19050">
            <a:solidFill>
              <a:srgbClr val="0037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05840" y="1645920"/>
            <a:ext cx="3291840" cy="548640"/>
          </a:xfrm>
          <a:prstGeom prst="rect">
            <a:avLst/>
          </a:prstGeom>
          <a:solidFill>
            <a:srgbClr val="003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1. Kế Hoạch &amp; Mời Thầu</a:t>
            </a:r>
          </a:p>
        </p:txBody>
      </p:sp>
      <p:sp>
        <p:nvSpPr>
          <p:cNvPr id="10" name="TextBox 9"/>
          <p:cNvSpPr txBox="1"/>
          <p:nvPr/>
        </p:nvSpPr>
        <p:spPr>
          <a:xfrm>
            <a:off x="1143000" y="2286000"/>
            <a:ext cx="3017520" cy="3383280"/>
          </a:xfrm>
          <a:prstGeom prst="rect">
            <a:avLst/>
          </a:prstGeom>
          <a:noFill/>
        </p:spPr>
        <p:txBody>
          <a:bodyPr wrap="square">
            <a:spAutoFit/>
          </a:bodyPr>
          <a:lstStyle/>
          <a:p>
            <a:pPr>
              <a:spcAft>
                <a:spcPts val="800"/>
              </a:spcAft>
              <a:defRPr sz="1100">
                <a:solidFill>
                  <a:srgbClr val="09090B"/>
                </a:solidFill>
                <a:latin typeface="Segoe UI"/>
              </a:defRPr>
            </a:pPr>
            <a:r>
              <a:t>• Quản lý thông tin gói thầu thuộc dự án</a:t>
            </a:r>
          </a:p>
          <a:p>
            <a:pPr>
              <a:spcAft>
                <a:spcPts val="800"/>
              </a:spcAft>
              <a:defRPr sz="1100">
                <a:solidFill>
                  <a:srgbClr val="09090B"/>
                </a:solidFill>
                <a:latin typeface="Segoe UI"/>
              </a:defRPr>
            </a:pPr>
            <a:r>
              <a:t>• Hình thức lựa chọn nhà thầu (Đấu thầu rộng rãi, Chỉ định thầu, Chào hàng cạnh tranh)</a:t>
            </a:r>
          </a:p>
          <a:p>
            <a:pPr>
              <a:spcAft>
                <a:spcPts val="800"/>
              </a:spcAft>
              <a:defRPr sz="1100">
                <a:solidFill>
                  <a:srgbClr val="09090B"/>
                </a:solidFill>
                <a:latin typeface="Segoe UI"/>
              </a:defRPr>
            </a:pPr>
            <a:r>
              <a:t>• Theo dõi giá gói thầu và thời gian tổ chức</a:t>
            </a:r>
          </a:p>
          <a:p>
            <a:pPr>
              <a:spcAft>
                <a:spcPts val="800"/>
              </a:spcAft>
              <a:defRPr sz="1100">
                <a:solidFill>
                  <a:srgbClr val="09090B"/>
                </a:solidFill>
                <a:latin typeface="Segoe UI"/>
              </a:defRPr>
            </a:pPr>
            <a:r>
              <a:t>• Lưu vết Quyết định phê duyệt Kế hoạch LCNT</a:t>
            </a:r>
          </a:p>
        </p:txBody>
      </p:sp>
      <p:sp>
        <p:nvSpPr>
          <p:cNvPr id="11" name="Rounded Rectangle 10"/>
          <p:cNvSpPr/>
          <p:nvPr/>
        </p:nvSpPr>
        <p:spPr>
          <a:xfrm>
            <a:off x="4480560" y="1645920"/>
            <a:ext cx="3291840" cy="4206240"/>
          </a:xfrm>
          <a:prstGeom prst="roundRect">
            <a:avLst/>
          </a:prstGeom>
          <a:solidFill>
            <a:srgbClr val="E6EBF2"/>
          </a:solidFill>
          <a:ln w="19050">
            <a:solidFill>
              <a:srgbClr val="0037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80560" y="1645920"/>
            <a:ext cx="3291840" cy="548640"/>
          </a:xfrm>
          <a:prstGeom prst="rect">
            <a:avLst/>
          </a:prstGeom>
          <a:solidFill>
            <a:srgbClr val="003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2. Quyết Định Phê Duyệt KQLCNT</a:t>
            </a:r>
          </a:p>
        </p:txBody>
      </p:sp>
      <p:sp>
        <p:nvSpPr>
          <p:cNvPr id="13" name="TextBox 12"/>
          <p:cNvSpPr txBox="1"/>
          <p:nvPr/>
        </p:nvSpPr>
        <p:spPr>
          <a:xfrm>
            <a:off x="4617720" y="2286000"/>
            <a:ext cx="3017520" cy="3383280"/>
          </a:xfrm>
          <a:prstGeom prst="rect">
            <a:avLst/>
          </a:prstGeom>
          <a:noFill/>
        </p:spPr>
        <p:txBody>
          <a:bodyPr wrap="square">
            <a:spAutoFit/>
          </a:bodyPr>
          <a:lstStyle/>
          <a:p>
            <a:pPr>
              <a:spcAft>
                <a:spcPts val="800"/>
              </a:spcAft>
              <a:defRPr sz="1100">
                <a:solidFill>
                  <a:srgbClr val="09090B"/>
                </a:solidFill>
                <a:latin typeface="Segoe UI"/>
              </a:defRPr>
            </a:pPr>
            <a:r>
              <a:t>• Quản lý Quyết định phê duyệt Kết quả Lựa chọn Nhà thầu (KQLCNT)</a:t>
            </a:r>
          </a:p>
          <a:p>
            <a:pPr>
              <a:spcAft>
                <a:spcPts val="800"/>
              </a:spcAft>
              <a:defRPr sz="1100">
                <a:solidFill>
                  <a:srgbClr val="09090B"/>
                </a:solidFill>
                <a:latin typeface="Segoe UI"/>
              </a:defRPr>
            </a:pPr>
            <a:r>
              <a:t>• Ghi nhận nhà thầu trúng thầu và giá trúng thầu</a:t>
            </a:r>
          </a:p>
          <a:p>
            <a:pPr>
              <a:spcAft>
                <a:spcPts val="800"/>
              </a:spcAft>
              <a:defRPr sz="1100">
                <a:solidFill>
                  <a:srgbClr val="09090B"/>
                </a:solidFill>
                <a:latin typeface="Segoe UI"/>
              </a:defRPr>
            </a:pPr>
            <a:r>
              <a:t>• Đánh giá mức độ tiết kiệm sau đấu thầu</a:t>
            </a:r>
          </a:p>
          <a:p>
            <a:pPr>
              <a:spcAft>
                <a:spcPts val="800"/>
              </a:spcAft>
              <a:defRPr sz="1100">
                <a:solidFill>
                  <a:srgbClr val="09090B"/>
                </a:solidFill>
                <a:latin typeface="Segoe UI"/>
              </a:defRPr>
            </a:pPr>
            <a:r>
              <a:t>• Liên kết trực tiếp tới hồ sơ ký kết Hợp đồng</a:t>
            </a:r>
          </a:p>
        </p:txBody>
      </p:sp>
      <p:sp>
        <p:nvSpPr>
          <p:cNvPr id="14" name="Rounded Rectangle 13"/>
          <p:cNvSpPr/>
          <p:nvPr/>
        </p:nvSpPr>
        <p:spPr>
          <a:xfrm>
            <a:off x="7955280" y="1645920"/>
            <a:ext cx="3291840" cy="4206240"/>
          </a:xfrm>
          <a:prstGeom prst="roundRect">
            <a:avLst/>
          </a:prstGeom>
          <a:solidFill>
            <a:srgbClr val="E6EBF2"/>
          </a:solidFill>
          <a:ln w="19050">
            <a:solidFill>
              <a:srgbClr val="0037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55280" y="1645920"/>
            <a:ext cx="3291840" cy="548640"/>
          </a:xfrm>
          <a:prstGeom prst="rect">
            <a:avLst/>
          </a:prstGeom>
          <a:solidFill>
            <a:srgbClr val="003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3. Tiến Độ Công Việc &amp; Phối Hợp</a:t>
            </a:r>
          </a:p>
        </p:txBody>
      </p:sp>
      <p:sp>
        <p:nvSpPr>
          <p:cNvPr id="16" name="TextBox 15"/>
          <p:cNvSpPr txBox="1"/>
          <p:nvPr/>
        </p:nvSpPr>
        <p:spPr>
          <a:xfrm>
            <a:off x="8092440" y="2286000"/>
            <a:ext cx="3017520" cy="3383280"/>
          </a:xfrm>
          <a:prstGeom prst="rect">
            <a:avLst/>
          </a:prstGeom>
          <a:noFill/>
        </p:spPr>
        <p:txBody>
          <a:bodyPr wrap="square">
            <a:spAutoFit/>
          </a:bodyPr>
          <a:lstStyle/>
          <a:p>
            <a:pPr>
              <a:spcAft>
                <a:spcPts val="800"/>
              </a:spcAft>
              <a:defRPr sz="1100">
                <a:solidFill>
                  <a:srgbClr val="09090B"/>
                </a:solidFill>
                <a:latin typeface="Segoe UI"/>
              </a:defRPr>
            </a:pPr>
            <a:r>
              <a:t>• Chia nhỏ gói thầu thành các hạng mục công việc (WBS)</a:t>
            </a:r>
          </a:p>
          <a:p>
            <a:pPr>
              <a:spcAft>
                <a:spcPts val="800"/>
              </a:spcAft>
              <a:defRPr sz="1100">
                <a:solidFill>
                  <a:srgbClr val="09090B"/>
                </a:solidFill>
                <a:latin typeface="Segoe UI"/>
              </a:defRPr>
            </a:pPr>
            <a:r>
              <a:t>• Phân công đầu mối chuyên viên phụ trách</a:t>
            </a:r>
          </a:p>
          <a:p>
            <a:pPr>
              <a:spcAft>
                <a:spcPts val="800"/>
              </a:spcAft>
              <a:defRPr sz="1100">
                <a:solidFill>
                  <a:srgbClr val="09090B"/>
                </a:solidFill>
                <a:latin typeface="Segoe UI"/>
              </a:defRPr>
            </a:pPr>
            <a:r>
              <a:t>• Cho phép trao đổi, thảo luận và đính kèm tài liệu</a:t>
            </a:r>
          </a:p>
          <a:p>
            <a:pPr>
              <a:spcAft>
                <a:spcPts val="800"/>
              </a:spcAft>
              <a:defRPr sz="1100">
                <a:solidFill>
                  <a:srgbClr val="09090B"/>
                </a:solidFill>
                <a:latin typeface="Segoe UI"/>
              </a:defRPr>
            </a:pPr>
            <a:r>
              <a:t>• Cảnh báo mốc chậm tiến độ theo thời gian thực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000" b="1">
                <a:solidFill>
                  <a:srgbClr val="0EA5E9"/>
                </a:solidFill>
                <a:latin typeface="Segoe UI"/>
              </a:defRPr>
            </a:pPr>
            <a:r>
              <a:t>HỆ THỐNG QUẢN LÝ DỰ ÁN &amp; HỢP ĐỒNG | CO-OPBANK</a:t>
            </a:r>
          </a:p>
        </p:txBody>
      </p:sp>
      <p:sp>
        <p:nvSpPr>
          <p:cNvPr id="4" name="TextBox 3"/>
          <p:cNvSpPr txBox="1"/>
          <p:nvPr/>
        </p:nvSpPr>
        <p:spPr>
          <a:xfrm>
            <a:off x="731520" y="384048"/>
            <a:ext cx="10698480" cy="548640"/>
          </a:xfrm>
          <a:prstGeom prst="rect">
            <a:avLst/>
          </a:prstGeom>
          <a:noFill/>
        </p:spPr>
        <p:txBody>
          <a:bodyPr wrap="square">
            <a:spAutoFit/>
          </a:bodyPr>
          <a:lstStyle/>
          <a:p>
            <a:pPr>
              <a:defRPr sz="2200" b="1">
                <a:solidFill>
                  <a:srgbClr val="FFFFFF"/>
                </a:solidFill>
                <a:latin typeface="Segoe UI"/>
              </a:defRPr>
            </a:pPr>
            <a:r>
              <a:t>Phân Hệ Quản Lý Hợp Đồng &amp; Đối Tác</a:t>
            </a:r>
          </a:p>
        </p:txBody>
      </p:sp>
      <p:sp>
        <p:nvSpPr>
          <p:cNvPr id="5" name="Rectangle 4"/>
          <p:cNvSpPr/>
          <p:nvPr/>
        </p:nvSpPr>
        <p:spPr>
          <a:xfrm>
            <a:off x="0" y="1051560"/>
            <a:ext cx="12191695"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698480" cy="320040"/>
          </a:xfrm>
          <a:prstGeom prst="rect">
            <a:avLst/>
          </a:prstGeom>
          <a:noFill/>
        </p:spPr>
        <p:txBody>
          <a:bodyPr wrap="none">
            <a:spAutoFit/>
          </a:bodyPr>
          <a:lstStyle/>
          <a:p>
            <a:pPr>
              <a:defRPr sz="950">
                <a:solidFill>
                  <a:srgbClr val="64748B"/>
                </a:solidFill>
                <a:latin typeface="Segoe UI"/>
              </a:defRPr>
            </a:pPr>
            <a:r>
              <a:t>Ngân hàng Hợp tác xã Việt Nam (Co-opBank) • Báo cáo Ban Quản trị</a:t>
            </a:r>
          </a:p>
        </p:txBody>
      </p:sp>
      <p:sp>
        <p:nvSpPr>
          <p:cNvPr id="7" name="Rounded Rectangle 6"/>
          <p:cNvSpPr/>
          <p:nvPr/>
        </p:nvSpPr>
        <p:spPr>
          <a:xfrm>
            <a:off x="731520" y="1371600"/>
            <a:ext cx="52120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554480"/>
            <a:ext cx="4663440" cy="4297680"/>
          </a:xfrm>
          <a:prstGeom prst="rect">
            <a:avLst/>
          </a:prstGeom>
          <a:noFill/>
        </p:spPr>
        <p:txBody>
          <a:bodyPr wrap="square">
            <a:spAutoFit/>
          </a:bodyPr>
          <a:lstStyle/>
          <a:p>
            <a:pPr>
              <a:spcAft>
                <a:spcPts val="1000"/>
              </a:spcAft>
              <a:defRPr sz="1250" b="1">
                <a:solidFill>
                  <a:srgbClr val="00377B"/>
                </a:solidFill>
                <a:latin typeface="Segoe UI"/>
              </a:defRPr>
            </a:pPr>
            <a:r>
              <a:t>QUẢN LÝ HỒ SƠ HỢP ĐỒNG &amp; ĐỐI TÁC</a:t>
            </a:r>
          </a:p>
          <a:p>
            <a:pPr>
              <a:spcAft>
                <a:spcPts val="600"/>
              </a:spcAft>
              <a:defRPr sz="1100">
                <a:solidFill>
                  <a:srgbClr val="09090B"/>
                </a:solidFill>
                <a:latin typeface="Segoe UI"/>
              </a:defRPr>
            </a:pPr>
            <a:r>
              <a:t>✔ Hồ sơ Hợp đồng điện tử: Số HĐ, ngày ký, ngày hiệu lực, thời gian thực hiện (vd: 30 ngày, 12 tháng), giá trị hợp đồng.</a:t>
            </a:r>
          </a:p>
          <a:p>
            <a:pPr>
              <a:spcAft>
                <a:spcPts val="600"/>
              </a:spcAft>
              <a:defRPr sz="1100">
                <a:solidFill>
                  <a:srgbClr val="09090B"/>
                </a:solidFill>
                <a:latin typeface="Segoe UI"/>
              </a:defRPr>
            </a:pPr>
            <a:r>
              <a:t>✔ Quản lý Phụ lục hợp đồng: Lưu vết các đợt gia hạn thời gian, bổ sung phạm vi hoặc điều chỉnh giá trị.</a:t>
            </a:r>
          </a:p>
          <a:p>
            <a:pPr>
              <a:spcAft>
                <a:spcPts val="600"/>
              </a:spcAft>
              <a:defRPr sz="1100">
                <a:solidFill>
                  <a:srgbClr val="09090B"/>
                </a:solidFill>
                <a:latin typeface="Segoe UI"/>
              </a:defRPr>
            </a:pPr>
            <a:r>
              <a:t>✔ Cơ sở dữ liệu Đối tác/Nhà thầu: Quản lý Mã số thuế, Địa chỉ, Đại diện pháp luật, Lịch sử thực hiện hợp đồng.</a:t>
            </a:r>
          </a:p>
          <a:p>
            <a:pPr>
              <a:spcAft>
                <a:spcPts val="600"/>
              </a:spcAft>
              <a:defRPr sz="1100">
                <a:solidFill>
                  <a:srgbClr val="09090B"/>
                </a:solidFill>
                <a:latin typeface="Segoe UI"/>
              </a:defRPr>
            </a:pPr>
            <a:r>
              <a:t>✔ Danh mục Hàng hóa &amp; Dịch vụ: Theo dõi chi tiết số lượng, đơn giá linh kiện, thiết bị, license trong hợp đồng.</a:t>
            </a:r>
          </a:p>
        </p:txBody>
      </p:sp>
      <p:sp>
        <p:nvSpPr>
          <p:cNvPr id="9" name="Rounded Rectangle 8"/>
          <p:cNvSpPr/>
          <p:nvPr/>
        </p:nvSpPr>
        <p:spPr>
          <a:xfrm>
            <a:off x="6217920" y="1371600"/>
            <a:ext cx="5212080" cy="4754880"/>
          </a:xfrm>
          <a:prstGeom prst="roundRect">
            <a:avLst/>
          </a:prstGeom>
          <a:solidFill>
            <a:srgbClr val="E6EBF2"/>
          </a:solidFill>
          <a:ln w="19050">
            <a:solidFill>
              <a:srgbClr val="0037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554480"/>
            <a:ext cx="4663440" cy="4297680"/>
          </a:xfrm>
          <a:prstGeom prst="rect">
            <a:avLst/>
          </a:prstGeom>
          <a:noFill/>
        </p:spPr>
        <p:txBody>
          <a:bodyPr wrap="square">
            <a:spAutoFit/>
          </a:bodyPr>
          <a:lstStyle/>
          <a:p>
            <a:pPr>
              <a:spcAft>
                <a:spcPts val="1000"/>
              </a:spcAft>
              <a:defRPr sz="1250" b="1">
                <a:solidFill>
                  <a:srgbClr val="00377B"/>
                </a:solidFill>
                <a:latin typeface="Segoe UI"/>
              </a:defRPr>
            </a:pPr>
            <a:r>
              <a:t>QUẢN LÝ BẢN QUYỀN &amp; CẢNH BÁO TỰ ĐỘNG</a:t>
            </a:r>
          </a:p>
          <a:p>
            <a:pPr>
              <a:spcAft>
                <a:spcPts val="600"/>
              </a:spcAft>
              <a:defRPr sz="1100">
                <a:solidFill>
                  <a:srgbClr val="00377B"/>
                </a:solidFill>
                <a:latin typeface="Segoe UI"/>
              </a:defRPr>
            </a:pPr>
            <a:r>
              <a:t>★ Quản lý Dòng Bản quyền (License Lines): Theo dõi chi tiết thời hạn bản quyền phần mềm, bảo trì hệ thống (SOC, Core, Backup...).</a:t>
            </a:r>
          </a:p>
          <a:p>
            <a:pPr>
              <a:spcAft>
                <a:spcPts val="600"/>
              </a:spcAft>
              <a:defRPr sz="1100">
                <a:solidFill>
                  <a:srgbClr val="00377B"/>
                </a:solidFill>
                <a:latin typeface="Segoe UI"/>
              </a:defRPr>
            </a:pPr>
            <a:r>
              <a:t>★ Cảnh báo Tự động 3 Mức (30 - 60 - 90 ngày): Hệ thống tự động quét và gửi thông báo nhắc hạn trước khi License hoặc HĐ hết hạn.</a:t>
            </a:r>
          </a:p>
          <a:p>
            <a:pPr>
              <a:spcAft>
                <a:spcPts val="600"/>
              </a:spcAft>
              <a:defRPr sz="1100">
                <a:solidFill>
                  <a:srgbClr val="00377B"/>
                </a:solidFill>
                <a:latin typeface="Segoe UI"/>
              </a:defRPr>
            </a:pPr>
            <a:r>
              <a:t>★ Cảnh báo Mốc Hạn Hợp đồng: Nhắc nhở kịp thời các mốc bàn giao, nghiệm thu tránh phát sinh tranh chấp hoặc chậm tiến độ.</a:t>
            </a:r>
          </a:p>
          <a:p>
            <a:pPr>
              <a:spcAft>
                <a:spcPts val="600"/>
              </a:spcAft>
              <a:defRPr sz="1100">
                <a:solidFill>
                  <a:srgbClr val="00377B"/>
                </a:solidFill>
                <a:latin typeface="Segoe UI"/>
              </a:defRPr>
            </a:pPr>
            <a:r>
              <a:t>★ Đảm bảo An toàn Vận hành CNTT: Loại bỏ hoàn toàn rủi ro gián đoạn dịch vụ do quá hạn bảo trì hoặc license.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000" b="1">
                <a:solidFill>
                  <a:srgbClr val="0EA5E9"/>
                </a:solidFill>
                <a:latin typeface="Segoe UI"/>
              </a:defRPr>
            </a:pPr>
            <a:r>
              <a:t>HỆ THỐNG QUẢN LÝ DỰ ÁN &amp; HỢP ĐỒNG | CO-OPBANK</a:t>
            </a:r>
          </a:p>
        </p:txBody>
      </p:sp>
      <p:sp>
        <p:nvSpPr>
          <p:cNvPr id="4" name="TextBox 3"/>
          <p:cNvSpPr txBox="1"/>
          <p:nvPr/>
        </p:nvSpPr>
        <p:spPr>
          <a:xfrm>
            <a:off x="731520" y="384048"/>
            <a:ext cx="10698480" cy="548640"/>
          </a:xfrm>
          <a:prstGeom prst="rect">
            <a:avLst/>
          </a:prstGeom>
          <a:noFill/>
        </p:spPr>
        <p:txBody>
          <a:bodyPr wrap="square">
            <a:spAutoFit/>
          </a:bodyPr>
          <a:lstStyle/>
          <a:p>
            <a:pPr>
              <a:defRPr sz="2200" b="1">
                <a:solidFill>
                  <a:srgbClr val="FFFFFF"/>
                </a:solidFill>
                <a:latin typeface="Segoe UI"/>
              </a:defRPr>
            </a:pPr>
            <a:r>
              <a:t>Phân Hệ Giải Ngân &amp; Thanh Toán</a:t>
            </a:r>
          </a:p>
        </p:txBody>
      </p:sp>
      <p:sp>
        <p:nvSpPr>
          <p:cNvPr id="5" name="Rectangle 4"/>
          <p:cNvSpPr/>
          <p:nvPr/>
        </p:nvSpPr>
        <p:spPr>
          <a:xfrm>
            <a:off x="0" y="1051560"/>
            <a:ext cx="12191695"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698480" cy="320040"/>
          </a:xfrm>
          <a:prstGeom prst="rect">
            <a:avLst/>
          </a:prstGeom>
          <a:noFill/>
        </p:spPr>
        <p:txBody>
          <a:bodyPr wrap="none">
            <a:spAutoFit/>
          </a:bodyPr>
          <a:lstStyle/>
          <a:p>
            <a:pPr>
              <a:defRPr sz="950">
                <a:solidFill>
                  <a:srgbClr val="64748B"/>
                </a:solidFill>
                <a:latin typeface="Segoe UI"/>
              </a:defRPr>
            </a:pPr>
            <a:r>
              <a:t>Ngân hàng Hợp tác xã Việt Nam (Co-opBank) • Báo cáo Ban Quản trị</a:t>
            </a:r>
          </a:p>
        </p:txBody>
      </p:sp>
      <p:sp>
        <p:nvSpPr>
          <p:cNvPr id="7" name="Rounded Rectangle 6"/>
          <p:cNvSpPr/>
          <p:nvPr/>
        </p:nvSpPr>
        <p:spPr>
          <a:xfrm>
            <a:off x="731520" y="1371600"/>
            <a:ext cx="2560320" cy="1463040"/>
          </a:xfrm>
          <a:prstGeom prst="roundRect">
            <a:avLst/>
          </a:prstGeom>
          <a:solidFill>
            <a:srgbClr val="FFFFFF"/>
          </a:solidFill>
          <a:ln w="19050">
            <a:solidFill>
              <a:srgbClr val="0037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463040"/>
            <a:ext cx="2377440" cy="1280160"/>
          </a:xfrm>
          <a:prstGeom prst="rect">
            <a:avLst/>
          </a:prstGeom>
          <a:noFill/>
        </p:spPr>
        <p:txBody>
          <a:bodyPr wrap="square">
            <a:spAutoFit/>
          </a:bodyPr>
          <a:lstStyle/>
          <a:p>
            <a:pPr>
              <a:defRPr sz="950" b="1">
                <a:solidFill>
                  <a:srgbClr val="00377B"/>
                </a:solidFill>
                <a:latin typeface="Segoe UI"/>
              </a:defRPr>
            </a:pPr>
            <a:r>
              <a:t>TỔNG GIÁ TRỊ HỢP ĐỒNG</a:t>
            </a:r>
          </a:p>
          <a:p>
            <a:pPr>
              <a:defRPr sz="1600" b="1">
                <a:solidFill>
                  <a:srgbClr val="09090B"/>
                </a:solidFill>
                <a:latin typeface="Segoe UI"/>
              </a:defRPr>
            </a:pPr>
            <a:r>
              <a:t>Cam kết chi</a:t>
            </a:r>
          </a:p>
          <a:p>
            <a:pPr>
              <a:defRPr sz="850">
                <a:solidFill>
                  <a:srgbClr val="64748B"/>
                </a:solidFill>
                <a:latin typeface="Segoe UI"/>
              </a:defRPr>
            </a:pPr>
            <a:r>
              <a:t>Tổng mức nghĩa vụ tài chính theo HĐ đã ký</a:t>
            </a:r>
          </a:p>
        </p:txBody>
      </p:sp>
      <p:sp>
        <p:nvSpPr>
          <p:cNvPr id="9" name="Rounded Rectangle 8"/>
          <p:cNvSpPr/>
          <p:nvPr/>
        </p:nvSpPr>
        <p:spPr>
          <a:xfrm>
            <a:off x="3456432" y="1371600"/>
            <a:ext cx="2560320" cy="1463040"/>
          </a:xfrm>
          <a:prstGeom prst="roundRect">
            <a:avLst/>
          </a:prstGeom>
          <a:solidFill>
            <a:srgbClr val="FFFFFF"/>
          </a:solidFill>
          <a:ln w="19050">
            <a:solidFill>
              <a:srgbClr val="335F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7872" y="1463040"/>
            <a:ext cx="2377440" cy="1280160"/>
          </a:xfrm>
          <a:prstGeom prst="rect">
            <a:avLst/>
          </a:prstGeom>
          <a:noFill/>
        </p:spPr>
        <p:txBody>
          <a:bodyPr wrap="square">
            <a:spAutoFit/>
          </a:bodyPr>
          <a:lstStyle/>
          <a:p>
            <a:pPr>
              <a:defRPr sz="950" b="1">
                <a:solidFill>
                  <a:srgbClr val="335F95"/>
                </a:solidFill>
                <a:latin typeface="Segoe UI"/>
              </a:defRPr>
            </a:pPr>
            <a:r>
              <a:t>TẠM ỨNG HỢP ĐỒNG</a:t>
            </a:r>
          </a:p>
          <a:p>
            <a:pPr>
              <a:defRPr sz="1600" b="1">
                <a:solidFill>
                  <a:srgbClr val="09090B"/>
                </a:solidFill>
                <a:latin typeface="Segoe UI"/>
              </a:defRPr>
            </a:pPr>
            <a:r>
              <a:t>Đúng quy định</a:t>
            </a:r>
          </a:p>
          <a:p>
            <a:pPr>
              <a:defRPr sz="850">
                <a:solidFill>
                  <a:srgbClr val="64748B"/>
                </a:solidFill>
                <a:latin typeface="Segoe UI"/>
              </a:defRPr>
            </a:pPr>
            <a:r>
              <a:t>Kiểm soát số tiền tạm ứng &amp; hồ sơ bảo lãnh</a:t>
            </a:r>
          </a:p>
        </p:txBody>
      </p:sp>
      <p:sp>
        <p:nvSpPr>
          <p:cNvPr id="11" name="Rounded Rectangle 10"/>
          <p:cNvSpPr/>
          <p:nvPr/>
        </p:nvSpPr>
        <p:spPr>
          <a:xfrm>
            <a:off x="6181344" y="1371600"/>
            <a:ext cx="2560320" cy="146304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72784" y="1463040"/>
            <a:ext cx="2377440" cy="1280160"/>
          </a:xfrm>
          <a:prstGeom prst="rect">
            <a:avLst/>
          </a:prstGeom>
          <a:noFill/>
        </p:spPr>
        <p:txBody>
          <a:bodyPr wrap="square">
            <a:spAutoFit/>
          </a:bodyPr>
          <a:lstStyle/>
          <a:p>
            <a:pPr>
              <a:defRPr sz="950" b="1">
                <a:solidFill>
                  <a:srgbClr val="10B981"/>
                </a:solidFill>
                <a:latin typeface="Segoe UI"/>
              </a:defRPr>
            </a:pPr>
            <a:r>
              <a:t>THANH TOÁN THEO ĐỢT</a:t>
            </a:r>
          </a:p>
          <a:p>
            <a:pPr>
              <a:defRPr sz="1600" b="1">
                <a:solidFill>
                  <a:srgbClr val="09090B"/>
                </a:solidFill>
                <a:latin typeface="Segoe UI"/>
              </a:defRPr>
            </a:pPr>
            <a:r>
              <a:t>Lần 1, 2, 3...</a:t>
            </a:r>
          </a:p>
          <a:p>
            <a:pPr>
              <a:defRPr sz="850">
                <a:solidFill>
                  <a:srgbClr val="64748B"/>
                </a:solidFill>
                <a:latin typeface="Segoe UI"/>
              </a:defRPr>
            </a:pPr>
            <a:r>
              <a:t>Giải ngân gắn với mốc nghiệm thu thực tế</a:t>
            </a:r>
          </a:p>
        </p:txBody>
      </p:sp>
      <p:sp>
        <p:nvSpPr>
          <p:cNvPr id="13" name="Rounded Rectangle 12"/>
          <p:cNvSpPr/>
          <p:nvPr/>
        </p:nvSpPr>
        <p:spPr>
          <a:xfrm>
            <a:off x="8906256" y="1371600"/>
            <a:ext cx="2560320" cy="146304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97696" y="1463040"/>
            <a:ext cx="2377440" cy="1280160"/>
          </a:xfrm>
          <a:prstGeom prst="rect">
            <a:avLst/>
          </a:prstGeom>
          <a:noFill/>
        </p:spPr>
        <p:txBody>
          <a:bodyPr wrap="square">
            <a:spAutoFit/>
          </a:bodyPr>
          <a:lstStyle/>
          <a:p>
            <a:pPr>
              <a:defRPr sz="950" b="1">
                <a:solidFill>
                  <a:srgbClr val="F59E0B"/>
                </a:solidFill>
                <a:latin typeface="Segoe UI"/>
              </a:defRPr>
            </a:pPr>
            <a:r>
              <a:t>CÔNG NỢ CÒN LẠI</a:t>
            </a:r>
          </a:p>
          <a:p>
            <a:pPr>
              <a:defRPr sz="1600" b="1">
                <a:solidFill>
                  <a:srgbClr val="09090B"/>
                </a:solidFill>
                <a:latin typeface="Segoe UI"/>
              </a:defRPr>
            </a:pPr>
            <a:r>
              <a:t>Tức thì</a:t>
            </a:r>
          </a:p>
          <a:p>
            <a:pPr>
              <a:defRPr sz="850">
                <a:solidFill>
                  <a:srgbClr val="64748B"/>
                </a:solidFill>
                <a:latin typeface="Segoe UI"/>
              </a:defRPr>
            </a:pPr>
            <a:r>
              <a:t>Số tiền còn phải chi trả phục vụ quyết toán</a:t>
            </a:r>
          </a:p>
        </p:txBody>
      </p:sp>
      <p:sp>
        <p:nvSpPr>
          <p:cNvPr id="15" name="Rounded Rectangle 14"/>
          <p:cNvSpPr/>
          <p:nvPr/>
        </p:nvSpPr>
        <p:spPr>
          <a:xfrm>
            <a:off x="731520" y="3017520"/>
            <a:ext cx="10698480" cy="3108960"/>
          </a:xfrm>
          <a:prstGeom prst="roundRect">
            <a:avLst/>
          </a:prstGeom>
          <a:solidFill>
            <a:srgbClr val="E6EBF2"/>
          </a:solidFill>
          <a:ln w="19050">
            <a:solidFill>
              <a:srgbClr val="0037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200400"/>
            <a:ext cx="10149840" cy="2743200"/>
          </a:xfrm>
          <a:prstGeom prst="rect">
            <a:avLst/>
          </a:prstGeom>
          <a:noFill/>
        </p:spPr>
        <p:txBody>
          <a:bodyPr wrap="square">
            <a:spAutoFit/>
          </a:bodyPr>
          <a:lstStyle/>
          <a:p>
            <a:pPr>
              <a:spcAft>
                <a:spcPts val="800"/>
              </a:spcAft>
              <a:defRPr sz="1200" b="1">
                <a:solidFill>
                  <a:srgbClr val="00377B"/>
                </a:solidFill>
                <a:latin typeface="Segoe UI"/>
              </a:defRPr>
            </a:pPr>
            <a:r>
              <a:t>KIỂM SOÁT DÒNG TIỀN VỐN ĐẦU TƯ MINH BẠCH &amp; CHÍNH XÁC</a:t>
            </a:r>
          </a:p>
          <a:p>
            <a:pPr>
              <a:spcAft>
                <a:spcPts val="400"/>
              </a:spcAft>
              <a:defRPr sz="1100">
                <a:solidFill>
                  <a:srgbClr val="09090B"/>
                </a:solidFill>
                <a:latin typeface="Segoe UI"/>
              </a:defRPr>
            </a:pPr>
            <a:r>
              <a:t>✔ Quản lý linh hoạt đa kỳ thanh toán: Hỗ trợ cấu hình không giới hạn số đợt giải ngân (Tạm ứng, Đợt 1, Đợt 2... Đợt n) phù hợp điều khoản từng hợp đồng.</a:t>
            </a:r>
          </a:p>
          <a:p>
            <a:pPr>
              <a:spcAft>
                <a:spcPts val="400"/>
              </a:spcAft>
              <a:defRPr sz="1100">
                <a:solidFill>
                  <a:srgbClr val="09090B"/>
                </a:solidFill>
                <a:latin typeface="Segoe UI"/>
              </a:defRPr>
            </a:pPr>
            <a:r>
              <a:t>✔ Liên kết chặt chẽ hồ sơ chứng từ: Ghi nhận ngày giải ngân, số chứng từ, số tiền thực tế và tỷ lệ thanh toán so với giá trị hợp đồng.</a:t>
            </a:r>
          </a:p>
          <a:p>
            <a:pPr>
              <a:spcAft>
                <a:spcPts val="400"/>
              </a:spcAft>
              <a:defRPr sz="1100">
                <a:solidFill>
                  <a:srgbClr val="09090B"/>
                </a:solidFill>
                <a:latin typeface="Segoe UI"/>
              </a:defRPr>
            </a:pPr>
            <a:r>
              <a:t>✔ Đối soát quyết toán hoàn thành: Theo dõi số Quyết định phê duyệt quyết toán, đối chiếu công nợ và hoàn tất thủ tục tài chính đóng hợp đồng.</a:t>
            </a:r>
          </a:p>
          <a:p>
            <a:pPr>
              <a:spcAft>
                <a:spcPts val="400"/>
              </a:spcAft>
              <a:defRPr sz="1100">
                <a:solidFill>
                  <a:srgbClr val="09090B"/>
                </a:solidFill>
                <a:latin typeface="Segoe UI"/>
              </a:defRPr>
            </a:pPr>
            <a:r>
              <a:t>✔ Báo cáo dòng tiền tức thì: Cung cấp bức tranh toàn cảnh về tiến độ giải ngân vốn đầu tư CNTT phục vụ kế hoạch cân đối tài chính của ngân hàng.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000" b="1">
                <a:solidFill>
                  <a:srgbClr val="0EA5E9"/>
                </a:solidFill>
                <a:latin typeface="Segoe UI"/>
              </a:defRPr>
            </a:pPr>
            <a:r>
              <a:t>HỆ THỐNG QUẢN LÝ DỰ ÁN &amp; HỢP ĐỒNG | CO-OPBANK</a:t>
            </a:r>
          </a:p>
        </p:txBody>
      </p:sp>
      <p:sp>
        <p:nvSpPr>
          <p:cNvPr id="4" name="TextBox 3"/>
          <p:cNvSpPr txBox="1"/>
          <p:nvPr/>
        </p:nvSpPr>
        <p:spPr>
          <a:xfrm>
            <a:off x="731520" y="384048"/>
            <a:ext cx="10698480" cy="548640"/>
          </a:xfrm>
          <a:prstGeom prst="rect">
            <a:avLst/>
          </a:prstGeom>
          <a:noFill/>
        </p:spPr>
        <p:txBody>
          <a:bodyPr wrap="square">
            <a:spAutoFit/>
          </a:bodyPr>
          <a:lstStyle/>
          <a:p>
            <a:pPr>
              <a:defRPr sz="2200" b="1">
                <a:solidFill>
                  <a:srgbClr val="FFFFFF"/>
                </a:solidFill>
                <a:latin typeface="Segoe UI"/>
              </a:defRPr>
            </a:pPr>
            <a:r>
              <a:t>Phân Hệ Báo Cáo &amp; Điều Hành</a:t>
            </a:r>
          </a:p>
        </p:txBody>
      </p:sp>
      <p:sp>
        <p:nvSpPr>
          <p:cNvPr id="5" name="Rectangle 4"/>
          <p:cNvSpPr/>
          <p:nvPr/>
        </p:nvSpPr>
        <p:spPr>
          <a:xfrm>
            <a:off x="0" y="1051560"/>
            <a:ext cx="12191695"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698480" cy="320040"/>
          </a:xfrm>
          <a:prstGeom prst="rect">
            <a:avLst/>
          </a:prstGeom>
          <a:noFill/>
        </p:spPr>
        <p:txBody>
          <a:bodyPr wrap="none">
            <a:spAutoFit/>
          </a:bodyPr>
          <a:lstStyle/>
          <a:p>
            <a:pPr>
              <a:defRPr sz="950">
                <a:solidFill>
                  <a:srgbClr val="64748B"/>
                </a:solidFill>
                <a:latin typeface="Segoe UI"/>
              </a:defRPr>
            </a:pPr>
            <a:r>
              <a:t>Ngân hàng Hợp tác xã Việt Nam (Co-opBank) • Báo cáo Ban Quản trị</a:t>
            </a:r>
          </a:p>
        </p:txBody>
      </p:sp>
      <p:sp>
        <p:nvSpPr>
          <p:cNvPr id="7" name="Rounded Rectangle 6"/>
          <p:cNvSpPr/>
          <p:nvPr/>
        </p:nvSpPr>
        <p:spPr>
          <a:xfrm>
            <a:off x="731520" y="1371600"/>
            <a:ext cx="594360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554480"/>
            <a:ext cx="5394960" cy="4297680"/>
          </a:xfrm>
          <a:prstGeom prst="rect">
            <a:avLst/>
          </a:prstGeom>
          <a:noFill/>
        </p:spPr>
        <p:txBody>
          <a:bodyPr wrap="square">
            <a:spAutoFit/>
          </a:bodyPr>
          <a:lstStyle/>
          <a:p>
            <a:pPr>
              <a:spcAft>
                <a:spcPts val="800"/>
              </a:spcAft>
              <a:defRPr sz="1200" b="1">
                <a:solidFill>
                  <a:srgbClr val="00377B"/>
                </a:solidFill>
                <a:latin typeface="Segoe UI"/>
              </a:defRPr>
            </a:pPr>
            <a:r>
              <a:t>BÁO CÁO TIẾN ĐỘ THANH TOÁN DỰ ÁN THẦU (18 CỘT CHUẨN)</a:t>
            </a:r>
          </a:p>
          <a:p>
            <a:pPr>
              <a:spcAft>
                <a:spcPts val="300"/>
              </a:spcAft>
              <a:defRPr sz="1050">
                <a:solidFill>
                  <a:srgbClr val="09090B"/>
                </a:solidFill>
                <a:latin typeface="Segoe UI"/>
              </a:defRPr>
            </a:pPr>
            <a:r>
              <a:t>• Nguồn vốn hình thành: Tự động phân loại Chi phí, Vốn điều lệ, Quỹ ĐTPT.</a:t>
            </a:r>
          </a:p>
          <a:p>
            <a:pPr>
              <a:spcAft>
                <a:spcPts val="300"/>
              </a:spcAft>
              <a:defRPr sz="1050">
                <a:solidFill>
                  <a:srgbClr val="09090B"/>
                </a:solidFill>
                <a:latin typeface="Segoe UI"/>
              </a:defRPr>
            </a:pPr>
            <a:r>
              <a:t>• Dự án &amp; QĐ phê duyệt dự toán: Tên dự án, số QĐ phê duyệt dự toán đầu tư.</a:t>
            </a:r>
          </a:p>
          <a:p>
            <a:pPr>
              <a:spcAft>
                <a:spcPts val="300"/>
              </a:spcAft>
              <a:defRPr sz="1050">
                <a:solidFill>
                  <a:srgbClr val="09090B"/>
                </a:solidFill>
                <a:latin typeface="Segoe UI"/>
              </a:defRPr>
            </a:pPr>
            <a:r>
              <a:t>• Gói thầu &amp; QĐ KQLCNT: Tên gói thầu, số Quyết định lựa chọn nhà thầu.</a:t>
            </a:r>
          </a:p>
          <a:p>
            <a:pPr>
              <a:spcAft>
                <a:spcPts val="300"/>
              </a:spcAft>
              <a:defRPr sz="1050">
                <a:solidFill>
                  <a:srgbClr val="09090B"/>
                </a:solidFill>
                <a:latin typeface="Segoe UI"/>
              </a:defRPr>
            </a:pPr>
            <a:r>
              <a:t>• Thông tin Đối tác / Nhà thầu: Tên công ty, Mã số thuế, Địa chỉ trụ sở.</a:t>
            </a:r>
          </a:p>
          <a:p>
            <a:pPr>
              <a:spcAft>
                <a:spcPts val="300"/>
              </a:spcAft>
              <a:defRPr sz="1050">
                <a:solidFill>
                  <a:srgbClr val="09090B"/>
                </a:solidFill>
                <a:latin typeface="Segoe UI"/>
              </a:defRPr>
            </a:pPr>
            <a:r>
              <a:t>• Hợp đồng &amp; Thời hạn: Số HĐ, ngày ký, thời gian thực hiện, giá trị HĐ.</a:t>
            </a:r>
          </a:p>
          <a:p>
            <a:pPr>
              <a:spcAft>
                <a:spcPts val="300"/>
              </a:spcAft>
              <a:defRPr sz="1050">
                <a:solidFill>
                  <a:srgbClr val="09090B"/>
                </a:solidFill>
                <a:latin typeface="Segoe UI"/>
              </a:defRPr>
            </a:pPr>
            <a:r>
              <a:t>• Tiến độ Giải ngân: Cột Tạm ứng và các cột Lần 1, 2, 3... sinh động theo số đợt thực tế.</a:t>
            </a:r>
          </a:p>
          <a:p>
            <a:pPr>
              <a:spcAft>
                <a:spcPts val="300"/>
              </a:spcAft>
              <a:defRPr sz="1050">
                <a:solidFill>
                  <a:srgbClr val="09090B"/>
                </a:solidFill>
                <a:latin typeface="Segoe UI"/>
              </a:defRPr>
            </a:pPr>
            <a:r>
              <a:t>• Ghi chú quyết toán: Theo dõi số QĐ phê duyệt quyết toán hoàn thành.</a:t>
            </a:r>
          </a:p>
        </p:txBody>
      </p:sp>
      <p:sp>
        <p:nvSpPr>
          <p:cNvPr id="9" name="Rounded Rectangle 8"/>
          <p:cNvSpPr/>
          <p:nvPr/>
        </p:nvSpPr>
        <p:spPr>
          <a:xfrm>
            <a:off x="6949440" y="1371600"/>
            <a:ext cx="4480560" cy="4754880"/>
          </a:xfrm>
          <a:prstGeom prst="roundRect">
            <a:avLst/>
          </a:prstGeom>
          <a:solidFill>
            <a:srgbClr val="E6EBF2"/>
          </a:solidFill>
          <a:ln w="19050">
            <a:solidFill>
              <a:srgbClr val="0037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0" y="1554480"/>
            <a:ext cx="4114800" cy="4297680"/>
          </a:xfrm>
          <a:prstGeom prst="rect">
            <a:avLst/>
          </a:prstGeom>
          <a:noFill/>
        </p:spPr>
        <p:txBody>
          <a:bodyPr wrap="square">
            <a:spAutoFit/>
          </a:bodyPr>
          <a:lstStyle/>
          <a:p>
            <a:pPr>
              <a:spcAft>
                <a:spcPts val="800"/>
              </a:spcAft>
              <a:defRPr sz="1200" b="1">
                <a:solidFill>
                  <a:srgbClr val="00377B"/>
                </a:solidFill>
                <a:latin typeface="Segoe UI"/>
              </a:defRPr>
            </a:pPr>
            <a:r>
              <a:t>TÍCH HỢP BIỂU MẪU QUẢN TRỊ &amp; XUẤT EXCEL</a:t>
            </a:r>
          </a:p>
          <a:p>
            <a:pPr>
              <a:spcAft>
                <a:spcPts val="400"/>
              </a:spcAft>
              <a:defRPr sz="1050">
                <a:solidFill>
                  <a:srgbClr val="00377B"/>
                </a:solidFill>
                <a:latin typeface="Segoe UI"/>
              </a:defRPr>
            </a:pPr>
            <a:r>
              <a:t>★ Biểu mẫu số 02A TTCNTT: Báo cáo tình hình thực hiện kế hoạch đầu tư CNTT định kỳ quý/năm theo quy định.</a:t>
            </a:r>
          </a:p>
          <a:p>
            <a:pPr>
              <a:spcAft>
                <a:spcPts val="400"/>
              </a:spcAft>
              <a:defRPr sz="1050">
                <a:solidFill>
                  <a:srgbClr val="00377B"/>
                </a:solidFill>
                <a:latin typeface="Segoe UI"/>
              </a:defRPr>
            </a:pPr>
            <a:r>
              <a:t>★ Bộ 5 Mẫu Báo cáo QLDA Chuẩn: Tự động trích xuất và ánh xạ dữ liệu chính xác vào form mẫu quy định của ngân hàng.</a:t>
            </a:r>
          </a:p>
          <a:p>
            <a:pPr>
              <a:spcAft>
                <a:spcPts val="400"/>
              </a:spcAft>
              <a:defRPr sz="1050">
                <a:solidFill>
                  <a:srgbClr val="00377B"/>
                </a:solidFill>
                <a:latin typeface="Segoe UI"/>
              </a:defRPr>
            </a:pPr>
            <a:r>
              <a:t>★ Xuất Excel (.xlsx) Tự Động: File xuất ra giữ nguyên màu sắc nhận diện Co-opBank, định dạng tiền tệ #,#0, căn lề và tính tổng tự động.</a:t>
            </a:r>
          </a:p>
          <a:p>
            <a:pPr>
              <a:spcAft>
                <a:spcPts val="400"/>
              </a:spcAft>
              <a:defRPr sz="1050">
                <a:solidFill>
                  <a:srgbClr val="00377B"/>
                </a:solidFill>
                <a:latin typeface="Segoe UI"/>
              </a:defRPr>
            </a:pPr>
            <a:r>
              <a:t>★ Đa dạng định dạng: Hỗ trợ trích xuất file Excel, CSV, HTML hoặc chuỗi Base64 phục vụ tích hợp.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000" b="1">
                <a:solidFill>
                  <a:srgbClr val="0EA5E9"/>
                </a:solidFill>
                <a:latin typeface="Segoe UI"/>
              </a:defRPr>
            </a:pPr>
            <a:r>
              <a:t>HỆ THỐNG QUẢN LÝ DỰ ÁN &amp; HỢP ĐỒNG | CO-OPBANK</a:t>
            </a:r>
          </a:p>
        </p:txBody>
      </p:sp>
      <p:sp>
        <p:nvSpPr>
          <p:cNvPr id="4" name="TextBox 3"/>
          <p:cNvSpPr txBox="1"/>
          <p:nvPr/>
        </p:nvSpPr>
        <p:spPr>
          <a:xfrm>
            <a:off x="731520" y="384048"/>
            <a:ext cx="10698480" cy="548640"/>
          </a:xfrm>
          <a:prstGeom prst="rect">
            <a:avLst/>
          </a:prstGeom>
          <a:noFill/>
        </p:spPr>
        <p:txBody>
          <a:bodyPr wrap="square">
            <a:spAutoFit/>
          </a:bodyPr>
          <a:lstStyle/>
          <a:p>
            <a:pPr>
              <a:defRPr sz="2200" b="1">
                <a:solidFill>
                  <a:srgbClr val="FFFFFF"/>
                </a:solidFill>
                <a:latin typeface="Segoe UI"/>
              </a:defRPr>
            </a:pPr>
            <a:r>
              <a:t>Quản Trị Người Dùng, Phân Quyền &amp; Nhật Ký Kiểm Toán</a:t>
            </a:r>
          </a:p>
        </p:txBody>
      </p:sp>
      <p:sp>
        <p:nvSpPr>
          <p:cNvPr id="5" name="Rectangle 4"/>
          <p:cNvSpPr/>
          <p:nvPr/>
        </p:nvSpPr>
        <p:spPr>
          <a:xfrm>
            <a:off x="0" y="1051560"/>
            <a:ext cx="12191695"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698480" cy="320040"/>
          </a:xfrm>
          <a:prstGeom prst="rect">
            <a:avLst/>
          </a:prstGeom>
          <a:noFill/>
        </p:spPr>
        <p:txBody>
          <a:bodyPr wrap="none">
            <a:spAutoFit/>
          </a:bodyPr>
          <a:lstStyle/>
          <a:p>
            <a:pPr>
              <a:defRPr sz="950">
                <a:solidFill>
                  <a:srgbClr val="64748B"/>
                </a:solidFill>
                <a:latin typeface="Segoe UI"/>
              </a:defRPr>
            </a:pPr>
            <a:r>
              <a:t>Ngân hàng Hợp tác xã Việt Nam (Co-opBank) • Báo cáo Ban Quản trị</a:t>
            </a:r>
          </a:p>
        </p:txBody>
      </p:sp>
      <p:sp>
        <p:nvSpPr>
          <p:cNvPr id="7" name="Rounded Rectangle 6"/>
          <p:cNvSpPr/>
          <p:nvPr/>
        </p:nvSpPr>
        <p:spPr>
          <a:xfrm>
            <a:off x="731520" y="1371600"/>
            <a:ext cx="5212080" cy="23317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5212080" cy="502920"/>
          </a:xfrm>
          <a:prstGeom prst="rect">
            <a:avLst/>
          </a:prstGeom>
          <a:solidFill>
            <a:srgbClr val="E6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417320"/>
            <a:ext cx="4937760" cy="411480"/>
          </a:xfrm>
          <a:prstGeom prst="rect">
            <a:avLst/>
          </a:prstGeom>
          <a:noFill/>
        </p:spPr>
        <p:txBody>
          <a:bodyPr wrap="none">
            <a:spAutoFit/>
          </a:bodyPr>
          <a:lstStyle/>
          <a:p>
            <a:pPr>
              <a:defRPr sz="1100" b="1">
                <a:solidFill>
                  <a:srgbClr val="00377B"/>
                </a:solidFill>
                <a:latin typeface="Segoe UI"/>
              </a:defRPr>
            </a:pPr>
            <a:r>
              <a:t>TÍCH HỢP ĐĂNG NHẬP SSO  |  Đăng nhập một chạm an toàn</a:t>
            </a:r>
          </a:p>
        </p:txBody>
      </p:sp>
      <p:sp>
        <p:nvSpPr>
          <p:cNvPr id="10" name="TextBox 9"/>
          <p:cNvSpPr txBox="1"/>
          <p:nvPr/>
        </p:nvSpPr>
        <p:spPr>
          <a:xfrm>
            <a:off x="914400" y="2011680"/>
            <a:ext cx="4846320" cy="1554480"/>
          </a:xfrm>
          <a:prstGeom prst="rect">
            <a:avLst/>
          </a:prstGeom>
          <a:noFill/>
        </p:spPr>
        <p:txBody>
          <a:bodyPr wrap="square">
            <a:spAutoFit/>
          </a:bodyPr>
          <a:lstStyle/>
          <a:p>
            <a:pPr>
              <a:defRPr sz="1150">
                <a:solidFill>
                  <a:srgbClr val="09090B"/>
                </a:solidFill>
                <a:latin typeface="Segoe UI"/>
              </a:defRPr>
            </a:pPr>
            <a:r>
              <a:t>Tích hợp với hệ thống Quản lý Danh tính tập trung (SSO) của Co-opBank, tuân thủ chính sách bảo mật ngân hàng.</a:t>
            </a:r>
          </a:p>
        </p:txBody>
      </p:sp>
      <p:sp>
        <p:nvSpPr>
          <p:cNvPr id="11" name="Rounded Rectangle 10"/>
          <p:cNvSpPr/>
          <p:nvPr/>
        </p:nvSpPr>
        <p:spPr>
          <a:xfrm>
            <a:off x="6217920" y="1371600"/>
            <a:ext cx="5212080" cy="23317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371600"/>
            <a:ext cx="5212080" cy="502920"/>
          </a:xfrm>
          <a:prstGeom prst="rect">
            <a:avLst/>
          </a:prstGeom>
          <a:solidFill>
            <a:srgbClr val="E6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417320"/>
            <a:ext cx="4937760" cy="411480"/>
          </a:xfrm>
          <a:prstGeom prst="rect">
            <a:avLst/>
          </a:prstGeom>
          <a:noFill/>
        </p:spPr>
        <p:txBody>
          <a:bodyPr wrap="none">
            <a:spAutoFit/>
          </a:bodyPr>
          <a:lstStyle/>
          <a:p>
            <a:pPr>
              <a:defRPr sz="1100" b="1">
                <a:solidFill>
                  <a:srgbClr val="00377B"/>
                </a:solidFill>
                <a:latin typeface="Segoe UI"/>
              </a:defRPr>
            </a:pPr>
            <a:r>
              <a:t>PHÂN QUYỀN MA TRẬN (RBAC)  |  Kiểm soát truy cập chi tiết</a:t>
            </a:r>
          </a:p>
        </p:txBody>
      </p:sp>
      <p:sp>
        <p:nvSpPr>
          <p:cNvPr id="14" name="TextBox 13"/>
          <p:cNvSpPr txBox="1"/>
          <p:nvPr/>
        </p:nvSpPr>
        <p:spPr>
          <a:xfrm>
            <a:off x="6400800" y="2011680"/>
            <a:ext cx="4846320" cy="1554480"/>
          </a:xfrm>
          <a:prstGeom prst="rect">
            <a:avLst/>
          </a:prstGeom>
          <a:noFill/>
        </p:spPr>
        <p:txBody>
          <a:bodyPr wrap="square">
            <a:spAutoFit/>
          </a:bodyPr>
          <a:lstStyle/>
          <a:p>
            <a:pPr>
              <a:defRPr sz="1150">
                <a:solidFill>
                  <a:srgbClr val="09090B"/>
                </a:solidFill>
                <a:latin typeface="Segoe UI"/>
              </a:defRPr>
            </a:pPr>
            <a:r>
              <a:t>Phân quyền chặt chẽ giữa Ban Lãnh đạo, Trưởng phòng, Quản trị viên và Chuyên viên theo từng chức năng (Xem, Thêm, Sửa, Xóa, Duyệt).</a:t>
            </a:r>
          </a:p>
        </p:txBody>
      </p:sp>
      <p:sp>
        <p:nvSpPr>
          <p:cNvPr id="15" name="Rounded Rectangle 14"/>
          <p:cNvSpPr/>
          <p:nvPr/>
        </p:nvSpPr>
        <p:spPr>
          <a:xfrm>
            <a:off x="731520" y="3840480"/>
            <a:ext cx="5212080" cy="23317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3840480"/>
            <a:ext cx="5212080" cy="502920"/>
          </a:xfrm>
          <a:prstGeom prst="rect">
            <a:avLst/>
          </a:prstGeom>
          <a:solidFill>
            <a:srgbClr val="E6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886200"/>
            <a:ext cx="4937760" cy="411480"/>
          </a:xfrm>
          <a:prstGeom prst="rect">
            <a:avLst/>
          </a:prstGeom>
          <a:noFill/>
        </p:spPr>
        <p:txBody>
          <a:bodyPr wrap="none">
            <a:spAutoFit/>
          </a:bodyPr>
          <a:lstStyle/>
          <a:p>
            <a:pPr>
              <a:defRPr sz="1100" b="1">
                <a:solidFill>
                  <a:srgbClr val="00377B"/>
                </a:solidFill>
                <a:latin typeface="Segoe UI"/>
              </a:defRPr>
            </a:pPr>
            <a:r>
              <a:t>NHẬT KÝ KIỂM TOÁN (AUDIT TRAIL)  |  Ghi vết 100% thay đổi</a:t>
            </a:r>
          </a:p>
        </p:txBody>
      </p:sp>
      <p:sp>
        <p:nvSpPr>
          <p:cNvPr id="18" name="TextBox 17"/>
          <p:cNvSpPr txBox="1"/>
          <p:nvPr/>
        </p:nvSpPr>
        <p:spPr>
          <a:xfrm>
            <a:off x="914400" y="4480560"/>
            <a:ext cx="4846320" cy="1554480"/>
          </a:xfrm>
          <a:prstGeom prst="rect">
            <a:avLst/>
          </a:prstGeom>
          <a:noFill/>
        </p:spPr>
        <p:txBody>
          <a:bodyPr wrap="square">
            <a:spAutoFit/>
          </a:bodyPr>
          <a:lstStyle/>
          <a:p>
            <a:pPr>
              <a:defRPr sz="1150">
                <a:solidFill>
                  <a:srgbClr val="09090B"/>
                </a:solidFill>
                <a:latin typeface="Segoe UI"/>
              </a:defRPr>
            </a:pPr>
            <a:r>
              <a:t>Lưu vết toàn bộ lịch sử thao tác: Người thực hiện, thời gian, dữ liệu trước và sau khi sửa phục vụ công tác kiểm toán nội bộ.</a:t>
            </a:r>
          </a:p>
        </p:txBody>
      </p:sp>
      <p:sp>
        <p:nvSpPr>
          <p:cNvPr id="19" name="Rounded Rectangle 18"/>
          <p:cNvSpPr/>
          <p:nvPr/>
        </p:nvSpPr>
        <p:spPr>
          <a:xfrm>
            <a:off x="6217920" y="3840480"/>
            <a:ext cx="5212080" cy="23317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3840480"/>
            <a:ext cx="5212080" cy="502920"/>
          </a:xfrm>
          <a:prstGeom prst="rect">
            <a:avLst/>
          </a:prstGeom>
          <a:solidFill>
            <a:srgbClr val="E6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3886200"/>
            <a:ext cx="4937760" cy="411480"/>
          </a:xfrm>
          <a:prstGeom prst="rect">
            <a:avLst/>
          </a:prstGeom>
          <a:noFill/>
        </p:spPr>
        <p:txBody>
          <a:bodyPr wrap="none">
            <a:spAutoFit/>
          </a:bodyPr>
          <a:lstStyle/>
          <a:p>
            <a:pPr>
              <a:defRPr sz="1100" b="1">
                <a:solidFill>
                  <a:srgbClr val="00377B"/>
                </a:solidFill>
                <a:latin typeface="Segoe UI"/>
              </a:defRPr>
            </a:pPr>
            <a:r>
              <a:t>AN TOÀN THÔNG TIN  |  Tiêu chuẩn Ngân hàng</a:t>
            </a:r>
          </a:p>
        </p:txBody>
      </p:sp>
      <p:sp>
        <p:nvSpPr>
          <p:cNvPr id="22" name="TextBox 21"/>
          <p:cNvSpPr txBox="1"/>
          <p:nvPr/>
        </p:nvSpPr>
        <p:spPr>
          <a:xfrm>
            <a:off x="6400800" y="4480560"/>
            <a:ext cx="4846320" cy="1554480"/>
          </a:xfrm>
          <a:prstGeom prst="rect">
            <a:avLst/>
          </a:prstGeom>
          <a:noFill/>
        </p:spPr>
        <p:txBody>
          <a:bodyPr wrap="square">
            <a:spAutoFit/>
          </a:bodyPr>
          <a:lstStyle/>
          <a:p>
            <a:pPr>
              <a:defRPr sz="1150">
                <a:solidFill>
                  <a:srgbClr val="09090B"/>
                </a:solidFill>
                <a:latin typeface="Segoe UI"/>
              </a:defRPr>
            </a:pPr>
            <a:r>
              <a:t>Bảo vệ phiên làm việc an toàn, mã hóa dữ liệu nhạy cảm, phòng ngừa rủi ro theo đúng quy định của Ngân hàng Nhà nước.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000" b="1">
                <a:solidFill>
                  <a:srgbClr val="0EA5E9"/>
                </a:solidFill>
                <a:latin typeface="Segoe UI"/>
              </a:defRPr>
            </a:pPr>
            <a:r>
              <a:t>HỆ THỐNG QUẢN LÝ DỰ ÁN &amp; HỢP ĐỒNG | CO-OPBANK</a:t>
            </a:r>
          </a:p>
        </p:txBody>
      </p:sp>
      <p:sp>
        <p:nvSpPr>
          <p:cNvPr id="4" name="TextBox 3"/>
          <p:cNvSpPr txBox="1"/>
          <p:nvPr/>
        </p:nvSpPr>
        <p:spPr>
          <a:xfrm>
            <a:off x="731520" y="384048"/>
            <a:ext cx="10698480" cy="548640"/>
          </a:xfrm>
          <a:prstGeom prst="rect">
            <a:avLst/>
          </a:prstGeom>
          <a:noFill/>
        </p:spPr>
        <p:txBody>
          <a:bodyPr wrap="square">
            <a:spAutoFit/>
          </a:bodyPr>
          <a:lstStyle/>
          <a:p>
            <a:pPr>
              <a:defRPr sz="2200" b="1">
                <a:solidFill>
                  <a:srgbClr val="FFFFFF"/>
                </a:solidFill>
                <a:latin typeface="Segoe UI"/>
              </a:defRPr>
            </a:pPr>
            <a:r>
              <a:t>Lộ Trình Triển Khai &amp; Đưa Vào Vận Hành</a:t>
            </a:r>
          </a:p>
        </p:txBody>
      </p:sp>
      <p:sp>
        <p:nvSpPr>
          <p:cNvPr id="5" name="Rectangle 4"/>
          <p:cNvSpPr/>
          <p:nvPr/>
        </p:nvSpPr>
        <p:spPr>
          <a:xfrm>
            <a:off x="0" y="1051560"/>
            <a:ext cx="12191695"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698480" cy="320040"/>
          </a:xfrm>
          <a:prstGeom prst="rect">
            <a:avLst/>
          </a:prstGeom>
          <a:noFill/>
        </p:spPr>
        <p:txBody>
          <a:bodyPr wrap="none">
            <a:spAutoFit/>
          </a:bodyPr>
          <a:lstStyle/>
          <a:p>
            <a:pPr>
              <a:defRPr sz="950">
                <a:solidFill>
                  <a:srgbClr val="64748B"/>
                </a:solidFill>
                <a:latin typeface="Segoe UI"/>
              </a:defRPr>
            </a:pPr>
            <a:r>
              <a:t>Ngân hàng Hợp tác xã Việt Nam (Co-opBank) • Báo cáo Ban Quản trị</a:t>
            </a:r>
          </a:p>
        </p:txBody>
      </p:sp>
      <p:sp>
        <p:nvSpPr>
          <p:cNvPr id="7" name="Rounded Rectangle 6"/>
          <p:cNvSpPr/>
          <p:nvPr/>
        </p:nvSpPr>
        <p:spPr>
          <a:xfrm>
            <a:off x="731520" y="1371600"/>
            <a:ext cx="10698480" cy="1188720"/>
          </a:xfrm>
          <a:prstGeom prst="roundRect">
            <a:avLst/>
          </a:prstGeom>
          <a:solidFill>
            <a:srgbClr val="003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63040"/>
            <a:ext cx="10332720" cy="1005840"/>
          </a:xfrm>
          <a:prstGeom prst="rect">
            <a:avLst/>
          </a:prstGeom>
          <a:noFill/>
        </p:spPr>
        <p:txBody>
          <a:bodyPr wrap="square">
            <a:spAutoFit/>
          </a:bodyPr>
          <a:lstStyle/>
          <a:p>
            <a:pPr>
              <a:defRPr sz="1200" b="1">
                <a:solidFill>
                  <a:srgbClr val="0EA5E9"/>
                </a:solidFill>
                <a:latin typeface="Segoe UI"/>
              </a:defRPr>
            </a:pPr>
            <a:r>
              <a:t>KẾT QUẢ NGHIỆM THU KỸ THUẬT &amp; NGHIỆP VỤ</a:t>
            </a:r>
          </a:p>
          <a:p>
            <a:pPr>
              <a:defRPr sz="1100">
                <a:solidFill>
                  <a:srgbClr val="FFFFFF"/>
                </a:solidFill>
                <a:latin typeface="Segoe UI"/>
              </a:defRPr>
            </a:pPr>
            <a:r>
              <a:t>✔ Hoàn thiện 100% chức năng theo yêu cầu • 0 Lỗi nghiêm trọng • Tốc độ phản hồi trung bình &lt; 200ms • Đã kiểm định toàn bộ các mẫu báo cáo tài chính và xuất file Excel.</a:t>
            </a:r>
          </a:p>
        </p:txBody>
      </p:sp>
      <p:sp>
        <p:nvSpPr>
          <p:cNvPr id="9" name="Rounded Rectangle 8"/>
          <p:cNvSpPr/>
          <p:nvPr/>
        </p:nvSpPr>
        <p:spPr>
          <a:xfrm>
            <a:off x="731520" y="2743200"/>
            <a:ext cx="3474720" cy="3383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743200"/>
            <a:ext cx="3474720" cy="731520"/>
          </a:xfrm>
          <a:prstGeom prst="rect">
            <a:avLst/>
          </a:prstGeom>
          <a:solidFill>
            <a:srgbClr val="E6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788920"/>
            <a:ext cx="3291840" cy="640080"/>
          </a:xfrm>
          <a:prstGeom prst="rect">
            <a:avLst/>
          </a:prstGeom>
          <a:noFill/>
        </p:spPr>
        <p:txBody>
          <a:bodyPr wrap="square">
            <a:spAutoFit/>
          </a:bodyPr>
          <a:lstStyle/>
          <a:p>
            <a:pPr>
              <a:defRPr sz="1000" b="1">
                <a:solidFill>
                  <a:srgbClr val="00377B"/>
                </a:solidFill>
                <a:latin typeface="Segoe UI"/>
              </a:defRPr>
            </a:pPr>
            <a:r>
              <a:t>GIAI ĐOẠN 1: ĐÀO TẠO &amp; CHUYỂN GIAO</a:t>
            </a:r>
          </a:p>
          <a:p>
            <a:pPr>
              <a:defRPr sz="950">
                <a:solidFill>
                  <a:srgbClr val="335F95"/>
                </a:solidFill>
                <a:latin typeface="Segoe UI"/>
              </a:defRPr>
            </a:pPr>
            <a:r>
              <a:t>Thời gian thực hiện: Tháng T+1</a:t>
            </a:r>
          </a:p>
        </p:txBody>
      </p:sp>
      <p:sp>
        <p:nvSpPr>
          <p:cNvPr id="12" name="TextBox 11"/>
          <p:cNvSpPr txBox="1"/>
          <p:nvPr/>
        </p:nvSpPr>
        <p:spPr>
          <a:xfrm>
            <a:off x="868680" y="3566160"/>
            <a:ext cx="3200400" cy="2468880"/>
          </a:xfrm>
          <a:prstGeom prst="rect">
            <a:avLst/>
          </a:prstGeom>
          <a:noFill/>
        </p:spPr>
        <p:txBody>
          <a:bodyPr wrap="square">
            <a:spAutoFit/>
          </a:bodyPr>
          <a:lstStyle/>
          <a:p>
            <a:pPr>
              <a:spcAft>
                <a:spcPts val="600"/>
              </a:spcAft>
              <a:defRPr sz="1050">
                <a:solidFill>
                  <a:srgbClr val="09090B"/>
                </a:solidFill>
                <a:latin typeface="Segoe UI"/>
              </a:defRPr>
            </a:pPr>
            <a:r>
              <a:t>• Tổ chức các buổi đào tạo trực tiếp và trực tuyến cho cán bộ phụ trách.</a:t>
            </a:r>
          </a:p>
          <a:p>
            <a:pPr>
              <a:spcAft>
                <a:spcPts val="600"/>
              </a:spcAft>
              <a:defRPr sz="1050">
                <a:solidFill>
                  <a:srgbClr val="09090B"/>
                </a:solidFill>
                <a:latin typeface="Segoe UI"/>
              </a:defRPr>
            </a:pPr>
            <a:r>
              <a:t>• Ban hành Bộ tài liệu Hướng dẫn sử dụng và Video minh họa.</a:t>
            </a:r>
          </a:p>
          <a:p>
            <a:pPr>
              <a:spcAft>
                <a:spcPts val="600"/>
              </a:spcAft>
              <a:defRPr sz="1050">
                <a:solidFill>
                  <a:srgbClr val="09090B"/>
                </a:solidFill>
                <a:latin typeface="Segoe UI"/>
              </a:defRPr>
            </a:pPr>
            <a:r>
              <a:t>• Thiết lập kênh hỗ trợ kỹ thuật trực tiếp (Hotline/Chat).</a:t>
            </a:r>
          </a:p>
        </p:txBody>
      </p:sp>
      <p:sp>
        <p:nvSpPr>
          <p:cNvPr id="13" name="Rounded Rectangle 12"/>
          <p:cNvSpPr/>
          <p:nvPr/>
        </p:nvSpPr>
        <p:spPr>
          <a:xfrm>
            <a:off x="4370832" y="2743200"/>
            <a:ext cx="3474720" cy="3383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70832" y="2743200"/>
            <a:ext cx="3474720" cy="731520"/>
          </a:xfrm>
          <a:prstGeom prst="rect">
            <a:avLst/>
          </a:prstGeom>
          <a:solidFill>
            <a:srgbClr val="E6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62272" y="2788920"/>
            <a:ext cx="3291840" cy="640080"/>
          </a:xfrm>
          <a:prstGeom prst="rect">
            <a:avLst/>
          </a:prstGeom>
          <a:noFill/>
        </p:spPr>
        <p:txBody>
          <a:bodyPr wrap="square">
            <a:spAutoFit/>
          </a:bodyPr>
          <a:lstStyle/>
          <a:p>
            <a:pPr>
              <a:defRPr sz="1000" b="1">
                <a:solidFill>
                  <a:srgbClr val="00377B"/>
                </a:solidFill>
                <a:latin typeface="Segoe UI"/>
              </a:defRPr>
            </a:pPr>
            <a:r>
              <a:t>GIAI ĐOẠN 2: CHUYỂN ĐỔI DỮ LIỆU</a:t>
            </a:r>
          </a:p>
          <a:p>
            <a:pPr>
              <a:defRPr sz="950">
                <a:solidFill>
                  <a:srgbClr val="335F95"/>
                </a:solidFill>
                <a:latin typeface="Segoe UI"/>
              </a:defRPr>
            </a:pPr>
            <a:r>
              <a:t>Thời gian thực hiện: Tháng T+1.5</a:t>
            </a:r>
          </a:p>
        </p:txBody>
      </p:sp>
      <p:sp>
        <p:nvSpPr>
          <p:cNvPr id="16" name="TextBox 15"/>
          <p:cNvSpPr txBox="1"/>
          <p:nvPr/>
        </p:nvSpPr>
        <p:spPr>
          <a:xfrm>
            <a:off x="4507992" y="3566160"/>
            <a:ext cx="3200400" cy="2468880"/>
          </a:xfrm>
          <a:prstGeom prst="rect">
            <a:avLst/>
          </a:prstGeom>
          <a:noFill/>
        </p:spPr>
        <p:txBody>
          <a:bodyPr wrap="square">
            <a:spAutoFit/>
          </a:bodyPr>
          <a:lstStyle/>
          <a:p>
            <a:pPr>
              <a:spcAft>
                <a:spcPts val="600"/>
              </a:spcAft>
              <a:defRPr sz="1050">
                <a:solidFill>
                  <a:srgbClr val="09090B"/>
                </a:solidFill>
                <a:latin typeface="Segoe UI"/>
              </a:defRPr>
            </a:pPr>
            <a:r>
              <a:t>• Import toàn bộ dữ liệu lịch sử các dự án, gói thầu, hợp đồng năm 2024 - 2026.</a:t>
            </a:r>
          </a:p>
          <a:p>
            <a:pPr>
              <a:spcAft>
                <a:spcPts val="600"/>
              </a:spcAft>
              <a:defRPr sz="1050">
                <a:solidFill>
                  <a:srgbClr val="09090B"/>
                </a:solidFill>
                <a:latin typeface="Segoe UI"/>
              </a:defRPr>
            </a:pPr>
            <a:r>
              <a:t>• Rà soát, chuẩn hóa danh mục đối tác/nhà thầu và mã số thuế.</a:t>
            </a:r>
          </a:p>
          <a:p>
            <a:pPr>
              <a:spcAft>
                <a:spcPts val="600"/>
              </a:spcAft>
              <a:defRPr sz="1050">
                <a:solidFill>
                  <a:srgbClr val="09090B"/>
                </a:solidFill>
                <a:latin typeface="Segoe UI"/>
              </a:defRPr>
            </a:pPr>
            <a:r>
              <a:t>• Đối soát số liệu giải ngân thực tế với phòng Kế toán.</a:t>
            </a:r>
          </a:p>
        </p:txBody>
      </p:sp>
      <p:sp>
        <p:nvSpPr>
          <p:cNvPr id="17" name="Rounded Rectangle 16"/>
          <p:cNvSpPr/>
          <p:nvPr/>
        </p:nvSpPr>
        <p:spPr>
          <a:xfrm>
            <a:off x="8010144" y="2743200"/>
            <a:ext cx="3474720" cy="3383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10144" y="2743200"/>
            <a:ext cx="3474720" cy="731520"/>
          </a:xfrm>
          <a:prstGeom prst="rect">
            <a:avLst/>
          </a:prstGeom>
          <a:solidFill>
            <a:srgbClr val="E6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4" y="2788920"/>
            <a:ext cx="3291840" cy="640080"/>
          </a:xfrm>
          <a:prstGeom prst="rect">
            <a:avLst/>
          </a:prstGeom>
          <a:noFill/>
        </p:spPr>
        <p:txBody>
          <a:bodyPr wrap="square">
            <a:spAutoFit/>
          </a:bodyPr>
          <a:lstStyle/>
          <a:p>
            <a:pPr>
              <a:defRPr sz="1000" b="1">
                <a:solidFill>
                  <a:srgbClr val="00377B"/>
                </a:solidFill>
                <a:latin typeface="Segoe UI"/>
              </a:defRPr>
            </a:pPr>
            <a:r>
              <a:t>GIAI ĐOẠN 3: GO-LIVE CHÍNH THỨC</a:t>
            </a:r>
          </a:p>
          <a:p>
            <a:pPr>
              <a:defRPr sz="950">
                <a:solidFill>
                  <a:srgbClr val="335F95"/>
                </a:solidFill>
                <a:latin typeface="Segoe UI"/>
              </a:defRPr>
            </a:pPr>
            <a:r>
              <a:t>Thời gian thực hiện: Tháng T+2</a:t>
            </a:r>
          </a:p>
        </p:txBody>
      </p:sp>
      <p:sp>
        <p:nvSpPr>
          <p:cNvPr id="20" name="TextBox 19"/>
          <p:cNvSpPr txBox="1"/>
          <p:nvPr/>
        </p:nvSpPr>
        <p:spPr>
          <a:xfrm>
            <a:off x="8147304" y="3566160"/>
            <a:ext cx="3200400" cy="2468880"/>
          </a:xfrm>
          <a:prstGeom prst="rect">
            <a:avLst/>
          </a:prstGeom>
          <a:noFill/>
        </p:spPr>
        <p:txBody>
          <a:bodyPr wrap="square">
            <a:spAutoFit/>
          </a:bodyPr>
          <a:lstStyle/>
          <a:p>
            <a:pPr>
              <a:spcAft>
                <a:spcPts val="600"/>
              </a:spcAft>
              <a:defRPr sz="1050">
                <a:solidFill>
                  <a:srgbClr val="09090B"/>
                </a:solidFill>
                <a:latin typeface="Segoe UI"/>
              </a:defRPr>
            </a:pPr>
            <a:r>
              <a:t>• Chính thức đưa phần mềm vào vận hành khai thác toàn ngân hàng.</a:t>
            </a:r>
          </a:p>
          <a:p>
            <a:pPr>
              <a:spcAft>
                <a:spcPts val="600"/>
              </a:spcAft>
              <a:defRPr sz="1050">
                <a:solidFill>
                  <a:srgbClr val="09090B"/>
                </a:solidFill>
                <a:latin typeface="Segoe UI"/>
              </a:defRPr>
            </a:pPr>
            <a:r>
              <a:t>• Bắt buộc cập nhật tiến độ hợp đồng &amp; thanh toán trên hệ thống.</a:t>
            </a:r>
          </a:p>
          <a:p>
            <a:pPr>
              <a:spcAft>
                <a:spcPts val="600"/>
              </a:spcAft>
              <a:defRPr sz="1050">
                <a:solidFill>
                  <a:srgbClr val="09090B"/>
                </a:solidFill>
                <a:latin typeface="Segoe UI"/>
              </a:defRPr>
            </a:pPr>
            <a:r>
              <a:t>• Định kỳ tổng hợp báo cáo tự động trình Ban Lãnh đạo.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000" b="1">
                <a:solidFill>
                  <a:srgbClr val="0EA5E9"/>
                </a:solidFill>
                <a:latin typeface="Segoe UI"/>
              </a:defRPr>
            </a:pPr>
            <a:r>
              <a:t>HỆ THỐNG QUẢN LÝ DỰ ÁN &amp; HỢP ĐỒNG | CO-OPBANK</a:t>
            </a:r>
          </a:p>
        </p:txBody>
      </p:sp>
      <p:sp>
        <p:nvSpPr>
          <p:cNvPr id="4" name="TextBox 3"/>
          <p:cNvSpPr txBox="1"/>
          <p:nvPr/>
        </p:nvSpPr>
        <p:spPr>
          <a:xfrm>
            <a:off x="731520" y="384048"/>
            <a:ext cx="10698480" cy="548640"/>
          </a:xfrm>
          <a:prstGeom prst="rect">
            <a:avLst/>
          </a:prstGeom>
          <a:noFill/>
        </p:spPr>
        <p:txBody>
          <a:bodyPr wrap="square">
            <a:spAutoFit/>
          </a:bodyPr>
          <a:lstStyle/>
          <a:p>
            <a:pPr>
              <a:defRPr sz="2200" b="1">
                <a:solidFill>
                  <a:srgbClr val="FFFFFF"/>
                </a:solidFill>
                <a:latin typeface="Segoe UI"/>
              </a:defRPr>
            </a:pPr>
            <a:r>
              <a:t>Đề Xuất Kiến Nghị &amp; Phiên Hỏi Đáp</a:t>
            </a:r>
          </a:p>
        </p:txBody>
      </p:sp>
      <p:sp>
        <p:nvSpPr>
          <p:cNvPr id="5" name="Rectangle 4"/>
          <p:cNvSpPr/>
          <p:nvPr/>
        </p:nvSpPr>
        <p:spPr>
          <a:xfrm>
            <a:off x="0" y="1051560"/>
            <a:ext cx="12191695"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698480" cy="320040"/>
          </a:xfrm>
          <a:prstGeom prst="rect">
            <a:avLst/>
          </a:prstGeom>
          <a:noFill/>
        </p:spPr>
        <p:txBody>
          <a:bodyPr wrap="none">
            <a:spAutoFit/>
          </a:bodyPr>
          <a:lstStyle/>
          <a:p>
            <a:pPr>
              <a:defRPr sz="950">
                <a:solidFill>
                  <a:srgbClr val="64748B"/>
                </a:solidFill>
                <a:latin typeface="Segoe UI"/>
              </a:defRPr>
            </a:pPr>
            <a:r>
              <a:t>Ngân hàng Hợp tác xã Việt Nam (Co-opBank) • Báo cáo Ban Quản trị</a:t>
            </a:r>
          </a:p>
        </p:txBody>
      </p:sp>
      <p:sp>
        <p:nvSpPr>
          <p:cNvPr id="7" name="Rounded Rectangle 6"/>
          <p:cNvSpPr/>
          <p:nvPr/>
        </p:nvSpPr>
        <p:spPr>
          <a:xfrm>
            <a:off x="731520" y="1371600"/>
            <a:ext cx="685800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554480"/>
            <a:ext cx="6309360" cy="4297680"/>
          </a:xfrm>
          <a:prstGeom prst="rect">
            <a:avLst/>
          </a:prstGeom>
          <a:noFill/>
        </p:spPr>
        <p:txBody>
          <a:bodyPr wrap="square">
            <a:spAutoFit/>
          </a:bodyPr>
          <a:lstStyle/>
          <a:p>
            <a:pPr>
              <a:spcAft>
                <a:spcPts val="1200"/>
              </a:spcAft>
              <a:defRPr sz="1300" b="1">
                <a:solidFill>
                  <a:srgbClr val="00377B"/>
                </a:solidFill>
                <a:latin typeface="Segoe UI"/>
              </a:defRPr>
            </a:pPr>
            <a:r>
              <a:t>ĐỀ XUẤT KIẾN NGHỊ BAN QUẢN TRỊ &amp; BAN GIÁM ĐỐC</a:t>
            </a:r>
          </a:p>
          <a:p>
            <a:pPr>
              <a:spcAft>
                <a:spcPts val="1200"/>
              </a:spcAft>
              <a:defRPr sz="1150">
                <a:solidFill>
                  <a:srgbClr val="09090B"/>
                </a:solidFill>
                <a:latin typeface="Segoe UI"/>
              </a:defRPr>
            </a:pPr>
            <a:r>
              <a:t>✔ 1. Phê duyệt Nghiệm thu: Chính thức phê duyệt nghiệm thu giai đoạn xây dựng phần mềm Quản lý Dự án &amp; Hợp đồng.</a:t>
            </a:r>
          </a:p>
          <a:p>
            <a:pPr>
              <a:spcAft>
                <a:spcPts val="1200"/>
              </a:spcAft>
              <a:defRPr sz="1150">
                <a:solidFill>
                  <a:srgbClr val="09090B"/>
                </a:solidFill>
                <a:latin typeface="Segoe UI"/>
              </a:defRPr>
            </a:pPr>
            <a:r>
              <a:t>✔ 2. Ban hành Quy định Vận hành: Ban hành văn bản quy định trách nhiệm cập nhật và khai thác dữ liệu trên hệ thống đối với các phòng ban chuyên môn kể từ ngày Go-Live.</a:t>
            </a:r>
          </a:p>
          <a:p>
            <a:pPr>
              <a:spcAft>
                <a:spcPts val="1200"/>
              </a:spcAft>
              <a:defRPr sz="1150">
                <a:solidFill>
                  <a:srgbClr val="09090B"/>
                </a:solidFill>
                <a:latin typeface="Segoe UI"/>
              </a:defRPr>
            </a:pPr>
            <a:r>
              <a:t>✔ 3. Mở rộng Tích hợp Giai đoạn 2: Cho phép Trung tâm CNTT tiếp tục nghiên cứu mở rộng tích hợp thanh toán tự động với hệ thống Kế toán Tài chính / CoreBanking trong giai đoạn tiếp theo.</a:t>
            </a:r>
          </a:p>
        </p:txBody>
      </p:sp>
      <p:sp>
        <p:nvSpPr>
          <p:cNvPr id="9" name="Rounded Rectangle 8"/>
          <p:cNvSpPr/>
          <p:nvPr/>
        </p:nvSpPr>
        <p:spPr>
          <a:xfrm>
            <a:off x="7863840" y="1371600"/>
            <a:ext cx="3566160" cy="4754880"/>
          </a:xfrm>
          <a:prstGeom prst="roundRect">
            <a:avLst/>
          </a:prstGeom>
          <a:solidFill>
            <a:srgbClr val="003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2011680"/>
            <a:ext cx="3200400" cy="3474720"/>
          </a:xfrm>
          <a:prstGeom prst="rect">
            <a:avLst/>
          </a:prstGeom>
          <a:noFill/>
        </p:spPr>
        <p:txBody>
          <a:bodyPr wrap="square">
            <a:spAutoFit/>
          </a:bodyPr>
          <a:lstStyle/>
          <a:p>
            <a:pPr algn="ctr">
              <a:spcAft>
                <a:spcPts val="1400"/>
              </a:spcAft>
              <a:defRPr sz="1800" b="1">
                <a:solidFill>
                  <a:srgbClr val="0EA5E9"/>
                </a:solidFill>
                <a:latin typeface="Segoe UI"/>
              </a:defRPr>
            </a:pPr>
            <a:r>
              <a:t>XIN TRÂN TRỌNG CẢM ƠN!</a:t>
            </a:r>
          </a:p>
          <a:p>
            <a:pPr algn="ctr">
              <a:spcAft>
                <a:spcPts val="2000"/>
              </a:spcAft>
              <a:defRPr sz="1200">
                <a:solidFill>
                  <a:srgbClr val="FFFFFF"/>
                </a:solidFill>
                <a:latin typeface="Segoe UI"/>
              </a:defRPr>
            </a:pPr>
            <a:r>
              <a:t>Kính mong nhận được ý kiến chỉ đạo và đóng góp từ Ban Quản trị!</a:t>
            </a:r>
          </a:p>
          <a:p>
            <a:pPr algn="ctr">
              <a:defRPr sz="1100" b="1">
                <a:solidFill>
                  <a:srgbClr val="E6EBF2"/>
                </a:solidFill>
                <a:latin typeface="Segoe UI"/>
              </a:defRPr>
            </a:pPr>
            <a:r>
              <a:t>--- PHIÊN HỎI &amp; ĐÁP (Q&amp;A)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